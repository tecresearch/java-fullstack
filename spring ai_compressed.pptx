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0058400" cy="5664200"/>
  <p:notesSz cx="10058400" cy="5664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4585" y="386178"/>
            <a:ext cx="69215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FA1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3171952"/>
            <a:ext cx="7040880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FA1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4688" y="5359706"/>
            <a:ext cx="128016" cy="853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FA1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302766"/>
            <a:ext cx="4375404" cy="37383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302766"/>
            <a:ext cx="4375404" cy="37383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FA1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2653" y="462651"/>
            <a:ext cx="6542405" cy="490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FA1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7026" y="1316808"/>
            <a:ext cx="8486775" cy="149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5267706"/>
            <a:ext cx="3218688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5267706"/>
            <a:ext cx="2313432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5267706"/>
            <a:ext cx="2313432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jpg"/><Relationship Id="rId12" Type="http://schemas.openxmlformats.org/officeDocument/2006/relationships/image" Target="../media/image32.jpg"/><Relationship Id="rId13" Type="http://schemas.openxmlformats.org/officeDocument/2006/relationships/image" Target="../media/image33.jpg"/><Relationship Id="rId14" Type="http://schemas.openxmlformats.org/officeDocument/2006/relationships/image" Target="../media/image34.jpg"/><Relationship Id="rId15" Type="http://schemas.openxmlformats.org/officeDocument/2006/relationships/image" Target="../media/image35.jpg"/><Relationship Id="rId16" Type="http://schemas.openxmlformats.org/officeDocument/2006/relationships/image" Target="../media/image36.jp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4.png"/><Relationship Id="rId25" Type="http://schemas.openxmlformats.org/officeDocument/2006/relationships/image" Target="../media/image45.png"/><Relationship Id="rId26" Type="http://schemas.openxmlformats.org/officeDocument/2006/relationships/image" Target="../media/image46.png"/><Relationship Id="rId27" Type="http://schemas.openxmlformats.org/officeDocument/2006/relationships/image" Target="../media/image47.png"/><Relationship Id="rId28" Type="http://schemas.openxmlformats.org/officeDocument/2006/relationships/image" Target="../media/image48.png"/><Relationship Id="rId29" Type="http://schemas.openxmlformats.org/officeDocument/2006/relationships/image" Target="../media/image49.jpg"/><Relationship Id="rId30" Type="http://schemas.openxmlformats.org/officeDocument/2006/relationships/image" Target="../media/image50.png"/><Relationship Id="rId31" Type="http://schemas.openxmlformats.org/officeDocument/2006/relationships/image" Target="../media/image51.jpg"/><Relationship Id="rId32" Type="http://schemas.openxmlformats.org/officeDocument/2006/relationships/image" Target="../media/image52.png"/><Relationship Id="rId33" Type="http://schemas.openxmlformats.org/officeDocument/2006/relationships/image" Target="../media/image53.png"/><Relationship Id="rId34" Type="http://schemas.openxmlformats.org/officeDocument/2006/relationships/image" Target="../media/image54.png"/><Relationship Id="rId35" Type="http://schemas.openxmlformats.org/officeDocument/2006/relationships/image" Target="../media/image55.png"/><Relationship Id="rId36" Type="http://schemas.openxmlformats.org/officeDocument/2006/relationships/image" Target="../media/image56.png"/><Relationship Id="rId37" Type="http://schemas.openxmlformats.org/officeDocument/2006/relationships/image" Target="../media/image57.png"/><Relationship Id="rId38" Type="http://schemas.openxmlformats.org/officeDocument/2006/relationships/image" Target="../media/image58.jpg"/><Relationship Id="rId39" Type="http://schemas.openxmlformats.org/officeDocument/2006/relationships/image" Target="../media/image59.png"/><Relationship Id="rId40" Type="http://schemas.openxmlformats.org/officeDocument/2006/relationships/image" Target="../media/image60.png"/><Relationship Id="rId41" Type="http://schemas.openxmlformats.org/officeDocument/2006/relationships/image" Target="../media/image61.png"/><Relationship Id="rId42" Type="http://schemas.openxmlformats.org/officeDocument/2006/relationships/image" Target="../media/image62.png"/><Relationship Id="rId43" Type="http://schemas.openxmlformats.org/officeDocument/2006/relationships/image" Target="../media/image63.png"/><Relationship Id="rId44" Type="http://schemas.openxmlformats.org/officeDocument/2006/relationships/image" Target="../media/image64.png"/><Relationship Id="rId45" Type="http://schemas.openxmlformats.org/officeDocument/2006/relationships/image" Target="../media/image65.png"/><Relationship Id="rId46" Type="http://schemas.openxmlformats.org/officeDocument/2006/relationships/image" Target="../media/image66.png"/><Relationship Id="rId47" Type="http://schemas.openxmlformats.org/officeDocument/2006/relationships/image" Target="../media/image67.png"/><Relationship Id="rId48" Type="http://schemas.openxmlformats.org/officeDocument/2006/relationships/image" Target="../media/image68.png"/><Relationship Id="rId49" Type="http://schemas.openxmlformats.org/officeDocument/2006/relationships/image" Target="../media/image69.png"/><Relationship Id="rId50" Type="http://schemas.openxmlformats.org/officeDocument/2006/relationships/image" Target="../media/image70.png"/><Relationship Id="rId51" Type="http://schemas.openxmlformats.org/officeDocument/2006/relationships/image" Target="../media/image71.png"/><Relationship Id="rId52" Type="http://schemas.openxmlformats.org/officeDocument/2006/relationships/image" Target="../media/image72.png"/><Relationship Id="rId53" Type="http://schemas.openxmlformats.org/officeDocument/2006/relationships/image" Target="../media/image73.png"/><Relationship Id="rId54" Type="http://schemas.openxmlformats.org/officeDocument/2006/relationships/image" Target="../media/image74.png"/><Relationship Id="rId55" Type="http://schemas.openxmlformats.org/officeDocument/2006/relationships/image" Target="../media/image75.png"/><Relationship Id="rId56" Type="http://schemas.openxmlformats.org/officeDocument/2006/relationships/image" Target="../media/image76.png"/><Relationship Id="rId57" Type="http://schemas.openxmlformats.org/officeDocument/2006/relationships/image" Target="../media/image77.png"/><Relationship Id="rId58" Type="http://schemas.openxmlformats.org/officeDocument/2006/relationships/image" Target="../media/image78.png"/><Relationship Id="rId59" Type="http://schemas.openxmlformats.org/officeDocument/2006/relationships/image" Target="../media/image79.png"/><Relationship Id="rId60" Type="http://schemas.openxmlformats.org/officeDocument/2006/relationships/image" Target="../media/image80.png"/><Relationship Id="rId61" Type="http://schemas.openxmlformats.org/officeDocument/2006/relationships/image" Target="../media/image81.png"/><Relationship Id="rId62" Type="http://schemas.openxmlformats.org/officeDocument/2006/relationships/image" Target="../media/image82.png"/><Relationship Id="rId63" Type="http://schemas.openxmlformats.org/officeDocument/2006/relationships/image" Target="../media/image83.jpg"/><Relationship Id="rId64" Type="http://schemas.openxmlformats.org/officeDocument/2006/relationships/image" Target="../media/image8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jpg"/><Relationship Id="rId5" Type="http://schemas.openxmlformats.org/officeDocument/2006/relationships/image" Target="../media/image93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Relationship Id="rId4" Type="http://schemas.openxmlformats.org/officeDocument/2006/relationships/image" Target="../media/image104.jpg"/><Relationship Id="rId5" Type="http://schemas.openxmlformats.org/officeDocument/2006/relationships/image" Target="../media/image105.png"/><Relationship Id="rId6" Type="http://schemas.openxmlformats.org/officeDocument/2006/relationships/image" Target="../media/image106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109.png"/><Relationship Id="rId4" Type="http://schemas.openxmlformats.org/officeDocument/2006/relationships/image" Target="../media/image110.jpg"/><Relationship Id="rId5" Type="http://schemas.openxmlformats.org/officeDocument/2006/relationships/image" Target="../media/image111.jpg"/><Relationship Id="rId6" Type="http://schemas.openxmlformats.org/officeDocument/2006/relationships/image" Target="../media/image112.jpg"/><Relationship Id="rId7" Type="http://schemas.openxmlformats.org/officeDocument/2006/relationships/image" Target="../media/image113.jpg"/><Relationship Id="rId8" Type="http://schemas.openxmlformats.org/officeDocument/2006/relationships/image" Target="../media/image114.jpg"/><Relationship Id="rId9" Type="http://schemas.openxmlformats.org/officeDocument/2006/relationships/image" Target="../media/image115.png"/><Relationship Id="rId10" Type="http://schemas.openxmlformats.org/officeDocument/2006/relationships/image" Target="../media/image116.jp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jpg"/><Relationship Id="rId15" Type="http://schemas.openxmlformats.org/officeDocument/2006/relationships/image" Target="../media/image121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jpg"/><Relationship Id="rId3" Type="http://schemas.openxmlformats.org/officeDocument/2006/relationships/image" Target="../media/image123.jpg"/><Relationship Id="rId4" Type="http://schemas.openxmlformats.org/officeDocument/2006/relationships/image" Target="../media/image124.jpg"/><Relationship Id="rId5" Type="http://schemas.openxmlformats.org/officeDocument/2006/relationships/image" Target="../media/image125.png"/><Relationship Id="rId6" Type="http://schemas.openxmlformats.org/officeDocument/2006/relationships/image" Target="../media/image126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jpg"/><Relationship Id="rId3" Type="http://schemas.openxmlformats.org/officeDocument/2006/relationships/image" Target="../media/image129.png"/><Relationship Id="rId4" Type="http://schemas.openxmlformats.org/officeDocument/2006/relationships/image" Target="../media/image130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016" y="1939006"/>
            <a:ext cx="6748272" cy="317070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703" y="1603644"/>
            <a:ext cx="1883664" cy="243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1743" y="5359706"/>
            <a:ext cx="54864" cy="853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6634" y="469003"/>
            <a:ext cx="613092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70">
                <a:solidFill>
                  <a:srgbClr val="01B1C3"/>
                </a:solidFill>
                <a:latin typeface="Arial MT"/>
                <a:cs typeface="Arial MT"/>
              </a:rPr>
              <a:t>What</a:t>
            </a:r>
            <a:r>
              <a:rPr dirty="0" sz="3000" spc="180">
                <a:solidFill>
                  <a:srgbClr val="01B1C3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38BCD8"/>
                </a:solidFill>
                <a:latin typeface="Arial MT"/>
                <a:cs typeface="Arial MT"/>
              </a:rPr>
              <a:t>is</a:t>
            </a:r>
            <a:r>
              <a:rPr dirty="0" sz="3000" spc="-55">
                <a:solidFill>
                  <a:srgbClr val="38BCD8"/>
                </a:solidFill>
                <a:latin typeface="Arial MT"/>
                <a:cs typeface="Arial MT"/>
              </a:rPr>
              <a:t> </a:t>
            </a:r>
            <a:r>
              <a:rPr dirty="0" sz="3000" spc="100">
                <a:solidFill>
                  <a:srgbClr val="01B5D6"/>
                </a:solidFill>
                <a:latin typeface="Arial MT"/>
                <a:cs typeface="Arial MT"/>
              </a:rPr>
              <a:t>Artificial</a:t>
            </a:r>
            <a:r>
              <a:rPr dirty="0" sz="3000" spc="140">
                <a:solidFill>
                  <a:srgbClr val="01B5D6"/>
                </a:solidFill>
                <a:latin typeface="Arial MT"/>
                <a:cs typeface="Arial MT"/>
              </a:rPr>
              <a:t> </a:t>
            </a:r>
            <a:r>
              <a:rPr dirty="0" sz="3000" spc="120">
                <a:solidFill>
                  <a:srgbClr val="16A3CA"/>
                </a:solidFill>
                <a:latin typeface="Arial MT"/>
                <a:cs typeface="Arial MT"/>
              </a:rPr>
              <a:t>Intelligence</a:t>
            </a:r>
            <a:r>
              <a:rPr dirty="0" sz="3000" spc="225">
                <a:solidFill>
                  <a:srgbClr val="16A3CA"/>
                </a:solidFill>
                <a:latin typeface="Arial MT"/>
                <a:cs typeface="Arial MT"/>
              </a:rPr>
              <a:t> </a:t>
            </a:r>
            <a:r>
              <a:rPr dirty="0" sz="3000" spc="-35">
                <a:solidFill>
                  <a:srgbClr val="00AECD"/>
                </a:solidFill>
                <a:latin typeface="Arial MT"/>
                <a:cs typeface="Arial MT"/>
              </a:rPr>
              <a:t>(AI)?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8846" y="5295940"/>
            <a:ext cx="21799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Intelligent</a:t>
            </a:r>
            <a:r>
              <a:rPr dirty="0" sz="1050" spc="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545454"/>
                </a:solidFill>
                <a:latin typeface="Arial MT"/>
                <a:cs typeface="Arial MT"/>
              </a:rPr>
              <a:t>Applications</a:t>
            </a:r>
            <a:r>
              <a:rPr dirty="0" sz="105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6B6B"/>
                </a:solidFill>
                <a:latin typeface="Arial MT"/>
                <a:cs typeface="Arial MT"/>
              </a:rPr>
              <a:t>with</a:t>
            </a:r>
            <a:r>
              <a:rPr dirty="0" sz="1050" spc="-5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565656"/>
                </a:solidFill>
                <a:latin typeface="Arial MT"/>
                <a:cs typeface="Arial MT"/>
              </a:rPr>
              <a:t>Spring</a:t>
            </a:r>
            <a:r>
              <a:rPr dirty="0" sz="105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67777" y="4069833"/>
            <a:ext cx="108140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170">
                <a:solidFill>
                  <a:srgbClr val="699CED"/>
                </a:solidFill>
                <a:latin typeface="Arial MT"/>
                <a:cs typeface="Arial MT"/>
              </a:rPr>
              <a:t>GerrÎini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870" y="417936"/>
            <a:ext cx="2112645" cy="551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60">
                <a:solidFill>
                  <a:srgbClr val="08A3D4"/>
                </a:solidFill>
              </a:rPr>
              <a:t>Examples</a:t>
            </a:r>
            <a:r>
              <a:rPr dirty="0" sz="3450" spc="25">
                <a:solidFill>
                  <a:srgbClr val="08A3D4"/>
                </a:solidFill>
              </a:rPr>
              <a:t> </a:t>
            </a:r>
            <a:r>
              <a:rPr dirty="0" sz="3450" spc="-295">
                <a:solidFill>
                  <a:srgbClr val="15B8DB"/>
                </a:solidFill>
              </a:rPr>
              <a:t>...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845489" y="1326972"/>
            <a:ext cx="846518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6695" indent="-213995">
              <a:lnSpc>
                <a:spcPct val="100000"/>
              </a:lnSpc>
              <a:spcBef>
                <a:spcPts val="100"/>
              </a:spcBef>
              <a:buClr>
                <a:srgbClr val="181818"/>
              </a:buClr>
              <a:buChar char="•"/>
              <a:tabLst>
                <a:tab pos="226695" algn="l"/>
              </a:tabLst>
            </a:pPr>
            <a:r>
              <a:rPr dirty="0" sz="2150">
                <a:latin typeface="Calibri"/>
                <a:cs typeface="Calibri"/>
              </a:rPr>
              <a:t>Query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r>
              <a:rPr dirty="0" sz="2150" spc="7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31313"/>
                </a:solidFill>
                <a:latin typeface="Calibri"/>
                <a:cs typeface="Calibri"/>
              </a:rPr>
              <a:t>with</a:t>
            </a:r>
            <a:r>
              <a:rPr dirty="0" sz="2150" spc="14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E0E0E"/>
                </a:solidFill>
                <a:latin typeface="Calibri"/>
                <a:cs typeface="Calibri"/>
              </a:rPr>
              <a:t>natural</a:t>
            </a:r>
            <a:r>
              <a:rPr dirty="0" sz="2150" spc="14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150" spc="50">
                <a:latin typeface="Calibri"/>
                <a:cs typeface="Calibri"/>
              </a:rPr>
              <a:t>language</a:t>
            </a:r>
            <a:endParaRPr sz="2150">
              <a:latin typeface="Calibri"/>
              <a:cs typeface="Calibri"/>
            </a:endParaRPr>
          </a:p>
          <a:p>
            <a:pPr lvl="1" marL="614680" indent="-152400">
              <a:lnSpc>
                <a:spcPct val="100000"/>
              </a:lnSpc>
              <a:spcBef>
                <a:spcPts val="60"/>
              </a:spcBef>
              <a:buClr>
                <a:srgbClr val="313131"/>
              </a:buClr>
              <a:buChar char="o"/>
              <a:tabLst>
                <a:tab pos="614680" algn="l"/>
              </a:tabLst>
            </a:pPr>
            <a:r>
              <a:rPr dirty="0" baseline="3875" sz="3225" spc="-15" i="1">
                <a:latin typeface="Calibri"/>
                <a:cs typeface="Calibri"/>
              </a:rPr>
              <a:t>“</a:t>
            </a:r>
            <a:r>
              <a:rPr dirty="0" sz="2150" spc="-10" i="1">
                <a:latin typeface="Calibri"/>
                <a:cs typeface="Calibri"/>
              </a:rPr>
              <a:t>Wh)y’</a:t>
            </a:r>
            <a:r>
              <a:rPr dirty="0" sz="2150" spc="-10" i="1">
                <a:solidFill>
                  <a:srgbClr val="131313"/>
                </a:solidFill>
                <a:latin typeface="Calibri"/>
                <a:cs typeface="Calibri"/>
              </a:rPr>
              <a:t>did</a:t>
            </a:r>
            <a:r>
              <a:rPr dirty="0" sz="2150" spc="165" i="1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50" spc="50" i="1">
                <a:latin typeface="Calibri"/>
                <a:cs typeface="Calibri"/>
              </a:rPr>
              <a:t>the</a:t>
            </a:r>
            <a:r>
              <a:rPr dirty="0" sz="2150" spc="40" i="1"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131313"/>
                </a:solidFill>
                <a:latin typeface="Calibri"/>
                <a:cs typeface="Calibri"/>
              </a:rPr>
              <a:t>user</a:t>
            </a:r>
            <a:r>
              <a:rPr dirty="0" sz="2150" spc="40" i="1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50" spc="60" i="1">
                <a:solidFill>
                  <a:srgbClr val="0F0F0F"/>
                </a:solidFill>
                <a:latin typeface="Calibri"/>
                <a:cs typeface="Calibri"/>
              </a:rPr>
              <a:t>oks</a:t>
            </a:r>
            <a:r>
              <a:rPr dirty="0" sz="2150" spc="30" i="1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 spc="-175" i="1">
                <a:latin typeface="Calibri"/>
                <a:cs typeface="Calibri"/>
              </a:rPr>
              <a:t>For</a:t>
            </a:r>
            <a:r>
              <a:rPr dirty="0" sz="2150" spc="50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their</a:t>
            </a:r>
            <a:r>
              <a:rPr dirty="0" sz="2150" spc="40" i="1">
                <a:latin typeface="Calibri"/>
                <a:cs typeface="Calibri"/>
              </a:rPr>
              <a:t> </a:t>
            </a:r>
            <a:r>
              <a:rPr dirty="0" sz="2150" spc="45" i="1">
                <a:latin typeface="Calibri"/>
                <a:cs typeface="Calibri"/>
              </a:rPr>
              <a:t>occount</a:t>
            </a:r>
            <a:r>
              <a:rPr dirty="0" sz="2150" spc="110" i="1"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dirty="0" sz="2150" spc="-25" i="1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50" spc="90" i="1">
                <a:solidFill>
                  <a:srgbClr val="0F0F0F"/>
                </a:solidFill>
                <a:latin typeface="Calibri"/>
                <a:cs typeface="Calibri"/>
              </a:rPr>
              <a:t>6e</a:t>
            </a:r>
            <a:r>
              <a:rPr dirty="0" sz="2150" spc="-25" i="1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closed?”</a:t>
            </a:r>
            <a:endParaRPr sz="2150">
              <a:latin typeface="Calibri"/>
              <a:cs typeface="Calibri"/>
            </a:endParaRPr>
          </a:p>
          <a:p>
            <a:pPr lvl="2" marL="1139190" marR="5080" indent="-219075">
              <a:lnSpc>
                <a:spcPct val="104200"/>
              </a:lnSpc>
              <a:spcBef>
                <a:spcPts val="50"/>
              </a:spcBef>
              <a:buClr>
                <a:srgbClr val="232323"/>
              </a:buClr>
              <a:buChar char="•"/>
              <a:tabLst>
                <a:tab pos="1139190" algn="l"/>
                <a:tab pos="1140460" algn="l"/>
              </a:tabLst>
            </a:pPr>
            <a:r>
              <a:rPr dirty="0" sz="2150">
                <a:latin typeface="Calibri"/>
                <a:cs typeface="Calibri"/>
              </a:rPr>
              <a:t>Checks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A1A1A"/>
                </a:solidFill>
                <a:latin typeface="Calibri"/>
                <a:cs typeface="Calibri"/>
              </a:rPr>
              <a:t>emails,</a:t>
            </a:r>
            <a:r>
              <a:rPr dirty="0" sz="2150" spc="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complaints,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C0C0C"/>
                </a:solidFill>
                <a:latin typeface="Calibri"/>
                <a:cs typeface="Calibri"/>
              </a:rPr>
              <a:t>logs,</a:t>
            </a:r>
            <a:r>
              <a:rPr dirty="0" sz="2150" spc="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F0F0F"/>
                </a:solidFill>
                <a:latin typeface="Calibri"/>
                <a:cs typeface="Calibri"/>
              </a:rPr>
              <a:t>customer</a:t>
            </a:r>
            <a:r>
              <a:rPr dirty="0" sz="2150" spc="28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E0E0E"/>
                </a:solidFill>
                <a:latin typeface="Calibri"/>
                <a:cs typeface="Calibri"/>
              </a:rPr>
              <a:t>support</a:t>
            </a:r>
            <a:r>
              <a:rPr dirty="0" sz="2150" spc="17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tickets,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0C0C0C"/>
                </a:solidFill>
                <a:latin typeface="Calibri"/>
                <a:cs typeface="Calibri"/>
              </a:rPr>
              <a:t>social </a:t>
            </a:r>
            <a:r>
              <a:rPr dirty="0" sz="2150">
                <a:solidFill>
                  <a:srgbClr val="111111"/>
                </a:solidFill>
                <a:latin typeface="Calibri"/>
                <a:cs typeface="Calibri"/>
              </a:rPr>
              <a:t>media</a:t>
            </a:r>
            <a:r>
              <a:rPr dirty="0" sz="2150" spc="27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 spc="-20">
                <a:solidFill>
                  <a:srgbClr val="161616"/>
                </a:solidFill>
                <a:latin typeface="Calibri"/>
                <a:cs typeface="Calibri"/>
              </a:rPr>
              <a:t>etc.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0084" y="5295940"/>
            <a:ext cx="21786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Intelligent</a:t>
            </a:r>
            <a:r>
              <a:rPr dirty="0" sz="1050" spc="19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949"/>
                </a:solidFill>
                <a:latin typeface="Calibri"/>
                <a:cs typeface="Calibri"/>
              </a:rPr>
              <a:t>Applications</a:t>
            </a:r>
            <a:r>
              <a:rPr dirty="0" sz="1050" spc="20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050" spc="1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050" spc="27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Calibri"/>
                <a:cs typeface="Calibri"/>
              </a:rPr>
              <a:t>AI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15040" y="5295940"/>
            <a:ext cx="1428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5D5D5D"/>
                </a:solidFill>
                <a:latin typeface="Calibri"/>
                <a:cs typeface="Calibri"/>
              </a:rPr>
              <a:t>12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83" y="5359706"/>
            <a:ext cx="2133600" cy="1036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solidFill>
                  <a:srgbClr val="1FBADA"/>
                </a:solidFill>
                <a:latin typeface="Arial MT"/>
                <a:cs typeface="Arial MT"/>
              </a:rPr>
              <a:t>Examples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7702" y="1302355"/>
            <a:ext cx="5071110" cy="190944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18440" indent="-205740">
              <a:lnSpc>
                <a:spcPct val="100000"/>
              </a:lnSpc>
              <a:spcBef>
                <a:spcPts val="445"/>
              </a:spcBef>
              <a:buClr>
                <a:srgbClr val="1D1D1D"/>
              </a:buClr>
              <a:buChar char="•"/>
              <a:tabLst>
                <a:tab pos="218440" algn="l"/>
              </a:tabLst>
            </a:pPr>
            <a:r>
              <a:rPr dirty="0" sz="2000">
                <a:latin typeface="Arial MT"/>
                <a:cs typeface="Arial MT"/>
              </a:rPr>
              <a:t>Perform</a:t>
            </a:r>
            <a:r>
              <a:rPr dirty="0" sz="2000" spc="19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E0E0E"/>
                </a:solidFill>
                <a:latin typeface="Arial MT"/>
                <a:cs typeface="Arial MT"/>
              </a:rPr>
              <a:t>aggregation</a:t>
            </a:r>
            <a:r>
              <a:rPr dirty="0" sz="2000" spc="2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200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11111"/>
                </a:solidFill>
                <a:latin typeface="Arial MT"/>
                <a:cs typeface="Arial MT"/>
              </a:rPr>
              <a:t>transformation</a:t>
            </a:r>
            <a:endParaRPr sz="2000">
              <a:latin typeface="Arial MT"/>
              <a:cs typeface="Arial MT"/>
            </a:endParaRPr>
          </a:p>
          <a:p>
            <a:pPr lvl="1" marL="672465" indent="-203200">
              <a:lnSpc>
                <a:spcPct val="100000"/>
              </a:lnSpc>
              <a:spcBef>
                <a:spcPts val="315"/>
              </a:spcBef>
              <a:buClr>
                <a:srgbClr val="1A1A1A"/>
              </a:buClr>
              <a:buChar char="o"/>
              <a:tabLst>
                <a:tab pos="672465" algn="l"/>
              </a:tabLst>
            </a:pPr>
            <a:r>
              <a:rPr dirty="0" sz="1850" spc="85">
                <a:solidFill>
                  <a:srgbClr val="0E0E0E"/>
                </a:solidFill>
                <a:latin typeface="Arial MT"/>
                <a:cs typeface="Arial MT"/>
              </a:rPr>
              <a:t>Summarize</a:t>
            </a:r>
            <a:r>
              <a:rPr dirty="0" sz="1850" spc="1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850" spc="70">
                <a:solidFill>
                  <a:srgbClr val="0F0F0F"/>
                </a:solidFill>
                <a:latin typeface="Arial MT"/>
                <a:cs typeface="Arial MT"/>
              </a:rPr>
              <a:t>text</a:t>
            </a:r>
            <a:endParaRPr sz="1850">
              <a:latin typeface="Arial MT"/>
              <a:cs typeface="Arial MT"/>
            </a:endParaRPr>
          </a:p>
          <a:p>
            <a:pPr marL="429895">
              <a:lnSpc>
                <a:spcPct val="100000"/>
              </a:lnSpc>
              <a:spcBef>
                <a:spcPts val="869"/>
              </a:spcBef>
              <a:tabLst>
                <a:tab pos="676275" algn="l"/>
              </a:tabLst>
            </a:pPr>
            <a:r>
              <a:rPr dirty="0" sz="2000" spc="45">
                <a:solidFill>
                  <a:srgbClr val="444444"/>
                </a:solidFill>
                <a:latin typeface="Arial MT"/>
                <a:cs typeface="Arial MT"/>
              </a:rPr>
              <a:t>°</a:t>
            </a:r>
            <a:r>
              <a:rPr dirty="0" sz="200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Extract</a:t>
            </a:r>
            <a:r>
              <a:rPr dirty="0" sz="2000" spc="7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C0C0C"/>
                </a:solidFill>
                <a:latin typeface="Arial MT"/>
                <a:cs typeface="Arial MT"/>
              </a:rPr>
              <a:t>action</a:t>
            </a:r>
            <a:r>
              <a:rPr dirty="0" sz="200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11111"/>
                </a:solidFill>
                <a:latin typeface="Arial MT"/>
                <a:cs typeface="Arial MT"/>
              </a:rPr>
              <a:t>items</a:t>
            </a:r>
            <a:endParaRPr sz="2000">
              <a:latin typeface="Arial MT"/>
              <a:cs typeface="Arial MT"/>
            </a:endParaRPr>
          </a:p>
          <a:p>
            <a:pPr lvl="1" marL="669925" indent="-201295">
              <a:lnSpc>
                <a:spcPct val="100000"/>
              </a:lnSpc>
              <a:spcBef>
                <a:spcPts val="775"/>
              </a:spcBef>
              <a:buClr>
                <a:srgbClr val="3B3B3B"/>
              </a:buClr>
              <a:buChar char="o"/>
              <a:tabLst>
                <a:tab pos="669925" algn="l"/>
              </a:tabLst>
            </a:pPr>
            <a:r>
              <a:rPr dirty="0" sz="1950">
                <a:latin typeface="Arial MT"/>
                <a:cs typeface="Arial MT"/>
              </a:rPr>
              <a:t>Censor/identify</a:t>
            </a:r>
            <a:r>
              <a:rPr dirty="0" sz="1950" spc="-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sensitive</a:t>
            </a:r>
            <a:r>
              <a:rPr dirty="0" sz="1950" spc="160"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dirty="0" sz="1950" spc="1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dirty="0" sz="1950" spc="2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950" spc="-235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dirty="0" sz="1950" spc="-2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50" spc="-20">
                <a:solidFill>
                  <a:srgbClr val="151515"/>
                </a:solidFill>
                <a:latin typeface="Arial MT"/>
                <a:cs typeface="Arial MT"/>
              </a:rPr>
              <a:t>buse</a:t>
            </a:r>
            <a:endParaRPr sz="1950">
              <a:latin typeface="Arial MT"/>
              <a:cs typeface="Arial MT"/>
            </a:endParaRPr>
          </a:p>
          <a:p>
            <a:pPr marL="431165">
              <a:lnSpc>
                <a:spcPct val="100000"/>
              </a:lnSpc>
              <a:spcBef>
                <a:spcPts val="825"/>
              </a:spcBef>
              <a:tabLst>
                <a:tab pos="666115" algn="l"/>
              </a:tabLst>
            </a:pPr>
            <a:r>
              <a:rPr dirty="0" sz="1950" spc="-50">
                <a:solidFill>
                  <a:srgbClr val="464646"/>
                </a:solidFill>
                <a:latin typeface="Arial MT"/>
                <a:cs typeface="Arial MT"/>
              </a:rPr>
              <a:t>°</a:t>
            </a:r>
            <a:r>
              <a:rPr dirty="0" sz="195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1950" spc="-10">
                <a:solidFill>
                  <a:srgbClr val="131313"/>
                </a:solidFill>
                <a:latin typeface="Arial MT"/>
                <a:cs typeface="Arial MT"/>
              </a:rPr>
              <a:t>Translate</a:t>
            </a:r>
            <a:r>
              <a:rPr dirty="0" sz="1950" spc="14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950" spc="7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1950" spc="-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111111"/>
                </a:solidFill>
                <a:latin typeface="Arial MT"/>
                <a:cs typeface="Arial MT"/>
              </a:rPr>
              <a:t>diPerent</a:t>
            </a:r>
            <a:r>
              <a:rPr dirty="0" sz="1950" spc="1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languages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22335" y="5302546"/>
            <a:ext cx="12763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5">
                <a:solidFill>
                  <a:srgbClr val="6B6B6B"/>
                </a:solidFill>
                <a:latin typeface="Consolas"/>
                <a:cs typeface="Consolas"/>
              </a:rPr>
              <a:t>lZ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 sz="3150">
                <a:solidFill>
                  <a:srgbClr val="1FBADA"/>
                </a:solidFill>
                <a:latin typeface="Cambria"/>
                <a:cs typeface="Cambria"/>
              </a:rPr>
              <a:t>Exam</a:t>
            </a:r>
            <a:r>
              <a:rPr dirty="0" sz="3150" spc="-170">
                <a:solidFill>
                  <a:srgbClr val="1FBADA"/>
                </a:solidFill>
                <a:latin typeface="Cambria"/>
                <a:cs typeface="Cambria"/>
              </a:rPr>
              <a:t> </a:t>
            </a:r>
            <a:r>
              <a:rPr dirty="0" sz="3150">
                <a:solidFill>
                  <a:srgbClr val="07AFB8"/>
                </a:solidFill>
                <a:latin typeface="Cambria"/>
                <a:cs typeface="Cambria"/>
              </a:rPr>
              <a:t>pies</a:t>
            </a:r>
            <a:r>
              <a:rPr dirty="0" sz="3150" spc="280">
                <a:solidFill>
                  <a:srgbClr val="07AFB8"/>
                </a:solidFill>
                <a:latin typeface="Cambria"/>
                <a:cs typeface="Cambria"/>
              </a:rPr>
              <a:t> </a:t>
            </a:r>
            <a:r>
              <a:rPr dirty="0" sz="3150" spc="-25">
                <a:solidFill>
                  <a:srgbClr val="07A3C8"/>
                </a:solidFill>
                <a:latin typeface="Cambria"/>
                <a:cs typeface="Cambria"/>
              </a:rPr>
              <a:t>.,.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95886" y="1300429"/>
            <a:ext cx="7890509" cy="283210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278765" indent="-215265">
              <a:lnSpc>
                <a:spcPct val="100000"/>
              </a:lnSpc>
              <a:spcBef>
                <a:spcPts val="1370"/>
              </a:spcBef>
              <a:buClr>
                <a:srgbClr val="1C1C1C"/>
              </a:buClr>
              <a:buChar char="•"/>
              <a:tabLst>
                <a:tab pos="278765" algn="l"/>
              </a:tabLst>
            </a:pPr>
            <a:r>
              <a:rPr dirty="0" sz="2050">
                <a:latin typeface="Calibri"/>
                <a:cs typeface="Calibri"/>
              </a:rPr>
              <a:t>Manipulate</a:t>
            </a:r>
            <a:r>
              <a:rPr dirty="0" sz="2050" spc="484">
                <a:latin typeface="Calibri"/>
                <a:cs typeface="Calibri"/>
              </a:rPr>
              <a:t> </a:t>
            </a:r>
            <a:r>
              <a:rPr dirty="0" sz="2050" spc="35">
                <a:solidFill>
                  <a:srgbClr val="181818"/>
                </a:solidFill>
                <a:latin typeface="Calibri"/>
                <a:cs typeface="Calibri"/>
              </a:rPr>
              <a:t>data</a:t>
            </a:r>
            <a:endParaRPr sz="2050">
              <a:latin typeface="Calibri"/>
              <a:cs typeface="Calibri"/>
            </a:endParaRPr>
          </a:p>
          <a:p>
            <a:pPr marL="525145">
              <a:lnSpc>
                <a:spcPct val="100000"/>
              </a:lnSpc>
              <a:spcBef>
                <a:spcPts val="1235"/>
              </a:spcBef>
            </a:pPr>
            <a:r>
              <a:rPr dirty="0" sz="2000" spc="-270" i="1">
                <a:solidFill>
                  <a:srgbClr val="777777"/>
                </a:solidFill>
                <a:latin typeface="Calibri"/>
                <a:cs typeface="Calibri"/>
              </a:rPr>
              <a:t>»</a:t>
            </a:r>
            <a:r>
              <a:rPr dirty="0" sz="2000" spc="395" i="1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2000" spc="70" i="1">
                <a:solidFill>
                  <a:srgbClr val="131313"/>
                </a:solidFill>
                <a:latin typeface="Calibri"/>
                <a:cs typeface="Calibri"/>
              </a:rPr>
              <a:t>“Reoctivote</a:t>
            </a:r>
            <a:r>
              <a:rPr dirty="0" sz="2000" spc="175" i="1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000" spc="90" i="1">
                <a:latin typeface="Calibri"/>
                <a:cs typeface="Calibri"/>
              </a:rPr>
              <a:t>customer</a:t>
            </a:r>
            <a:r>
              <a:rPr dirty="0" sz="2000" spc="245" i="1">
                <a:latin typeface="Calibri"/>
                <a:cs typeface="Calibri"/>
              </a:rPr>
              <a:t> </a:t>
            </a:r>
            <a:r>
              <a:rPr dirty="0" sz="2000" spc="114" i="1">
                <a:solidFill>
                  <a:srgbClr val="131313"/>
                </a:solidFill>
                <a:latin typeface="Calibri"/>
                <a:cs typeface="Calibri"/>
              </a:rPr>
              <a:t>occount</a:t>
            </a:r>
            <a:r>
              <a:rPr dirty="0" sz="2000" spc="190" i="1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000" spc="140" i="1">
                <a:latin typeface="Calibri"/>
                <a:cs typeface="Calibri"/>
              </a:rPr>
              <a:t>ond</a:t>
            </a:r>
            <a:r>
              <a:rPr dirty="0" sz="2000" spc="95" i="1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C0C0C"/>
                </a:solidFill>
                <a:latin typeface="Calibri"/>
                <a:cs typeface="Calibri"/>
              </a:rPr>
              <a:t>noti/\'</a:t>
            </a:r>
            <a:r>
              <a:rPr dirty="0" sz="2000" spc="-114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000" spc="145" i="1">
                <a:solidFill>
                  <a:srgbClr val="1F1F1F"/>
                </a:solidFill>
                <a:latin typeface="Calibri"/>
                <a:cs typeface="Calibri"/>
              </a:rPr>
              <a:t>them</a:t>
            </a:r>
            <a:r>
              <a:rPr dirty="0" sz="2000" spc="160" i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000" spc="130" i="1">
                <a:solidFill>
                  <a:srgbClr val="0F0F0F"/>
                </a:solidFill>
                <a:latin typeface="Calibri"/>
                <a:cs typeface="Calibri"/>
              </a:rPr>
              <a:t>by</a:t>
            </a:r>
            <a:r>
              <a:rPr dirty="0" sz="2000" spc="-80" i="1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email.”</a:t>
            </a:r>
            <a:endParaRPr sz="2000">
              <a:latin typeface="Calibri"/>
              <a:cs typeface="Calibri"/>
            </a:endParaRPr>
          </a:p>
          <a:p>
            <a:pPr marL="278765" indent="-215265">
              <a:lnSpc>
                <a:spcPct val="100000"/>
              </a:lnSpc>
              <a:spcBef>
                <a:spcPts val="1295"/>
              </a:spcBef>
              <a:buClr>
                <a:srgbClr val="1A1A1A"/>
              </a:buClr>
              <a:buChar char="•"/>
              <a:tabLst>
                <a:tab pos="278765" algn="l"/>
              </a:tabLst>
            </a:pPr>
            <a:r>
              <a:rPr dirty="0" sz="2050" spc="50">
                <a:solidFill>
                  <a:srgbClr val="131313"/>
                </a:solidFill>
                <a:latin typeface="Calibri"/>
                <a:cs typeface="Calibri"/>
              </a:rPr>
              <a:t>Define</a:t>
            </a:r>
            <a:r>
              <a:rPr dirty="0" sz="2050" spc="17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050" spc="80">
                <a:latin typeface="Calibri"/>
                <a:cs typeface="Calibri"/>
              </a:rPr>
              <a:t>and</a:t>
            </a:r>
            <a:r>
              <a:rPr dirty="0" sz="2050" spc="125"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151515"/>
                </a:solidFill>
                <a:latin typeface="Calibri"/>
                <a:cs typeface="Calibri"/>
              </a:rPr>
              <a:t>execute</a:t>
            </a:r>
            <a:r>
              <a:rPr dirty="0" sz="2050" spc="2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50" spc="65">
                <a:solidFill>
                  <a:srgbClr val="0F0F0F"/>
                </a:solidFill>
                <a:latin typeface="Calibri"/>
                <a:cs typeface="Calibri"/>
              </a:rPr>
              <a:t>business</a:t>
            </a:r>
            <a:r>
              <a:rPr dirty="0" sz="2050" spc="229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0F0F0F"/>
                </a:solidFill>
                <a:latin typeface="Calibri"/>
                <a:cs typeface="Calibri"/>
              </a:rPr>
              <a:t>rules</a:t>
            </a:r>
            <a:endParaRPr sz="205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1340"/>
              </a:spcBef>
              <a:tabLst>
                <a:tab pos="756920" algn="l"/>
              </a:tabLst>
            </a:pPr>
            <a:r>
              <a:rPr dirty="0" baseline="8547" sz="2925" spc="-525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baseline="8547" sz="2925">
                <a:solidFill>
                  <a:srgbClr val="1F1F1F"/>
                </a:solidFill>
                <a:latin typeface="Calibri"/>
                <a:cs typeface="Calibri"/>
              </a:rPr>
              <a:t>	</a:t>
            </a:r>
            <a:r>
              <a:rPr dirty="0" baseline="68376" sz="975" spc="97">
                <a:solidFill>
                  <a:srgbClr val="161616"/>
                </a:solidFill>
                <a:latin typeface="Calibri"/>
                <a:cs typeface="Calibri"/>
              </a:rPr>
              <a:t>f</a:t>
            </a:r>
            <a:r>
              <a:rPr dirty="0" baseline="7122" sz="2925" spc="97">
                <a:solidFill>
                  <a:srgbClr val="161616"/>
                </a:solidFill>
                <a:latin typeface="Calibri"/>
                <a:cs typeface="Calibri"/>
              </a:rPr>
              <a:t>’</a:t>
            </a:r>
            <a:r>
              <a:rPr dirty="0" sz="1950" spc="65">
                <a:solidFill>
                  <a:srgbClr val="161616"/>
                </a:solidFill>
                <a:latin typeface="Calibri"/>
                <a:cs typeface="Calibri"/>
              </a:rPr>
              <a:t>/F</a:t>
            </a:r>
            <a:r>
              <a:rPr dirty="0" baseline="1424" sz="2925" spc="97" i="1">
                <a:solidFill>
                  <a:srgbClr val="0F0F0F"/>
                </a:solidFill>
                <a:latin typeface="Calibri"/>
                <a:cs typeface="Calibri"/>
              </a:rPr>
              <a:t>customer</a:t>
            </a:r>
            <a:r>
              <a:rPr dirty="0" baseline="1424" sz="2925" spc="315" i="1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baseline="1424" sz="2925" spc="187" i="1">
                <a:solidFill>
                  <a:srgbClr val="0F0F0F"/>
                </a:solidFill>
                <a:latin typeface="Calibri"/>
                <a:cs typeface="Calibri"/>
              </a:rPr>
              <a:t>hos</a:t>
            </a:r>
            <a:r>
              <a:rPr dirty="0" baseline="1424" sz="2925" spc="247" i="1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baseline="1424" sz="2925" spc="127" i="1">
                <a:latin typeface="Calibri"/>
                <a:cs typeface="Calibri"/>
              </a:rPr>
              <a:t>not</a:t>
            </a:r>
            <a:r>
              <a:rPr dirty="0" baseline="1424" sz="2925" spc="202" i="1">
                <a:latin typeface="Calibri"/>
                <a:cs typeface="Calibri"/>
              </a:rPr>
              <a:t> logged</a:t>
            </a:r>
            <a:r>
              <a:rPr dirty="0" baseline="1424" sz="2925" spc="247" i="1">
                <a:latin typeface="Calibri"/>
                <a:cs typeface="Calibri"/>
              </a:rPr>
              <a:t> </a:t>
            </a:r>
            <a:r>
              <a:rPr dirty="0" baseline="1424" sz="2925" spc="89" i="1">
                <a:solidFill>
                  <a:srgbClr val="0C0C0C"/>
                </a:solidFill>
                <a:latin typeface="Calibri"/>
                <a:cs typeface="Calibri"/>
              </a:rPr>
              <a:t>in</a:t>
            </a:r>
            <a:r>
              <a:rPr dirty="0" baseline="1424" sz="2925" spc="525" i="1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baseline="1424" sz="2925" i="1">
                <a:solidFill>
                  <a:srgbClr val="1F1F1F"/>
                </a:solidFill>
                <a:latin typeface="Calibri"/>
                <a:cs typeface="Calibri"/>
              </a:rPr>
              <a:t>for</a:t>
            </a:r>
            <a:r>
              <a:rPr dirty="0" baseline="1424" sz="2925" spc="165" i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1424" sz="2925" spc="82" i="1">
                <a:solidFill>
                  <a:srgbClr val="1A1A1A"/>
                </a:solidFill>
                <a:latin typeface="Calibri"/>
                <a:cs typeface="Calibri"/>
              </a:rPr>
              <a:t>6</a:t>
            </a:r>
            <a:r>
              <a:rPr dirty="0" baseline="1424" sz="2925" spc="120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baseline="1424" sz="2925" spc="179" i="1">
                <a:latin typeface="Calibri"/>
                <a:cs typeface="Calibri"/>
              </a:rPr>
              <a:t>months,</a:t>
            </a:r>
            <a:r>
              <a:rPr dirty="0" baseline="1424" sz="2925" spc="120" i="1">
                <a:latin typeface="Calibri"/>
                <a:cs typeface="Calibri"/>
              </a:rPr>
              <a:t> </a:t>
            </a:r>
            <a:r>
              <a:rPr dirty="0" baseline="1424" sz="2925" spc="209" i="1">
                <a:solidFill>
                  <a:srgbClr val="1F1F1F"/>
                </a:solidFill>
                <a:latin typeface="Calibri"/>
                <a:cs typeface="Calibri"/>
              </a:rPr>
              <a:t>send </a:t>
            </a:r>
            <a:r>
              <a:rPr dirty="0" baseline="1424" sz="2925" spc="240" i="1">
                <a:solidFill>
                  <a:srgbClr val="181818"/>
                </a:solidFill>
                <a:latin typeface="Calibri"/>
                <a:cs typeface="Calibri"/>
              </a:rPr>
              <a:t>o</a:t>
            </a:r>
            <a:r>
              <a:rPr dirty="0" baseline="1424" sz="2925" spc="127" i="1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baseline="1424" sz="2925" spc="-15" i="1">
                <a:solidFill>
                  <a:srgbClr val="0F0F0F"/>
                </a:solidFill>
                <a:latin typeface="Calibri"/>
                <a:cs typeface="Calibri"/>
              </a:rPr>
              <a:t>reminder.“</a:t>
            </a:r>
            <a:endParaRPr baseline="1424" sz="2925">
              <a:latin typeface="Calibri"/>
              <a:cs typeface="Calibri"/>
            </a:endParaRPr>
          </a:p>
          <a:p>
            <a:pPr marL="276860" indent="-213995">
              <a:lnSpc>
                <a:spcPct val="100000"/>
              </a:lnSpc>
              <a:spcBef>
                <a:spcPts val="1160"/>
              </a:spcBef>
              <a:buClr>
                <a:srgbClr val="111111"/>
              </a:buClr>
              <a:buChar char="•"/>
              <a:tabLst>
                <a:tab pos="276860" algn="l"/>
              </a:tabLst>
            </a:pPr>
            <a:r>
              <a:rPr dirty="0" sz="2100">
                <a:solidFill>
                  <a:srgbClr val="0C0C0C"/>
                </a:solidFill>
                <a:latin typeface="Calibri"/>
                <a:cs typeface="Calibri"/>
              </a:rPr>
              <a:t>Generate</a:t>
            </a:r>
            <a:r>
              <a:rPr dirty="0" sz="2100" spc="1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code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1275"/>
              </a:spcBef>
              <a:tabLst>
                <a:tab pos="730250" algn="l"/>
              </a:tabLst>
            </a:pPr>
            <a:r>
              <a:rPr dirty="0" sz="1950" spc="-50" i="1">
                <a:solidFill>
                  <a:srgbClr val="363636"/>
                </a:solidFill>
                <a:latin typeface="Calibri"/>
                <a:cs typeface="Calibri"/>
              </a:rPr>
              <a:t>›</a:t>
            </a:r>
            <a:r>
              <a:rPr dirty="0" sz="1950" i="1">
                <a:solidFill>
                  <a:srgbClr val="363636"/>
                </a:solidFill>
                <a:latin typeface="Calibri"/>
                <a:cs typeface="Calibri"/>
              </a:rPr>
              <a:t>	</a:t>
            </a:r>
            <a:r>
              <a:rPr dirty="0" sz="1950" spc="90" i="1">
                <a:solidFill>
                  <a:srgbClr val="161616"/>
                </a:solidFill>
                <a:latin typeface="Calibri"/>
                <a:cs typeface="Calibri"/>
              </a:rPr>
              <a:t>“Create</a:t>
            </a:r>
            <a:r>
              <a:rPr dirty="0" sz="1950" spc="105" i="1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950" spc="110" i="1">
                <a:solidFill>
                  <a:srgbClr val="181818"/>
                </a:solidFill>
                <a:latin typeface="Calibri"/>
                <a:cs typeface="Calibri"/>
              </a:rPr>
              <a:t>a</a:t>
            </a:r>
            <a:r>
              <a:rPr dirty="0" sz="1950" spc="114" i="1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950" spc="95" i="1">
                <a:solidFill>
                  <a:srgbClr val="111111"/>
                </a:solidFill>
                <a:latin typeface="Calibri"/>
                <a:cs typeface="Calibri"/>
              </a:rPr>
              <a:t>CSV</a:t>
            </a:r>
            <a:r>
              <a:rPr dirty="0" sz="1950" spc="300" i="1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950" spc="85" i="1">
                <a:latin typeface="Calibri"/>
                <a:cs typeface="Calibri"/>
              </a:rPr>
              <a:t>exporter</a:t>
            </a:r>
            <a:r>
              <a:rPr dirty="0" sz="1950" spc="415" i="1"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dirty="0" sz="1950" spc="75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latin typeface="Calibri"/>
                <a:cs typeface="Calibri"/>
              </a:rPr>
              <a:t>off</a:t>
            </a:r>
            <a:r>
              <a:rPr dirty="0" sz="1950" spc="240" i="1">
                <a:latin typeface="Calibri"/>
                <a:cs typeface="Calibri"/>
              </a:rPr>
              <a:t> </a:t>
            </a:r>
            <a:r>
              <a:rPr dirty="0" sz="1950" spc="95" i="1">
                <a:solidFill>
                  <a:srgbClr val="111111"/>
                </a:solidFill>
                <a:latin typeface="Calibri"/>
                <a:cs typeface="Calibri"/>
              </a:rPr>
              <a:t>orders</a:t>
            </a:r>
            <a:r>
              <a:rPr dirty="0" sz="1950" spc="45" i="1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950" spc="114" i="1">
                <a:latin typeface="Calibri"/>
                <a:cs typeface="Calibri"/>
              </a:rPr>
              <a:t>and</a:t>
            </a:r>
            <a:r>
              <a:rPr dirty="0" sz="1950" spc="350" i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write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 spc="90" i="1">
                <a:latin typeface="Calibri"/>
                <a:cs typeface="Calibri"/>
              </a:rPr>
              <a:t>tests</a:t>
            </a:r>
            <a:r>
              <a:rPr dirty="0" sz="1950" spc="325" i="1"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111111"/>
                </a:solidFill>
                <a:latin typeface="Calibri"/>
                <a:cs typeface="Calibri"/>
              </a:rPr>
              <a:t>for</a:t>
            </a:r>
            <a:r>
              <a:rPr dirty="0" sz="1950" spc="90" i="1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950" spc="-20" i="1">
                <a:latin typeface="Calibri"/>
                <a:cs typeface="Calibri"/>
              </a:rPr>
              <a:t>it.”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5658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1109746"/>
            <a:ext cx="4468367" cy="292680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10084" y="5295940"/>
            <a:ext cx="21786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Intelligent</a:t>
            </a:r>
            <a:r>
              <a:rPr dirty="0" sz="1050" spc="19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949"/>
                </a:solidFill>
                <a:latin typeface="Calibri"/>
                <a:cs typeface="Calibri"/>
              </a:rPr>
              <a:t>Applications</a:t>
            </a:r>
            <a:r>
              <a:rPr dirty="0" sz="1050" spc="20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050" spc="1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050" spc="27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Calibri"/>
                <a:cs typeface="Calibri"/>
              </a:rPr>
              <a:t>AI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42504" y="1051822"/>
            <a:ext cx="1061720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65">
                <a:solidFill>
                  <a:srgbClr val="779750"/>
                </a:solidFill>
              </a:rPr>
              <a:t>To</a:t>
            </a:r>
            <a:r>
              <a:rPr dirty="0" sz="2300" spc="-70">
                <a:solidFill>
                  <a:srgbClr val="779750"/>
                </a:solidFill>
              </a:rPr>
              <a:t> </a:t>
            </a:r>
            <a:r>
              <a:rPr dirty="0" sz="2300" spc="-10">
                <a:solidFill>
                  <a:srgbClr val="80AC56"/>
                </a:solidFill>
              </a:rPr>
              <a:t>There</a:t>
            </a:r>
            <a:endParaRPr sz="2300"/>
          </a:p>
        </p:txBody>
      </p:sp>
      <p:sp>
        <p:nvSpPr>
          <p:cNvPr id="5" name="object 5" descr=""/>
          <p:cNvSpPr txBox="1"/>
          <p:nvPr/>
        </p:nvSpPr>
        <p:spPr>
          <a:xfrm>
            <a:off x="2832935" y="2869164"/>
            <a:ext cx="4384040" cy="169354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2698115">
              <a:lnSpc>
                <a:spcPct val="100000"/>
              </a:lnSpc>
              <a:spcBef>
                <a:spcPts val="985"/>
              </a:spcBef>
            </a:pPr>
            <a:r>
              <a:rPr dirty="0" sz="1750">
                <a:solidFill>
                  <a:srgbClr val="BFB31D"/>
                </a:solidFill>
                <a:latin typeface="Calibri"/>
                <a:cs typeface="Calibri"/>
              </a:rPr>
              <a:t>Generotive</a:t>
            </a:r>
            <a:r>
              <a:rPr dirty="0" sz="1750" spc="80">
                <a:solidFill>
                  <a:srgbClr val="BFB31D"/>
                </a:solidFill>
                <a:latin typeface="Calibri"/>
                <a:cs typeface="Calibri"/>
              </a:rPr>
              <a:t>  </a:t>
            </a:r>
            <a:r>
              <a:rPr dirty="0" sz="1750" spc="-25">
                <a:solidFill>
                  <a:srgbClr val="BFA81F"/>
                </a:solidFill>
                <a:latin typeface="Calibri"/>
                <a:cs typeface="Calibri"/>
              </a:rPr>
              <a:t>Al</a:t>
            </a:r>
            <a:endParaRPr sz="1750">
              <a:latin typeface="Calibri"/>
              <a:cs typeface="Calibri"/>
            </a:endParaRPr>
          </a:p>
          <a:p>
            <a:pPr algn="ctr" marL="163195">
              <a:lnSpc>
                <a:spcPct val="100000"/>
              </a:lnSpc>
              <a:spcBef>
                <a:spcPts val="1010"/>
              </a:spcBef>
            </a:pPr>
            <a:r>
              <a:rPr dirty="0" sz="2000">
                <a:solidFill>
                  <a:srgbClr val="93AC66"/>
                </a:solidFill>
                <a:latin typeface="Calibri"/>
                <a:cs typeface="Calibri"/>
              </a:rPr>
              <a:t>To</a:t>
            </a:r>
            <a:r>
              <a:rPr dirty="0" sz="2000" spc="190">
                <a:solidFill>
                  <a:srgbClr val="93AC66"/>
                </a:solidFill>
                <a:latin typeface="Calibri"/>
                <a:cs typeface="Calibri"/>
              </a:rPr>
              <a:t> </a:t>
            </a:r>
            <a:r>
              <a:rPr dirty="0" sz="2000" spc="160">
                <a:solidFill>
                  <a:srgbClr val="79AC34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50" spc="-10">
                <a:solidFill>
                  <a:srgbClr val="85A84F"/>
                </a:solidFill>
                <a:latin typeface="Arial MT"/>
                <a:cs typeface="Arial MT"/>
              </a:rPr>
              <a:t>This</a:t>
            </a:r>
            <a:r>
              <a:rPr dirty="0" sz="2450" spc="-80">
                <a:solidFill>
                  <a:srgbClr val="85A84F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87AA50"/>
                </a:solidFill>
                <a:latin typeface="Arial MT"/>
                <a:cs typeface="Arial MT"/>
              </a:rPr>
              <a:t>is</a:t>
            </a:r>
            <a:r>
              <a:rPr dirty="0" sz="2450" spc="-130">
                <a:solidFill>
                  <a:srgbClr val="87AA50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8CB359"/>
                </a:solidFill>
                <a:latin typeface="Arial MT"/>
                <a:cs typeface="Arial MT"/>
              </a:rPr>
              <a:t>an</a:t>
            </a:r>
            <a:r>
              <a:rPr dirty="0" sz="2450" spc="-100">
                <a:solidFill>
                  <a:srgbClr val="8CB359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87AC4B"/>
                </a:solidFill>
                <a:latin typeface="Arial MT"/>
                <a:cs typeface="Arial MT"/>
              </a:rPr>
              <a:t>integration</a:t>
            </a:r>
            <a:r>
              <a:rPr dirty="0" sz="2450" spc="60">
                <a:solidFill>
                  <a:srgbClr val="87AC4B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85AA4F"/>
                </a:solidFill>
                <a:latin typeface="Arial MT"/>
                <a:cs typeface="Arial MT"/>
              </a:rPr>
              <a:t>problem!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17163" y="5289588"/>
            <a:ext cx="1390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35">
                <a:solidFill>
                  <a:srgbClr val="626262"/>
                </a:solidFill>
                <a:latin typeface="Consolas"/>
                <a:cs typeface="Consolas"/>
              </a:rPr>
              <a:t>17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5658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3443" y="648371"/>
            <a:ext cx="8494395" cy="3651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647B9A"/>
                </a:solidFill>
                <a:latin typeface="Calibri"/>
                <a:cs typeface="Calibri"/>
              </a:rPr>
              <a:t>#</a:t>
            </a:r>
            <a:r>
              <a:rPr dirty="0" sz="1300">
                <a:solidFill>
                  <a:srgbClr val="626E80"/>
                </a:solidFill>
                <a:latin typeface="Calibri"/>
                <a:cs typeface="Calibri"/>
              </a:rPr>
              <a:t>!</a:t>
            </a:r>
            <a:r>
              <a:rPr dirty="0" sz="1300" spc="60">
                <a:solidFill>
                  <a:srgbClr val="626E80"/>
                </a:solidFill>
                <a:latin typeface="Calibri"/>
                <a:cs typeface="Calibri"/>
              </a:rPr>
              <a:t> </a:t>
            </a:r>
            <a:r>
              <a:rPr dirty="0" sz="1300" spc="-70">
                <a:solidFill>
                  <a:srgbClr val="626EAA"/>
                </a:solidFill>
                <a:latin typeface="Calibri"/>
                <a:cs typeface="Calibri"/>
              </a:rPr>
              <a:t>/us</a:t>
            </a:r>
            <a:r>
              <a:rPr dirty="0" sz="1300" spc="140">
                <a:solidFill>
                  <a:srgbClr val="626EAA"/>
                </a:solidFill>
                <a:latin typeface="Calibri"/>
                <a:cs typeface="Calibri"/>
              </a:rPr>
              <a:t>  </a:t>
            </a:r>
            <a:r>
              <a:rPr dirty="0" sz="1300" spc="114">
                <a:solidFill>
                  <a:srgbClr val="5E7CD3"/>
                </a:solidFill>
                <a:latin typeface="Calibri"/>
                <a:cs typeface="Calibri"/>
              </a:rPr>
              <a:t>r/b1n/env</a:t>
            </a:r>
            <a:r>
              <a:rPr dirty="0" sz="1300" spc="490">
                <a:solidFill>
                  <a:srgbClr val="5E7CD3"/>
                </a:solidFill>
                <a:latin typeface="Calibri"/>
                <a:cs typeface="Calibri"/>
              </a:rPr>
              <a:t> </a:t>
            </a:r>
            <a:r>
              <a:rPr dirty="0" sz="1300" spc="85">
                <a:solidFill>
                  <a:srgbClr val="6B7EB5"/>
                </a:solidFill>
                <a:latin typeface="Calibri"/>
                <a:cs typeface="Calibri"/>
              </a:rPr>
              <a:t>bash</a:t>
            </a:r>
            <a:endParaRPr sz="13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1220"/>
              </a:spcBef>
            </a:pPr>
            <a:r>
              <a:rPr dirty="0" sz="1350" spc="-70">
                <a:solidFill>
                  <a:srgbClr val="9E7E36"/>
                </a:solidFill>
                <a:latin typeface="Courier New"/>
                <a:cs typeface="Courier New"/>
              </a:rPr>
              <a:t>echo</a:t>
            </a:r>
            <a:r>
              <a:rPr dirty="0" sz="1350" spc="-135">
                <a:solidFill>
                  <a:srgbClr val="9E7E36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628964"/>
                </a:solidFill>
                <a:latin typeface="Courier New"/>
                <a:cs typeface="Courier New"/>
              </a:rPr>
              <a:t>"Calling</a:t>
            </a:r>
            <a:r>
              <a:rPr dirty="0" sz="1350" spc="-5">
                <a:solidFill>
                  <a:srgbClr val="628964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solidFill>
                  <a:srgbClr val="708A6B"/>
                </a:solidFill>
                <a:latin typeface="Courier New"/>
                <a:cs typeface="Courier New"/>
              </a:rPr>
              <a:t>OpenAI</a:t>
            </a:r>
            <a:r>
              <a:rPr dirty="0" sz="1350" spc="-120">
                <a:solidFill>
                  <a:srgbClr val="708A6B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678067"/>
                </a:solidFill>
                <a:latin typeface="Courier New"/>
                <a:cs typeface="Courier New"/>
              </a:rPr>
              <a:t>API</a:t>
            </a:r>
            <a:r>
              <a:rPr dirty="0" sz="1350" spc="-145">
                <a:solidFill>
                  <a:srgbClr val="678067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6E6E6E"/>
                </a:solidFill>
                <a:latin typeface="Courier New"/>
                <a:cs typeface="Courier New"/>
              </a:rPr>
              <a:t>..."</a:t>
            </a:r>
            <a:endParaRPr sz="1350">
              <a:latin typeface="Courier New"/>
              <a:cs typeface="Courier New"/>
            </a:endParaRPr>
          </a:p>
          <a:p>
            <a:pPr marL="20955">
              <a:lnSpc>
                <a:spcPct val="100000"/>
              </a:lnSpc>
              <a:spcBef>
                <a:spcPts val="1340"/>
              </a:spcBef>
              <a:tabLst>
                <a:tab pos="1241425" algn="l"/>
                <a:tab pos="2568575" algn="l"/>
              </a:tabLst>
            </a:pPr>
            <a:r>
              <a:rPr dirty="0" sz="1200" spc="110">
                <a:solidFill>
                  <a:srgbClr val="181818"/>
                </a:solidFill>
                <a:latin typeface="Calibri"/>
                <a:cs typeface="Calibri"/>
              </a:rPr>
              <a:t>PR0NPT="Te</a:t>
            </a:r>
            <a:r>
              <a:rPr dirty="0" sz="1200" spc="-10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200" spc="30">
                <a:solidFill>
                  <a:srgbClr val="678966"/>
                </a:solidFill>
                <a:latin typeface="Calibri"/>
                <a:cs typeface="Calibri"/>
              </a:rPr>
              <a:t>II</a:t>
            </a:r>
            <a:r>
              <a:rPr dirty="0" sz="1200">
                <a:solidFill>
                  <a:srgbClr val="678966"/>
                </a:solidFill>
                <a:latin typeface="Calibri"/>
                <a:cs typeface="Calibri"/>
              </a:rPr>
              <a:t>	</a:t>
            </a:r>
            <a:r>
              <a:rPr dirty="0" sz="1200">
                <a:solidFill>
                  <a:srgbClr val="678767"/>
                </a:solidFill>
                <a:latin typeface="Calibri"/>
                <a:cs typeface="Calibri"/>
              </a:rPr>
              <a:t>me</a:t>
            </a:r>
            <a:r>
              <a:rPr dirty="0" sz="1200" spc="470">
                <a:solidFill>
                  <a:srgbClr val="6787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97C56"/>
                </a:solidFill>
                <a:latin typeface="Calibri"/>
                <a:cs typeface="Calibri"/>
              </a:rPr>
              <a:t>a</a:t>
            </a:r>
            <a:r>
              <a:rPr dirty="0" sz="1200" spc="125">
                <a:solidFill>
                  <a:srgbClr val="597C56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728272"/>
                </a:solidFill>
                <a:latin typeface="Calibri"/>
                <a:cs typeface="Calibri"/>
              </a:rPr>
              <a:t>I</a:t>
            </a:r>
            <a:r>
              <a:rPr dirty="0" sz="1200" spc="250">
                <a:solidFill>
                  <a:srgbClr val="728272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678569"/>
                </a:solidFill>
                <a:latin typeface="Calibri"/>
                <a:cs typeface="Calibri"/>
              </a:rPr>
              <a:t>r1</a:t>
            </a:r>
            <a:r>
              <a:rPr dirty="0" sz="1200" spc="105" i="1">
                <a:solidFill>
                  <a:srgbClr val="678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E935D"/>
                </a:solidFill>
                <a:latin typeface="Calibri"/>
                <a:cs typeface="Calibri"/>
              </a:rPr>
              <a:t>end</a:t>
            </a:r>
            <a:r>
              <a:rPr dirty="0" sz="1200" spc="195">
                <a:solidFill>
                  <a:srgbClr val="5E935D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698264"/>
                </a:solidFill>
                <a:latin typeface="Calibri"/>
                <a:cs typeface="Calibri"/>
              </a:rPr>
              <a:t>Iy</a:t>
            </a:r>
            <a:r>
              <a:rPr dirty="0" sz="1200">
                <a:solidFill>
                  <a:srgbClr val="698264"/>
                </a:solidFill>
                <a:latin typeface="Calibri"/>
                <a:cs typeface="Calibri"/>
              </a:rPr>
              <a:t>	</a:t>
            </a:r>
            <a:r>
              <a:rPr dirty="0" sz="1200" spc="180">
                <a:solidFill>
                  <a:srgbClr val="54804D"/>
                </a:solidFill>
                <a:latin typeface="Calibri"/>
                <a:cs typeface="Calibri"/>
              </a:rPr>
              <a:t>deve</a:t>
            </a:r>
            <a:r>
              <a:rPr dirty="0" sz="1200" spc="180">
                <a:solidFill>
                  <a:srgbClr val="7C7C7C"/>
                </a:solidFill>
                <a:latin typeface="Calibri"/>
                <a:cs typeface="Calibri"/>
              </a:rPr>
              <a:t>loper</a:t>
            </a:r>
            <a:r>
              <a:rPr dirty="0" sz="1200" spc="180">
                <a:solidFill>
                  <a:srgbClr val="7C7C7C"/>
                </a:solidFill>
                <a:latin typeface="Calibri"/>
                <a:cs typeface="Calibri"/>
              </a:rPr>
              <a:t>  </a:t>
            </a:r>
            <a:r>
              <a:rPr dirty="0" sz="1200" spc="114">
                <a:solidFill>
                  <a:srgbClr val="698964"/>
                </a:solidFill>
                <a:latin typeface="Calibri"/>
                <a:cs typeface="Calibri"/>
              </a:rPr>
              <a:t>j</a:t>
            </a:r>
            <a:r>
              <a:rPr dirty="0" sz="1200" spc="15">
                <a:solidFill>
                  <a:srgbClr val="698964"/>
                </a:solidFill>
                <a:latin typeface="Calibri"/>
                <a:cs typeface="Calibri"/>
              </a:rPr>
              <a:t> </a:t>
            </a:r>
            <a:r>
              <a:rPr dirty="0" sz="1200" spc="235">
                <a:solidFill>
                  <a:srgbClr val="5D7E5D"/>
                </a:solidFill>
                <a:latin typeface="Calibri"/>
                <a:cs typeface="Calibri"/>
              </a:rPr>
              <a:t>oke</a:t>
            </a:r>
            <a:r>
              <a:rPr dirty="0" sz="1200" spc="160">
                <a:solidFill>
                  <a:srgbClr val="5D7E5D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5D8062"/>
                </a:solidFill>
                <a:latin typeface="Calibri"/>
                <a:cs typeface="Calibri"/>
              </a:rPr>
              <a:t>about</a:t>
            </a:r>
            <a:r>
              <a:rPr dirty="0" sz="1200" spc="215">
                <a:solidFill>
                  <a:srgbClr val="5D8062"/>
                </a:solidFill>
                <a:latin typeface="Calibri"/>
                <a:cs typeface="Calibri"/>
              </a:rPr>
              <a:t>  </a:t>
            </a:r>
            <a:r>
              <a:rPr dirty="0" sz="1200" spc="114">
                <a:solidFill>
                  <a:srgbClr val="79937E"/>
                </a:solidFill>
                <a:latin typeface="Calibri"/>
                <a:cs typeface="Calibri"/>
              </a:rPr>
              <a:t>JAVA.</a:t>
            </a:r>
            <a:r>
              <a:rPr dirty="0" sz="1200" spc="60">
                <a:solidFill>
                  <a:srgbClr val="79937E"/>
                </a:solidFill>
                <a:latin typeface="Calibri"/>
                <a:cs typeface="Calibri"/>
              </a:rPr>
              <a:t> </a:t>
            </a:r>
            <a:r>
              <a:rPr dirty="0" sz="1200" spc="60">
                <a:solidFill>
                  <a:srgbClr val="808080"/>
                </a:solidFill>
                <a:latin typeface="Calibri"/>
                <a:cs typeface="Calibri"/>
              </a:rPr>
              <a:t>"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614"/>
              </a:lnSpc>
              <a:spcBef>
                <a:spcPts val="1215"/>
              </a:spcBef>
            </a:pPr>
            <a:r>
              <a:rPr dirty="0" sz="1450" spc="-135">
                <a:solidFill>
                  <a:srgbClr val="151515"/>
                </a:solidFill>
                <a:latin typeface="Courier New"/>
                <a:cs typeface="Courier New"/>
              </a:rPr>
              <a:t>curl</a:t>
            </a:r>
            <a:r>
              <a:rPr dirty="0" sz="1450" spc="35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450" spc="-150">
                <a:latin typeface="Courier New"/>
                <a:cs typeface="Courier New"/>
              </a:rPr>
              <a:t>https://api.openai.com/v1/chat/completions</a:t>
            </a:r>
            <a:r>
              <a:rPr dirty="0" sz="1450" spc="-40">
                <a:latin typeface="Courier New"/>
                <a:cs typeface="Courier New"/>
              </a:rPr>
              <a:t> </a:t>
            </a:r>
            <a:r>
              <a:rPr dirty="0" sz="1450" spc="-50">
                <a:solidFill>
                  <a:srgbClr val="111111"/>
                </a:solidFill>
                <a:latin typeface="Courier New"/>
                <a:cs typeface="Courier New"/>
              </a:rPr>
              <a:t>\</a:t>
            </a:r>
            <a:endParaRPr sz="1450">
              <a:latin typeface="Courier New"/>
              <a:cs typeface="Courier New"/>
            </a:endParaRPr>
          </a:p>
          <a:p>
            <a:pPr marL="488950" indent="-76835">
              <a:lnSpc>
                <a:spcPts val="1375"/>
              </a:lnSpc>
              <a:buClr>
                <a:srgbClr val="0F0F0F"/>
              </a:buClr>
              <a:buChar char="-"/>
              <a:tabLst>
                <a:tab pos="488950" algn="l"/>
                <a:tab pos="2099310" algn="l"/>
              </a:tabLst>
            </a:pPr>
            <a:r>
              <a:rPr dirty="0" sz="1300">
                <a:solidFill>
                  <a:srgbClr val="1F1F1F"/>
                </a:solidFill>
                <a:latin typeface="Calibri"/>
                <a:cs typeface="Calibri"/>
              </a:rPr>
              <a:t>H</a:t>
            </a:r>
            <a:r>
              <a:rPr dirty="0" sz="1300" spc="4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00" spc="95">
                <a:solidFill>
                  <a:srgbClr val="60895E"/>
                </a:solidFill>
                <a:latin typeface="Calibri"/>
                <a:cs typeface="Calibri"/>
              </a:rPr>
              <a:t>"Conten</a:t>
            </a:r>
            <a:r>
              <a:rPr dirty="0" sz="1300" spc="-130">
                <a:solidFill>
                  <a:srgbClr val="60895E"/>
                </a:solidFill>
                <a:latin typeface="Calibri"/>
                <a:cs typeface="Calibri"/>
              </a:rPr>
              <a:t> </a:t>
            </a:r>
            <a:r>
              <a:rPr dirty="0" sz="1300" spc="70">
                <a:solidFill>
                  <a:srgbClr val="69856E"/>
                </a:solidFill>
                <a:latin typeface="Calibri"/>
                <a:cs typeface="Calibri"/>
              </a:rPr>
              <a:t>t</a:t>
            </a:r>
            <a:r>
              <a:rPr dirty="0" sz="1300" spc="-20">
                <a:solidFill>
                  <a:srgbClr val="69856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97B6E"/>
                </a:solidFill>
                <a:latin typeface="Calibri"/>
                <a:cs typeface="Calibri"/>
              </a:rPr>
              <a:t>-</a:t>
            </a:r>
            <a:r>
              <a:rPr dirty="0" sz="1300" spc="-110">
                <a:solidFill>
                  <a:srgbClr val="697B6E"/>
                </a:solidFill>
                <a:latin typeface="Calibri"/>
                <a:cs typeface="Calibri"/>
              </a:rPr>
              <a:t> </a:t>
            </a:r>
            <a:r>
              <a:rPr dirty="0" sz="1300" spc="85">
                <a:solidFill>
                  <a:srgbClr val="878787"/>
                </a:solidFill>
                <a:latin typeface="Calibri"/>
                <a:cs typeface="Calibri"/>
              </a:rPr>
              <a:t>Type:</a:t>
            </a:r>
            <a:r>
              <a:rPr dirty="0" sz="13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300" spc="105">
                <a:solidFill>
                  <a:srgbClr val="808080"/>
                </a:solidFill>
                <a:latin typeface="Calibri"/>
                <a:cs typeface="Calibri"/>
              </a:rPr>
              <a:t>app11cat1on/j</a:t>
            </a:r>
            <a:r>
              <a:rPr dirty="0" sz="1300" spc="8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300" spc="105">
                <a:solidFill>
                  <a:srgbClr val="54774F"/>
                </a:solidFill>
                <a:latin typeface="Calibri"/>
                <a:cs typeface="Calibri"/>
              </a:rPr>
              <a:t>son</a:t>
            </a:r>
            <a:r>
              <a:rPr dirty="0" sz="1300" spc="105">
                <a:solidFill>
                  <a:srgbClr val="9E9E9E"/>
                </a:solidFill>
                <a:latin typeface="Calibri"/>
                <a:cs typeface="Calibri"/>
              </a:rPr>
              <a:t>"</a:t>
            </a:r>
            <a:r>
              <a:rPr dirty="0" sz="1300" spc="130">
                <a:solidFill>
                  <a:srgbClr val="9E9E9E"/>
                </a:solidFill>
                <a:latin typeface="Calibri"/>
                <a:cs typeface="Calibri"/>
              </a:rPr>
              <a:t>  </a:t>
            </a:r>
            <a:r>
              <a:rPr dirty="0" sz="1300" spc="-50">
                <a:solidFill>
                  <a:srgbClr val="0F0F0F"/>
                </a:solidFill>
                <a:latin typeface="Calibri"/>
                <a:cs typeface="Calibri"/>
              </a:rPr>
              <a:t>X</a:t>
            </a:r>
            <a:endParaRPr sz="1300">
              <a:latin typeface="Calibri"/>
              <a:cs typeface="Calibri"/>
            </a:endParaRPr>
          </a:p>
          <a:p>
            <a:pPr marL="402590">
              <a:lnSpc>
                <a:spcPts val="1480"/>
              </a:lnSpc>
            </a:pPr>
            <a:r>
              <a:rPr dirty="0" sz="1350" spc="-135">
                <a:solidFill>
                  <a:srgbClr val="1C1C1C"/>
                </a:solidFill>
                <a:latin typeface="Courier New"/>
                <a:cs typeface="Courier New"/>
              </a:rPr>
              <a:t>-</a:t>
            </a:r>
            <a:r>
              <a:rPr dirty="0" sz="1350">
                <a:solidFill>
                  <a:srgbClr val="1C1C1C"/>
                </a:solidFill>
                <a:latin typeface="Courier New"/>
                <a:cs typeface="Courier New"/>
              </a:rPr>
              <a:t>H</a:t>
            </a:r>
            <a:r>
              <a:rPr dirty="0" sz="1350" spc="-110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6B976B"/>
                </a:solidFill>
                <a:latin typeface="Courier New"/>
                <a:cs typeface="Courier New"/>
              </a:rPr>
              <a:t>"Authorization:</a:t>
            </a:r>
            <a:r>
              <a:rPr dirty="0" sz="1350" spc="-100">
                <a:solidFill>
                  <a:srgbClr val="6B976B"/>
                </a:solidFill>
                <a:latin typeface="Courier New"/>
                <a:cs typeface="Courier New"/>
              </a:rPr>
              <a:t> </a:t>
            </a:r>
            <a:r>
              <a:rPr dirty="0" sz="1350" spc="-105">
                <a:solidFill>
                  <a:srgbClr val="6E8E70"/>
                </a:solidFill>
                <a:latin typeface="Courier New"/>
                <a:cs typeface="Courier New"/>
              </a:rPr>
              <a:t>Bearer</a:t>
            </a:r>
            <a:r>
              <a:rPr dirty="0" sz="1350" spc="-85">
                <a:solidFill>
                  <a:srgbClr val="6E8E70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707070"/>
                </a:solidFill>
                <a:latin typeface="Courier New"/>
                <a:cs typeface="Courier New"/>
              </a:rPr>
              <a:t>$SPRING_AI_OPENAI_API_KEY"</a:t>
            </a:r>
            <a:r>
              <a:rPr dirty="0" sz="1350" spc="-125">
                <a:solidFill>
                  <a:srgbClr val="707070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131313"/>
                </a:solidFill>
                <a:latin typeface="Courier New"/>
                <a:cs typeface="Courier New"/>
              </a:rPr>
              <a:t>\</a:t>
            </a:r>
            <a:endParaRPr sz="1350">
              <a:latin typeface="Courier New"/>
              <a:cs typeface="Courier New"/>
            </a:endParaRPr>
          </a:p>
          <a:p>
            <a:pPr marL="509905" indent="-97790">
              <a:lnSpc>
                <a:spcPts val="1485"/>
              </a:lnSpc>
              <a:buChar char="-"/>
              <a:tabLst>
                <a:tab pos="509905" algn="l"/>
              </a:tabLst>
            </a:pPr>
            <a:r>
              <a:rPr dirty="0" sz="1300" spc="-40">
                <a:solidFill>
                  <a:srgbClr val="181818"/>
                </a:solidFill>
                <a:latin typeface="Calibri"/>
                <a:cs typeface="Calibri"/>
              </a:rPr>
              <a:t>-</a:t>
            </a:r>
            <a:r>
              <a:rPr dirty="0" sz="1300" spc="-5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300" spc="145">
                <a:solidFill>
                  <a:srgbClr val="0E0E0E"/>
                </a:solidFill>
                <a:latin typeface="Calibri"/>
                <a:cs typeface="Calibri"/>
              </a:rPr>
              <a:t>data</a:t>
            </a:r>
            <a:endParaRPr sz="1300">
              <a:latin typeface="Calibri"/>
              <a:cs typeface="Calibri"/>
            </a:endParaRPr>
          </a:p>
          <a:p>
            <a:pPr marL="209550">
              <a:lnSpc>
                <a:spcPts val="1505"/>
              </a:lnSpc>
              <a:spcBef>
                <a:spcPts val="1245"/>
              </a:spcBef>
            </a:pPr>
            <a:r>
              <a:rPr dirty="0" sz="1350">
                <a:solidFill>
                  <a:srgbClr val="707070"/>
                </a:solidFill>
                <a:latin typeface="Consolas"/>
                <a:cs typeface="Consolas"/>
              </a:rPr>
              <a:t>\“model\”:</a:t>
            </a:r>
            <a:r>
              <a:rPr dirty="0" sz="1350" spc="5">
                <a:solidFill>
                  <a:srgbClr val="707070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757575"/>
                </a:solidFill>
                <a:latin typeface="Consolas"/>
                <a:cs typeface="Consolas"/>
              </a:rPr>
              <a:t>\"gpt-3.5-turbo\",</a:t>
            </a:r>
            <a:endParaRPr sz="1350">
              <a:latin typeface="Consolas"/>
              <a:cs typeface="Consolas"/>
            </a:endParaRPr>
          </a:p>
          <a:p>
            <a:pPr marL="209550">
              <a:lnSpc>
                <a:spcPts val="1505"/>
              </a:lnSpc>
            </a:pPr>
            <a:r>
              <a:rPr dirty="0" sz="1350">
                <a:solidFill>
                  <a:srgbClr val="797979"/>
                </a:solidFill>
                <a:latin typeface="Consolas"/>
                <a:cs typeface="Consolas"/>
              </a:rPr>
              <a:t>\“messages\“:</a:t>
            </a:r>
            <a:r>
              <a:rPr dirty="0" sz="1350" spc="-55">
                <a:solidFill>
                  <a:srgbClr val="797979"/>
                </a:solidFill>
                <a:latin typeface="Consolas"/>
                <a:cs typeface="Consolas"/>
              </a:rPr>
              <a:t> </a:t>
            </a:r>
            <a:r>
              <a:rPr dirty="0" sz="1350" spc="-50">
                <a:solidFill>
                  <a:srgbClr val="5D905E"/>
                </a:solidFill>
                <a:latin typeface="Consolas"/>
                <a:cs typeface="Consolas"/>
              </a:rPr>
              <a:t>[</a:t>
            </a:r>
            <a:endParaRPr sz="1350">
              <a:latin typeface="Consolas"/>
              <a:cs typeface="Consolas"/>
            </a:endParaRPr>
          </a:p>
          <a:p>
            <a:pPr marL="575945">
              <a:lnSpc>
                <a:spcPts val="1505"/>
              </a:lnSpc>
              <a:spcBef>
                <a:spcPts val="1260"/>
              </a:spcBef>
            </a:pPr>
            <a:r>
              <a:rPr dirty="0" sz="1350" spc="-80">
                <a:solidFill>
                  <a:srgbClr val="828282"/>
                </a:solidFill>
                <a:latin typeface="Courier New"/>
                <a:cs typeface="Courier New"/>
              </a:rPr>
              <a:t>\”role\":</a:t>
            </a:r>
            <a:r>
              <a:rPr dirty="0" sz="1350" spc="-60">
                <a:solidFill>
                  <a:srgbClr val="828282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6E6E6E"/>
                </a:solidFill>
                <a:latin typeface="Courier New"/>
                <a:cs typeface="Courier New"/>
              </a:rPr>
              <a:t>\"system\",</a:t>
            </a:r>
            <a:endParaRPr sz="1350">
              <a:latin typeface="Courier New"/>
              <a:cs typeface="Courier New"/>
            </a:endParaRPr>
          </a:p>
          <a:p>
            <a:pPr marL="575945">
              <a:lnSpc>
                <a:spcPts val="1505"/>
              </a:lnSpc>
            </a:pPr>
            <a:r>
              <a:rPr dirty="0" sz="1350" spc="-75">
                <a:solidFill>
                  <a:srgbClr val="6E6E6E"/>
                </a:solidFill>
                <a:latin typeface="Courier New"/>
                <a:cs typeface="Courier New"/>
              </a:rPr>
              <a:t>\"content\":</a:t>
            </a:r>
            <a:r>
              <a:rPr dirty="0" sz="1350" spc="-130">
                <a:solidFill>
                  <a:srgbClr val="6E6E6E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91AA91"/>
                </a:solidFill>
                <a:latin typeface="Courier New"/>
                <a:cs typeface="Courier New"/>
              </a:rPr>
              <a:t>\"You</a:t>
            </a:r>
            <a:r>
              <a:rPr dirty="0" sz="1350" spc="-140">
                <a:solidFill>
                  <a:srgbClr val="91AA91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6D856D"/>
                </a:solidFill>
                <a:latin typeface="Courier New"/>
                <a:cs typeface="Courier New"/>
              </a:rPr>
              <a:t>are</a:t>
            </a:r>
            <a:r>
              <a:rPr dirty="0" sz="1350" spc="-150">
                <a:solidFill>
                  <a:srgbClr val="6D856D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709A6B"/>
                </a:solidFill>
                <a:latin typeface="Courier New"/>
                <a:cs typeface="Courier New"/>
              </a:rPr>
              <a:t>a</a:t>
            </a:r>
            <a:r>
              <a:rPr dirty="0" sz="1350" spc="-195">
                <a:solidFill>
                  <a:srgbClr val="709A6B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797979"/>
                </a:solidFill>
                <a:latin typeface="Courier New"/>
                <a:cs typeface="Courier New"/>
              </a:rPr>
              <a:t>friendly</a:t>
            </a:r>
            <a:r>
              <a:rPr dirty="0" sz="1350" spc="-125">
                <a:solidFill>
                  <a:srgbClr val="797979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6B836E"/>
                </a:solidFill>
                <a:latin typeface="Courier New"/>
                <a:cs typeface="Courier New"/>
              </a:rPr>
              <a:t>chatbot</a:t>
            </a:r>
            <a:r>
              <a:rPr dirty="0" sz="1350" spc="-114">
                <a:solidFill>
                  <a:srgbClr val="6B836E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696969"/>
                </a:solidFill>
                <a:latin typeface="Courier New"/>
                <a:cs typeface="Courier New"/>
              </a:rPr>
              <a:t>and</a:t>
            </a:r>
            <a:r>
              <a:rPr dirty="0" sz="1350" spc="-85">
                <a:solidFill>
                  <a:srgbClr val="696969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598752"/>
                </a:solidFill>
                <a:latin typeface="Courier New"/>
                <a:cs typeface="Courier New"/>
              </a:rPr>
              <a:t>you</a:t>
            </a:r>
            <a:r>
              <a:rPr dirty="0" sz="1350" spc="-65">
                <a:solidFill>
                  <a:srgbClr val="598752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648760"/>
                </a:solidFill>
                <a:latin typeface="Courier New"/>
                <a:cs typeface="Courier New"/>
              </a:rPr>
              <a:t>like</a:t>
            </a:r>
            <a:r>
              <a:rPr dirty="0" sz="1350" spc="-130">
                <a:solidFill>
                  <a:srgbClr val="64876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7B997E"/>
                </a:solidFill>
                <a:latin typeface="Courier New"/>
                <a:cs typeface="Courier New"/>
              </a:rPr>
              <a:t>to</a:t>
            </a:r>
            <a:r>
              <a:rPr dirty="0" sz="1350" spc="-105">
                <a:solidFill>
                  <a:srgbClr val="7B997E"/>
                </a:solidFill>
                <a:latin typeface="Courier New"/>
                <a:cs typeface="Courier New"/>
              </a:rPr>
              <a:t> </a:t>
            </a:r>
            <a:r>
              <a:rPr dirty="0" sz="1350" spc="-95">
                <a:solidFill>
                  <a:srgbClr val="6E8770"/>
                </a:solidFill>
                <a:latin typeface="Courier New"/>
                <a:cs typeface="Courier New"/>
              </a:rPr>
              <a:t>place</a:t>
            </a:r>
            <a:r>
              <a:rPr dirty="0" sz="1350" spc="-110">
                <a:solidFill>
                  <a:srgbClr val="6E8770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82A389"/>
                </a:solidFill>
                <a:latin typeface="Courier New"/>
                <a:cs typeface="Courier New"/>
              </a:rPr>
              <a:t>emojis</a:t>
            </a:r>
            <a:r>
              <a:rPr dirty="0" sz="1350" spc="-130">
                <a:solidFill>
                  <a:srgbClr val="82A389"/>
                </a:solidFill>
                <a:latin typeface="Courier New"/>
                <a:cs typeface="Courier New"/>
              </a:rPr>
              <a:t> </a:t>
            </a:r>
            <a:r>
              <a:rPr dirty="0" sz="1350" spc="-40">
                <a:solidFill>
                  <a:srgbClr val="628564"/>
                </a:solidFill>
                <a:latin typeface="Courier New"/>
                <a:cs typeface="Courier New"/>
              </a:rPr>
              <a:t>everywhere.\"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350">
              <a:latin typeface="Courier New"/>
              <a:cs typeface="Courier New"/>
            </a:endParaRPr>
          </a:p>
          <a:p>
            <a:pPr marL="581025">
              <a:lnSpc>
                <a:spcPts val="1505"/>
              </a:lnSpc>
            </a:pPr>
            <a:r>
              <a:rPr dirty="0" sz="1350">
                <a:solidFill>
                  <a:srgbClr val="797979"/>
                </a:solidFill>
                <a:latin typeface="Consolas"/>
                <a:cs typeface="Consolas"/>
              </a:rPr>
              <a:t>\”role\":</a:t>
            </a:r>
            <a:r>
              <a:rPr dirty="0" sz="1350" spc="-20">
                <a:solidFill>
                  <a:srgbClr val="797979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696969"/>
                </a:solidFill>
                <a:latin typeface="Consolas"/>
                <a:cs typeface="Consolas"/>
              </a:rPr>
              <a:t>\"user\",</a:t>
            </a:r>
            <a:endParaRPr sz="1350">
              <a:latin typeface="Consolas"/>
              <a:cs typeface="Consolas"/>
            </a:endParaRPr>
          </a:p>
          <a:p>
            <a:pPr marL="581025">
              <a:lnSpc>
                <a:spcPts val="1505"/>
              </a:lnSpc>
            </a:pPr>
            <a:r>
              <a:rPr dirty="0" sz="1350">
                <a:solidFill>
                  <a:srgbClr val="696969"/>
                </a:solidFill>
                <a:latin typeface="Consolas"/>
                <a:cs typeface="Consolas"/>
              </a:rPr>
              <a:t>\”content\“:</a:t>
            </a:r>
            <a:r>
              <a:rPr dirty="0" sz="1350" spc="-50">
                <a:solidFill>
                  <a:srgbClr val="696969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727272"/>
                </a:solidFill>
                <a:latin typeface="Consolas"/>
                <a:cs typeface="Consolas"/>
              </a:rPr>
              <a:t>\”$PR0MPT\"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9551" y="5289588"/>
            <a:ext cx="2179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45454"/>
                </a:solidFill>
                <a:latin typeface="Calibri"/>
                <a:cs typeface="Calibri"/>
              </a:rPr>
              <a:t>Intelligent</a:t>
            </a:r>
            <a:r>
              <a:rPr dirty="0" sz="1100" spc="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25252"/>
                </a:solidFill>
                <a:latin typeface="Calibri"/>
                <a:cs typeface="Calibri"/>
              </a:rPr>
              <a:t>Applications</a:t>
            </a:r>
            <a:r>
              <a:rPr dirty="0" sz="1100" spc="-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100" spc="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100" spc="8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Calibri"/>
                <a:cs typeface="Calibri"/>
              </a:rPr>
              <a:t>AI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11485" y="5295940"/>
            <a:ext cx="14732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70">
                <a:solidFill>
                  <a:srgbClr val="626262"/>
                </a:solidFill>
                <a:latin typeface="Consolas"/>
                <a:cs typeface="Consolas"/>
              </a:rPr>
              <a:t>19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5658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447" y="4542641"/>
            <a:ext cx="530351" cy="9146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1888" y="4542641"/>
            <a:ext cx="451103" cy="9146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4447" y="3554845"/>
            <a:ext cx="487679" cy="31707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9215" y="3579235"/>
            <a:ext cx="499872" cy="329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84447" y="2390222"/>
            <a:ext cx="530351" cy="9146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1888" y="2390222"/>
            <a:ext cx="451103" cy="853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84447" y="1432914"/>
            <a:ext cx="530351" cy="853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61888" y="1432914"/>
            <a:ext cx="451103" cy="853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78352" y="3109728"/>
            <a:ext cx="2840736" cy="42072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90288" y="1292670"/>
            <a:ext cx="890015" cy="39024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3983" y="5350560"/>
            <a:ext cx="2133600" cy="11280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90288" y="2225589"/>
            <a:ext cx="890015" cy="2457293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04863" y="5016217"/>
            <a:ext cx="12846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70">
                <a:solidFill>
                  <a:srgbClr val="3F3F3F"/>
                </a:solidFill>
                <a:latin typeface="Courier New"/>
                <a:cs typeface="Courier New"/>
              </a:rPr>
              <a:t>See.</a:t>
            </a:r>
            <a:r>
              <a:rPr dirty="0" sz="900" spc="-70">
                <a:solidFill>
                  <a:srgbClr val="62ACA5"/>
                </a:solidFill>
                <a:latin typeface="Courier New"/>
                <a:cs typeface="Courier New"/>
              </a:rPr>
              <a:t>'</a:t>
            </a:r>
            <a:r>
              <a:rPr dirty="0" sz="900" spc="-210">
                <a:solidFill>
                  <a:srgbClr val="62ACA5"/>
                </a:solidFill>
                <a:latin typeface="Courier New"/>
                <a:cs typeface="Courier New"/>
              </a:rPr>
              <a:t> </a:t>
            </a:r>
            <a:r>
              <a:rPr dirty="0" sz="900" spc="-110">
                <a:solidFill>
                  <a:srgbClr val="62ACA5"/>
                </a:solidFill>
                <a:latin typeface="Courier New"/>
                <a:cs typeface="Courier New"/>
              </a:rPr>
              <a:t>zhnci</a:t>
            </a:r>
            <a:r>
              <a:rPr dirty="0" sz="900" spc="-235">
                <a:solidFill>
                  <a:srgbClr val="62ACA5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BCBCBC"/>
                </a:solidFill>
                <a:latin typeface="Courier New"/>
                <a:cs typeface="Courier New"/>
              </a:rPr>
              <a:t>/:</a:t>
            </a:r>
            <a:r>
              <a:rPr dirty="0" sz="900" spc="-100">
                <a:solidFill>
                  <a:srgbClr val="BCBCBC"/>
                </a:solidFill>
                <a:latin typeface="Courier New"/>
                <a:cs typeface="Courier New"/>
              </a:rPr>
              <a:t> </a:t>
            </a:r>
            <a:r>
              <a:rPr dirty="0" sz="900" spc="-160">
                <a:solidFill>
                  <a:srgbClr val="60AAAA"/>
                </a:solidFill>
                <a:latin typeface="Courier New"/>
                <a:cs typeface="Courier New"/>
              </a:rPr>
              <a:t>Hi-</a:t>
            </a:r>
            <a:r>
              <a:rPr dirty="0" sz="900" spc="-325">
                <a:solidFill>
                  <a:srgbClr val="60AAAA"/>
                </a:solidFill>
                <a:latin typeface="Courier New"/>
                <a:cs typeface="Courier New"/>
              </a:rPr>
              <a:t> </a:t>
            </a:r>
            <a:r>
              <a:rPr dirty="0" sz="900" spc="-135">
                <a:solidFill>
                  <a:srgbClr val="60AAAA"/>
                </a:solidFill>
                <a:latin typeface="Courier New"/>
                <a:cs typeface="Courier New"/>
              </a:rPr>
              <a:t>reel,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59434" y="654468"/>
            <a:ext cx="7931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Calibri"/>
                <a:cs typeface="Calibri"/>
              </a:rPr>
              <a:t>Input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Types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88746" y="1227633"/>
            <a:ext cx="11303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alibri"/>
                <a:cs typeface="Calibri"/>
              </a:rPr>
              <a:t>Language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 spc="-170">
                <a:solidFill>
                  <a:srgbClr val="1D1D1D"/>
                </a:solidFill>
                <a:latin typeface="Calibri"/>
                <a:cs typeface="Calibri"/>
              </a:rPr>
              <a:t>/</a:t>
            </a:r>
            <a:r>
              <a:rPr dirty="0" sz="1300" spc="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Code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42975" y="1666909"/>
            <a:ext cx="141795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latin typeface="Calibri"/>
                <a:cs typeface="Calibri"/>
              </a:rPr>
              <a:t>Images</a:t>
            </a:r>
            <a:r>
              <a:rPr dirty="0" sz="1250" spc="140">
                <a:latin typeface="Calibri"/>
                <a:cs typeface="Calibri"/>
              </a:rPr>
              <a:t> </a:t>
            </a:r>
            <a:r>
              <a:rPr dirty="0" sz="1250" spc="-30">
                <a:latin typeface="Calibri"/>
                <a:cs typeface="Calibri"/>
              </a:rPr>
              <a:t>(Multi-</a:t>
            </a:r>
            <a:r>
              <a:rPr dirty="0" sz="1250" spc="-10">
                <a:latin typeface="Calibri"/>
                <a:cs typeface="Calibri"/>
              </a:rPr>
              <a:t>Modal)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57732" y="2300540"/>
            <a:ext cx="11957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5">
                <a:latin typeface="Calibri"/>
                <a:cs typeface="Calibri"/>
              </a:rPr>
              <a:t>Language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55">
                <a:latin typeface="Calibri"/>
                <a:cs typeface="Calibri"/>
              </a:rPr>
              <a:t>/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Image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53236" y="3020046"/>
            <a:ext cx="4057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5">
                <a:latin typeface="Calibri"/>
                <a:cs typeface="Calibri"/>
              </a:rPr>
              <a:t>Audio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319860" y="3739552"/>
            <a:ext cx="6616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0">
                <a:solidFill>
                  <a:srgbClr val="0F0F0F"/>
                </a:solidFill>
                <a:latin typeface="Calibri"/>
                <a:cs typeface="Calibri"/>
              </a:rPr>
              <a:t>Language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235513" y="4465409"/>
            <a:ext cx="84581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alibri"/>
                <a:cs typeface="Calibri"/>
              </a:rPr>
              <a:t>Text</a:t>
            </a:r>
            <a:r>
              <a:rPr dirty="0" sz="1300" spc="-60">
                <a:latin typeface="Calibri"/>
                <a:cs typeface="Calibri"/>
              </a:rPr>
              <a:t> </a:t>
            </a:r>
            <a:r>
              <a:rPr dirty="0" sz="1300" spc="-12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1300" spc="-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Image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873894" y="752028"/>
            <a:ext cx="91694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latin typeface="Calibri"/>
                <a:cs typeface="Calibri"/>
              </a:rPr>
              <a:t>Output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Types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69941" y="1343232"/>
            <a:ext cx="11328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5">
                <a:latin typeface="Calibri"/>
                <a:cs typeface="Calibri"/>
              </a:rPr>
              <a:t>Language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05">
                <a:solidFill>
                  <a:srgbClr val="161616"/>
                </a:solidFill>
                <a:latin typeface="Calibri"/>
                <a:cs typeface="Calibri"/>
              </a:rPr>
              <a:t>/</a:t>
            </a:r>
            <a:r>
              <a:rPr dirty="0" sz="1350" spc="-3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Code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117412" y="2300540"/>
            <a:ext cx="42799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>
                <a:latin typeface="Calibri"/>
                <a:cs typeface="Calibri"/>
              </a:rPr>
              <a:t>Image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001588" y="3020046"/>
            <a:ext cx="6616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0">
                <a:latin typeface="Calibri"/>
                <a:cs typeface="Calibri"/>
              </a:rPr>
              <a:t>Language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128867" y="3739552"/>
            <a:ext cx="410209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5">
                <a:latin typeface="Calibri"/>
                <a:cs typeface="Calibri"/>
              </a:rPr>
              <a:t>Audio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708433" y="4465409"/>
            <a:ext cx="12649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latin typeface="Calibri"/>
                <a:cs typeface="Calibri"/>
              </a:rPr>
              <a:t>Vector/Embedding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331877" y="5302546"/>
            <a:ext cx="11430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50">
                <a:solidFill>
                  <a:srgbClr val="4B4B4B"/>
                </a:solidFill>
                <a:latin typeface="Consolas"/>
                <a:cs typeface="Consolas"/>
              </a:rPr>
              <a:t>Al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60" y="3030459"/>
            <a:ext cx="42671" cy="26280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9" y="5506047"/>
            <a:ext cx="725424" cy="1219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0959" y="5067026"/>
            <a:ext cx="725424" cy="1219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80959" y="4182888"/>
            <a:ext cx="725424" cy="12804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80959" y="3963379"/>
            <a:ext cx="725424" cy="1219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80959" y="3743868"/>
            <a:ext cx="725424" cy="1219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68768" y="3512163"/>
            <a:ext cx="743712" cy="14024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68768" y="3292652"/>
            <a:ext cx="743712" cy="14024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8768" y="3073142"/>
            <a:ext cx="743712" cy="140242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8010143" y="5382572"/>
            <a:ext cx="405765" cy="0"/>
          </a:xfrm>
          <a:custGeom>
            <a:avLst/>
            <a:gdLst/>
            <a:ahLst/>
            <a:cxnLst/>
            <a:rect l="l" t="t" r="r" b="b"/>
            <a:pathLst>
              <a:path w="405765" h="0">
                <a:moveTo>
                  <a:pt x="0" y="0"/>
                </a:moveTo>
                <a:lnTo>
                  <a:pt x="405384" y="0"/>
                </a:lnTo>
              </a:path>
            </a:pathLst>
          </a:custGeom>
          <a:ln w="27438">
            <a:solidFill>
              <a:srgbClr val="AF6B5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84960" y="615848"/>
            <a:ext cx="6669024" cy="6707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0304" y="85365"/>
            <a:ext cx="3822192" cy="12195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59040" y="91462"/>
            <a:ext cx="877824" cy="10975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91055" y="896332"/>
            <a:ext cx="3218688" cy="7926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91055" y="1408523"/>
            <a:ext cx="5650992" cy="7317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0" y="0"/>
            <a:ext cx="10052685" cy="2738120"/>
            <a:chOff x="0" y="0"/>
            <a:chExt cx="10052685" cy="2738120"/>
          </a:xfrm>
        </p:grpSpPr>
        <p:pic>
          <p:nvPicPr>
            <p:cNvPr id="18" name="object 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91055" y="1567059"/>
              <a:ext cx="6260592" cy="38414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0" y="0"/>
              <a:ext cx="10052685" cy="2738120"/>
            </a:xfrm>
            <a:custGeom>
              <a:avLst/>
              <a:gdLst/>
              <a:ahLst/>
              <a:cxnLst/>
              <a:rect l="l" t="t" r="r" b="b"/>
              <a:pathLst>
                <a:path w="10052685" h="2738120">
                  <a:moveTo>
                    <a:pt x="10052304" y="2737104"/>
                  </a:moveTo>
                  <a:lnTo>
                    <a:pt x="0" y="2737104"/>
                  </a:lnTo>
                  <a:lnTo>
                    <a:pt x="0" y="0"/>
                  </a:lnTo>
                  <a:lnTo>
                    <a:pt x="10052304" y="0"/>
                  </a:lnTo>
                  <a:lnTo>
                    <a:pt x="10052304" y="2737104"/>
                  </a:lnTo>
                  <a:close/>
                </a:path>
              </a:pathLst>
            </a:custGeom>
            <a:solidFill>
              <a:srgbClr val="7479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570449" y="397611"/>
            <a:ext cx="47085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670" algn="l"/>
              </a:tabLst>
            </a:pP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LLM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	Leaderboard</a:t>
            </a:r>
            <a:r>
              <a:rPr dirty="0" sz="8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8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Comparison</a:t>
            </a:r>
            <a:r>
              <a:rPr dirty="0" sz="8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85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GPT-4o,</a:t>
            </a:r>
            <a:r>
              <a:rPr dirty="0" sz="8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Llama</a:t>
            </a:r>
            <a:r>
              <a:rPr dirty="0" sz="8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3,</a:t>
            </a:r>
            <a:r>
              <a:rPr dirty="0" sz="850" spc="2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50">
                <a:solidFill>
                  <a:srgbClr val="FFFFFF"/>
                </a:solidFill>
                <a:latin typeface="Arial MT"/>
                <a:cs typeface="Arial MT"/>
              </a:rPr>
              <a:t>Mistral,</a:t>
            </a:r>
            <a:r>
              <a:rPr dirty="0" sz="8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Gemin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8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dirty="0" sz="8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30</a:t>
            </a:r>
            <a:r>
              <a:rPr dirty="0" sz="850" spc="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83791" y="4567031"/>
            <a:ext cx="60959" cy="19512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83791" y="5109709"/>
            <a:ext cx="60959" cy="54877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77567" y="3121922"/>
            <a:ext cx="475488" cy="60975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926335" y="3560942"/>
            <a:ext cx="377951" cy="4878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14144" y="4225570"/>
            <a:ext cx="402336" cy="4878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83664" y="4445081"/>
            <a:ext cx="463295" cy="48780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853183" y="4664591"/>
            <a:ext cx="524256" cy="4878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901951" y="4884101"/>
            <a:ext cx="426719" cy="54877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926335" y="5103611"/>
            <a:ext cx="384048" cy="4878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89760" y="5548729"/>
            <a:ext cx="451104" cy="6097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901695" y="2902412"/>
            <a:ext cx="298704" cy="4878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38272" y="3317042"/>
            <a:ext cx="329184" cy="91462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365503" y="5280439"/>
            <a:ext cx="1938527" cy="91462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907792" y="5548729"/>
            <a:ext cx="396240" cy="42682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736847" y="2859729"/>
            <a:ext cx="408431" cy="91462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309615" y="2859729"/>
            <a:ext cx="298703" cy="60975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680959" y="4621908"/>
            <a:ext cx="734568" cy="115852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383791" y="4896296"/>
            <a:ext cx="60959" cy="54877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932432" y="2902412"/>
            <a:ext cx="316992" cy="54877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95855" y="3999963"/>
            <a:ext cx="445007" cy="67072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938272" y="3536552"/>
            <a:ext cx="329184" cy="91462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968751" y="5079221"/>
            <a:ext cx="268224" cy="85365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870959" y="3341433"/>
            <a:ext cx="152400" cy="48780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870959" y="3777403"/>
            <a:ext cx="152400" cy="67072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870959" y="4006061"/>
            <a:ext cx="152400" cy="48780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877055" y="4225570"/>
            <a:ext cx="146303" cy="48780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901440" y="4445081"/>
            <a:ext cx="91439" cy="48780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907535" y="4664591"/>
            <a:ext cx="85344" cy="48780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3913632" y="4884101"/>
            <a:ext cx="67055" cy="48780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3870959" y="5548729"/>
            <a:ext cx="152400" cy="48780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663440" y="3341433"/>
            <a:ext cx="73151" cy="48780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669535" y="3780453"/>
            <a:ext cx="67055" cy="54877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663440" y="4006061"/>
            <a:ext cx="73151" cy="48780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663440" y="4884101"/>
            <a:ext cx="73151" cy="48780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5425440" y="3780453"/>
            <a:ext cx="176784" cy="54877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425440" y="4219473"/>
            <a:ext cx="176784" cy="54877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413247" y="4438983"/>
            <a:ext cx="188975" cy="54877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425440" y="4664591"/>
            <a:ext cx="170687" cy="54877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254496" y="3560942"/>
            <a:ext cx="170687" cy="48780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272784" y="3777403"/>
            <a:ext cx="134112" cy="67072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254496" y="4225570"/>
            <a:ext cx="170687" cy="48780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254496" y="5103611"/>
            <a:ext cx="164591" cy="48780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083552" y="3780453"/>
            <a:ext cx="134111" cy="54877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7083552" y="5548729"/>
            <a:ext cx="140207" cy="48780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7680959" y="4402398"/>
            <a:ext cx="734568" cy="109755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674864" y="4841419"/>
            <a:ext cx="740663" cy="121950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7680959" y="5286537"/>
            <a:ext cx="725424" cy="128047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956560" y="3768258"/>
            <a:ext cx="298703" cy="76218"/>
          </a:xfrm>
          <a:prstGeom prst="rect">
            <a:avLst/>
          </a:prstGeom>
        </p:spPr>
      </p:pic>
      <p:sp>
        <p:nvSpPr>
          <p:cNvPr id="69" name="object 69" descr=""/>
          <p:cNvSpPr txBox="1"/>
          <p:nvPr/>
        </p:nvSpPr>
        <p:spPr>
          <a:xfrm>
            <a:off x="1989215" y="3291894"/>
            <a:ext cx="25400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5">
                <a:solidFill>
                  <a:srgbClr val="151515"/>
                </a:solidFill>
                <a:latin typeface="Calibri"/>
                <a:cs typeface="Calibri"/>
              </a:rPr>
              <a:t>GPT-</a:t>
            </a:r>
            <a:r>
              <a:rPr dirty="0" sz="650" spc="-25">
                <a:solidFill>
                  <a:srgbClr val="151515"/>
                </a:solidFill>
                <a:latin typeface="Calibri"/>
                <a:cs typeface="Calibri"/>
              </a:rPr>
              <a:t>alo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860675" y="3737011"/>
            <a:ext cx="51117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Courier New"/>
                <a:cs typeface="Courier New"/>
              </a:rPr>
              <a:t>Oama3d</a:t>
            </a:r>
            <a:r>
              <a:rPr dirty="0" sz="650" spc="30">
                <a:latin typeface="Courier New"/>
                <a:cs typeface="Courier New"/>
              </a:rPr>
              <a:t> </a:t>
            </a:r>
            <a:r>
              <a:rPr dirty="0" sz="650" spc="-25">
                <a:latin typeface="Courier New"/>
                <a:cs typeface="Courier New"/>
              </a:rPr>
              <a:t>05B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921442" y="3078735"/>
            <a:ext cx="35750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1F1F1F"/>
                </a:solidFill>
                <a:latin typeface="Arial MT"/>
                <a:cs typeface="Arial MT"/>
              </a:rPr>
              <a:t>@I0oefiAI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2940170" y="3950170"/>
            <a:ext cx="3282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265D8C"/>
                </a:solidFill>
                <a:latin typeface="Arial MT"/>
                <a:cs typeface="Arial MT"/>
              </a:rPr>
              <a:t>00</a:t>
            </a:r>
            <a:r>
              <a:rPr dirty="0" sz="700" spc="-120">
                <a:solidFill>
                  <a:srgbClr val="265D8C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282828"/>
                </a:solidFill>
                <a:latin typeface="Arial MT"/>
                <a:cs typeface="Arial MT"/>
              </a:rPr>
              <a:t>Meto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2937347" y="4169679"/>
            <a:ext cx="33083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95">
                <a:solidFill>
                  <a:srgbClr val="5979A7"/>
                </a:solidFill>
                <a:latin typeface="Arial MT"/>
                <a:cs typeface="Arial MT"/>
              </a:rPr>
              <a:t>LO </a:t>
            </a:r>
            <a:r>
              <a:rPr dirty="0" sz="700" spc="-20">
                <a:solidFill>
                  <a:srgbClr val="161616"/>
                </a:solidFill>
                <a:latin typeface="Arial MT"/>
                <a:cs typeface="Arial MT"/>
              </a:rPr>
              <a:t>Meto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951658" y="4389444"/>
            <a:ext cx="29718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89A8CC"/>
                </a:solidFill>
                <a:latin typeface="Arial MT"/>
                <a:cs typeface="Arial MT"/>
              </a:rPr>
              <a:t>Google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2952061" y="4608954"/>
            <a:ext cx="29908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799097"/>
                </a:solidFill>
                <a:latin typeface="Arial MT"/>
                <a:cs typeface="Arial MT"/>
              </a:rPr>
              <a:t>Oo'</a:t>
            </a:r>
            <a:r>
              <a:rPr dirty="0" sz="650" spc="15">
                <a:solidFill>
                  <a:srgbClr val="799097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799097"/>
                </a:solidFill>
                <a:latin typeface="Arial MT"/>
                <a:cs typeface="Arial MT"/>
              </a:rPr>
              <a:t>'gle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2951321" y="4822113"/>
            <a:ext cx="30099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70">
                <a:solidFill>
                  <a:srgbClr val="809AA8"/>
                </a:solidFill>
                <a:latin typeface="Arial MT"/>
                <a:cs typeface="Arial MT"/>
              </a:rPr>
              <a:t>Gov.gue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855872" y="3078735"/>
            <a:ext cx="1778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3D3D3D"/>
                </a:solidFill>
                <a:latin typeface="Courier New"/>
                <a:cs typeface="Courier New"/>
              </a:rPr>
              <a:t>12Bk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3848027" y="3517755"/>
            <a:ext cx="18478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5">
                <a:solidFill>
                  <a:srgbClr val="242424"/>
                </a:solidFill>
                <a:latin typeface="Courier New"/>
                <a:cs typeface="Courier New"/>
              </a:rPr>
              <a:t>929k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3892336" y="5060424"/>
            <a:ext cx="996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5">
                <a:solidFill>
                  <a:srgbClr val="3B3B3B"/>
                </a:solidFill>
                <a:latin typeface="Courier New"/>
                <a:cs typeface="Courier New"/>
              </a:rPr>
              <a:t>8k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4534612" y="2816542"/>
            <a:ext cx="21907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Calibri"/>
                <a:cs typeface="Calibri"/>
              </a:rPr>
              <a:t>INOEX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646386" y="3078735"/>
            <a:ext cx="10604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595959"/>
                </a:solidFill>
                <a:latin typeface="Consolas"/>
                <a:cs typeface="Consolas"/>
              </a:rPr>
              <a:t>77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4646386" y="3517755"/>
            <a:ext cx="990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565656"/>
                </a:solidFill>
                <a:latin typeface="Consolas"/>
                <a:cs typeface="Consolas"/>
              </a:rPr>
              <a:t>71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4641710" y="4156976"/>
            <a:ext cx="109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90">
                <a:solidFill>
                  <a:srgbClr val="6B6B6B"/>
                </a:solidFill>
                <a:latin typeface="Consolas"/>
                <a:cs typeface="Consolas"/>
              </a:rPr>
              <a:t>sz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642888" y="4395796"/>
            <a:ext cx="1117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424242"/>
                </a:solidFill>
                <a:latin typeface="Courier New"/>
                <a:cs typeface="Courier New"/>
              </a:rPr>
              <a:t>7Z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4646162" y="4621403"/>
            <a:ext cx="1111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424242"/>
                </a:solidFill>
                <a:latin typeface="Consolas"/>
                <a:cs typeface="Consolas"/>
              </a:rPr>
              <a:t>6D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4639696" y="5060424"/>
            <a:ext cx="11366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4D4D4D"/>
                </a:solidFill>
                <a:latin typeface="Consolas"/>
                <a:cs typeface="Consolas"/>
              </a:rPr>
              <a:t>a7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4646386" y="5499444"/>
            <a:ext cx="110489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727272"/>
                </a:solidFill>
                <a:latin typeface="Consolas"/>
                <a:cs typeface="Consolas"/>
              </a:rPr>
              <a:t>7D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407555" y="3085086"/>
            <a:ext cx="20891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solidFill>
                  <a:srgbClr val="6B6B6B"/>
                </a:solidFill>
                <a:latin typeface="Arial MT"/>
                <a:cs typeface="Arial MT"/>
              </a:rPr>
              <a:t>M</a:t>
            </a:r>
            <a:r>
              <a:rPr dirty="0" sz="550" spc="21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6E6E6E"/>
                </a:solidFill>
                <a:latin typeface="Arial MT"/>
                <a:cs typeface="Arial MT"/>
              </a:rPr>
              <a:t>3B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5405856" y="3298245"/>
            <a:ext cx="20637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75">
                <a:solidFill>
                  <a:srgbClr val="6E6E6E"/>
                </a:solidFill>
                <a:latin typeface="Courier New"/>
                <a:cs typeface="Courier New"/>
              </a:rPr>
              <a:t>S?.SO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5408162" y="3517755"/>
            <a:ext cx="2057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>
                <a:solidFill>
                  <a:srgbClr val="363636"/>
                </a:solidFill>
                <a:latin typeface="Consolas"/>
                <a:cs typeface="Consolas"/>
              </a:rPr>
              <a:t>60.26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5404144" y="3962873"/>
            <a:ext cx="2133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65">
                <a:solidFill>
                  <a:srgbClr val="606060"/>
                </a:solidFill>
                <a:latin typeface="Courier New"/>
                <a:cs typeface="Courier New"/>
              </a:rPr>
              <a:t>8O.P0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5403428" y="4834562"/>
            <a:ext cx="21844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70">
                <a:solidFill>
                  <a:srgbClr val="242424"/>
                </a:solidFill>
                <a:latin typeface="Courier New"/>
                <a:cs typeface="Courier New"/>
              </a:rPr>
              <a:t>8B</a:t>
            </a:r>
            <a:r>
              <a:rPr dirty="0" sz="650" spc="-27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dirty="0" sz="650" spc="-35">
                <a:solidFill>
                  <a:srgbClr val="242424"/>
                </a:solidFill>
                <a:latin typeface="Courier New"/>
                <a:cs typeface="Courier New"/>
              </a:rPr>
              <a:t>80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5410023" y="5060424"/>
            <a:ext cx="20510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65">
                <a:solidFill>
                  <a:srgbClr val="464646"/>
                </a:solidFill>
                <a:latin typeface="Arial MT"/>
                <a:cs typeface="Arial MT"/>
              </a:rPr>
              <a:t>$O.2G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5391522" y="5486487"/>
            <a:ext cx="240029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solidFill>
                  <a:srgbClr val="2F2F2F"/>
                </a:solidFill>
                <a:latin typeface="Arial MT"/>
                <a:cs typeface="Arial MT"/>
              </a:rPr>
              <a:t>sa,oo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6144229" y="2810191"/>
            <a:ext cx="34099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90">
                <a:latin typeface="Arial MT"/>
                <a:cs typeface="Arial MT"/>
              </a:rPr>
              <a:t>MEDIAH</a:t>
            </a:r>
            <a:r>
              <a:rPr dirty="0" sz="650" spc="110">
                <a:latin typeface="Arial MT"/>
                <a:cs typeface="Arial MT"/>
              </a:rPr>
              <a:t> </a:t>
            </a:r>
            <a:r>
              <a:rPr dirty="0" sz="650" spc="-50">
                <a:solidFill>
                  <a:srgbClr val="979797"/>
                </a:solidFill>
                <a:latin typeface="Arial MT"/>
                <a:cs typeface="Arial MT"/>
              </a:rPr>
              <a:t>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6232606" y="3072383"/>
            <a:ext cx="20383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5">
                <a:solidFill>
                  <a:srgbClr val="212121"/>
                </a:solidFill>
                <a:latin typeface="Courier New"/>
                <a:cs typeface="Courier New"/>
              </a:rPr>
              <a:t>106.0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6236773" y="3298245"/>
            <a:ext cx="1993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2F2F2F"/>
                </a:solidFill>
                <a:latin typeface="Consolas"/>
                <a:cs typeface="Consolas"/>
              </a:rPr>
              <a:t>103.2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6252791" y="3962873"/>
            <a:ext cx="16827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75">
                <a:solidFill>
                  <a:srgbClr val="6D6D6D"/>
                </a:solidFill>
                <a:latin typeface="Courier New"/>
                <a:cs typeface="Courier New"/>
              </a:rPr>
              <a:t>53.0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6255506" y="4401893"/>
            <a:ext cx="1631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2F2F2F"/>
                </a:solidFill>
                <a:latin typeface="Consolas"/>
                <a:cs typeface="Consolas"/>
              </a:rPr>
              <a:t>61.6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6235433" y="4621403"/>
            <a:ext cx="20193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0">
                <a:solidFill>
                  <a:srgbClr val="212121"/>
                </a:solidFill>
                <a:latin typeface="Courier New"/>
                <a:cs typeface="Courier New"/>
              </a:rPr>
              <a:t>2O'/9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6249888" y="4840914"/>
            <a:ext cx="1752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575757"/>
                </a:solidFill>
                <a:latin typeface="Courier New"/>
                <a:cs typeface="Courier New"/>
              </a:rPr>
              <a:t>686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6252819" y="5511893"/>
            <a:ext cx="1682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40">
                <a:solidFill>
                  <a:srgbClr val="424242"/>
                </a:solidFill>
                <a:latin typeface="Courier New"/>
                <a:cs typeface="Courier New"/>
              </a:rPr>
              <a:t>Z6.6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6960230" y="2816542"/>
            <a:ext cx="26733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5">
                <a:solidFill>
                  <a:srgbClr val="0F0F0F"/>
                </a:solidFill>
                <a:latin typeface="Courier New"/>
                <a:cs typeface="Courier New"/>
              </a:rPr>
              <a:t>MEDtAN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7068731" y="3078735"/>
            <a:ext cx="16637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5">
                <a:solidFill>
                  <a:srgbClr val="505050"/>
                </a:solidFill>
                <a:latin typeface="Consolas"/>
                <a:cs typeface="Consolas"/>
              </a:rPr>
              <a:t>O.4O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7068731" y="3298245"/>
            <a:ext cx="16637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5">
                <a:solidFill>
                  <a:srgbClr val="4D4D4D"/>
                </a:solidFill>
                <a:latin typeface="Consolas"/>
                <a:cs typeface="Consolas"/>
              </a:rPr>
              <a:t>O.dO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7067305" y="3524106"/>
            <a:ext cx="16002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55">
                <a:solidFill>
                  <a:srgbClr val="4D4D4D"/>
                </a:solidFill>
                <a:latin typeface="Courier New"/>
                <a:cs typeface="Courier New"/>
              </a:rPr>
              <a:t>O.d1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7068731" y="3962873"/>
            <a:ext cx="1631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3A3A3A"/>
                </a:solidFill>
                <a:latin typeface="Consolas"/>
                <a:cs typeface="Consolas"/>
              </a:rPr>
              <a:t>O.4S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7068731" y="4182383"/>
            <a:ext cx="12890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5">
                <a:solidFill>
                  <a:srgbClr val="5E5E5E"/>
                </a:solidFill>
                <a:latin typeface="Consolas"/>
                <a:cs typeface="Consolas"/>
              </a:rPr>
              <a:t>O3S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7061621" y="4395542"/>
            <a:ext cx="17018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90">
                <a:solidFill>
                  <a:srgbClr val="383838"/>
                </a:solidFill>
                <a:latin typeface="Courier New"/>
                <a:cs typeface="Courier New"/>
              </a:rPr>
              <a:t>0.92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7067577" y="4621403"/>
            <a:ext cx="16954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5">
                <a:solidFill>
                  <a:srgbClr val="5D5D5D"/>
                </a:solidFill>
                <a:latin typeface="Consolas"/>
                <a:cs typeface="Consolas"/>
              </a:rPr>
              <a:t>0.39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7063041" y="4847265"/>
            <a:ext cx="13398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30">
                <a:solidFill>
                  <a:srgbClr val="505050"/>
                </a:solidFill>
                <a:latin typeface="Courier New"/>
                <a:cs typeface="Courier New"/>
              </a:rPr>
              <a:t>0u3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7067577" y="5060424"/>
            <a:ext cx="1631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6B6B6B"/>
                </a:solidFill>
                <a:latin typeface="Consolas"/>
                <a:cs typeface="Consolas"/>
              </a:rPr>
              <a:t>0.33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7881465" y="2816542"/>
            <a:ext cx="31686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5">
                <a:solidFill>
                  <a:srgbClr val="0A0A0A"/>
                </a:solidFill>
                <a:latin typeface="Arial MT"/>
                <a:cs typeface="Arial MT"/>
              </a:rPr>
              <a:t>FURTHER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19" y="756090"/>
            <a:ext cx="8144256" cy="44633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56584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936" y="427590"/>
            <a:ext cx="5820410" cy="5365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55190" algn="l"/>
              </a:tabLst>
            </a:pPr>
            <a:r>
              <a:rPr dirty="0" sz="3350" spc="-10">
                <a:solidFill>
                  <a:srgbClr val="18B5C8"/>
                </a:solidFill>
              </a:rPr>
              <a:t>Integrating</a:t>
            </a:r>
            <a:r>
              <a:rPr dirty="0" sz="3350">
                <a:solidFill>
                  <a:srgbClr val="18B5C8"/>
                </a:solidFill>
              </a:rPr>
              <a:t>	</a:t>
            </a:r>
            <a:r>
              <a:rPr dirty="0" sz="3350" spc="100">
                <a:solidFill>
                  <a:srgbClr val="16B3DB"/>
                </a:solidFill>
              </a:rPr>
              <a:t>Custom</a:t>
            </a:r>
            <a:r>
              <a:rPr dirty="0" sz="3350" spc="220">
                <a:solidFill>
                  <a:srgbClr val="16B3DB"/>
                </a:solidFill>
              </a:rPr>
              <a:t> </a:t>
            </a:r>
            <a:r>
              <a:rPr dirty="0" sz="3350" spc="95">
                <a:solidFill>
                  <a:srgbClr val="00B5BA"/>
                </a:solidFill>
              </a:rPr>
              <a:t>Data</a:t>
            </a:r>
            <a:r>
              <a:rPr dirty="0" sz="3350" spc="55">
                <a:solidFill>
                  <a:srgbClr val="00B5BA"/>
                </a:solidFill>
              </a:rPr>
              <a:t> </a:t>
            </a:r>
            <a:r>
              <a:rPr dirty="0" sz="3350" spc="-345">
                <a:solidFill>
                  <a:srgbClr val="00AAD8"/>
                </a:solidFill>
              </a:rPr>
              <a:t>&amp;</a:t>
            </a:r>
            <a:r>
              <a:rPr dirty="0" sz="3350" spc="-55">
                <a:solidFill>
                  <a:srgbClr val="00AAD8"/>
                </a:solidFill>
              </a:rPr>
              <a:t> </a:t>
            </a:r>
            <a:r>
              <a:rPr dirty="0" sz="3350" spc="114">
                <a:solidFill>
                  <a:srgbClr val="00AEDB"/>
                </a:solidFill>
              </a:rPr>
              <a:t>APis</a:t>
            </a:r>
            <a:endParaRPr sz="3350"/>
          </a:p>
        </p:txBody>
      </p:sp>
      <p:sp>
        <p:nvSpPr>
          <p:cNvPr id="3" name="object 3" descr=""/>
          <p:cNvSpPr txBox="1"/>
          <p:nvPr/>
        </p:nvSpPr>
        <p:spPr>
          <a:xfrm>
            <a:off x="588493" y="1326972"/>
            <a:ext cx="8623300" cy="149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How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65">
                <a:solidFill>
                  <a:srgbClr val="0F0F0F"/>
                </a:solidFill>
                <a:latin typeface="Calibri"/>
                <a:cs typeface="Calibri"/>
              </a:rPr>
              <a:t>can</a:t>
            </a:r>
            <a:r>
              <a:rPr dirty="0" sz="215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81818"/>
                </a:solidFill>
                <a:latin typeface="Calibri"/>
                <a:cs typeface="Calibri"/>
              </a:rPr>
              <a:t>you</a:t>
            </a:r>
            <a:r>
              <a:rPr dirty="0" sz="2150" spc="10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11111"/>
                </a:solidFill>
                <a:latin typeface="Calibri"/>
                <a:cs typeface="Calibri"/>
              </a:rPr>
              <a:t>equip</a:t>
            </a:r>
            <a:r>
              <a:rPr dirty="0" sz="2150" spc="6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dirty="0" sz="2150" spc="1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AI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81818"/>
                </a:solidFill>
                <a:latin typeface="Calibri"/>
                <a:cs typeface="Calibri"/>
              </a:rPr>
              <a:t>model</a:t>
            </a:r>
            <a:r>
              <a:rPr dirty="0" sz="2150" spc="13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61616"/>
                </a:solidFill>
                <a:latin typeface="Calibri"/>
                <a:cs typeface="Calibri"/>
              </a:rPr>
              <a:t>with</a:t>
            </a:r>
            <a:r>
              <a:rPr dirty="0" sz="2150" spc="12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61616"/>
                </a:solidFill>
                <a:latin typeface="Calibri"/>
                <a:cs typeface="Calibri"/>
              </a:rPr>
              <a:t>information</a:t>
            </a:r>
            <a:r>
              <a:rPr dirty="0" sz="2150" spc="26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50" spc="50">
                <a:solidFill>
                  <a:srgbClr val="161616"/>
                </a:solidFill>
                <a:latin typeface="Calibri"/>
                <a:cs typeface="Calibri"/>
              </a:rPr>
              <a:t>on</a:t>
            </a:r>
            <a:r>
              <a:rPr dirty="0" sz="2150" spc="2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11111"/>
                </a:solidFill>
                <a:latin typeface="Calibri"/>
                <a:cs typeface="Calibri"/>
              </a:rPr>
              <a:t>which</a:t>
            </a:r>
            <a:r>
              <a:rPr dirty="0" sz="2150" spc="10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C1C1C"/>
                </a:solidFill>
                <a:latin typeface="Calibri"/>
                <a:cs typeface="Calibri"/>
              </a:rPr>
              <a:t>it</a:t>
            </a:r>
            <a:r>
              <a:rPr dirty="0" sz="2150" spc="3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F1F1F"/>
                </a:solidFill>
                <a:latin typeface="Calibri"/>
                <a:cs typeface="Calibri"/>
              </a:rPr>
              <a:t>has</a:t>
            </a:r>
            <a:r>
              <a:rPr dirty="0" sz="2150" spc="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F0F0F"/>
                </a:solidFill>
                <a:latin typeface="Calibri"/>
                <a:cs typeface="Calibri"/>
              </a:rPr>
              <a:t>not</a:t>
            </a:r>
            <a:r>
              <a:rPr dirty="0" sz="2150" spc="7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 spc="-20">
                <a:solidFill>
                  <a:srgbClr val="131313"/>
                </a:solidFill>
                <a:latin typeface="Calibri"/>
                <a:cs typeface="Calibri"/>
              </a:rPr>
              <a:t>been</a:t>
            </a:r>
            <a:endParaRPr sz="2150">
              <a:latin typeface="Calibri"/>
              <a:cs typeface="Calibri"/>
            </a:endParaRPr>
          </a:p>
          <a:p>
            <a:pPr marL="27305" marR="405765" indent="1270">
              <a:lnSpc>
                <a:spcPts val="2740"/>
              </a:lnSpc>
              <a:spcBef>
                <a:spcPts val="20"/>
              </a:spcBef>
            </a:pPr>
            <a:r>
              <a:rPr dirty="0" sz="2100">
                <a:latin typeface="Calibri"/>
                <a:cs typeface="Calibri"/>
              </a:rPr>
              <a:t>trained?</a:t>
            </a:r>
            <a:r>
              <a:rPr dirty="0" sz="2100" spc="220">
                <a:latin typeface="Calibri"/>
                <a:cs typeface="Calibri"/>
              </a:rPr>
              <a:t> </a:t>
            </a:r>
            <a:r>
              <a:rPr dirty="0" sz="2100" spc="-65">
                <a:latin typeface="Calibri"/>
                <a:cs typeface="Calibri"/>
              </a:rPr>
              <a:t>GPT-</a:t>
            </a:r>
            <a:r>
              <a:rPr dirty="0" sz="2100" spc="-20">
                <a:latin typeface="Calibri"/>
                <a:cs typeface="Calibri"/>
              </a:rPr>
              <a:t>3.5/4.0</a:t>
            </a:r>
            <a:r>
              <a:rPr dirty="0" sz="2100" spc="30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only</a:t>
            </a:r>
            <a:r>
              <a:rPr dirty="0" sz="2100" spc="15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 spc="60">
                <a:solidFill>
                  <a:srgbClr val="0F0F0F"/>
                </a:solidFill>
                <a:latin typeface="Calibri"/>
                <a:cs typeface="Calibri"/>
              </a:rPr>
              <a:t>has</a:t>
            </a:r>
            <a:r>
              <a:rPr dirty="0" sz="2100" spc="5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knowledge</a:t>
            </a:r>
            <a:r>
              <a:rPr dirty="0" sz="2100" spc="235">
                <a:latin typeface="Calibri"/>
                <a:cs typeface="Calibri"/>
              </a:rPr>
              <a:t> </a:t>
            </a:r>
            <a:r>
              <a:rPr dirty="0" sz="2100" spc="85">
                <a:solidFill>
                  <a:srgbClr val="181818"/>
                </a:solidFill>
                <a:latin typeface="Calibri"/>
                <a:cs typeface="Calibri"/>
              </a:rPr>
              <a:t>up </a:t>
            </a:r>
            <a:r>
              <a:rPr dirty="0" sz="2100">
                <a:solidFill>
                  <a:srgbClr val="181818"/>
                </a:solidFill>
                <a:latin typeface="Calibri"/>
                <a:cs typeface="Calibri"/>
              </a:rPr>
              <a:t>until</a:t>
            </a:r>
            <a:r>
              <a:rPr dirty="0" sz="2100" spc="1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3une</a:t>
            </a:r>
            <a:r>
              <a:rPr dirty="0" sz="2100" spc="75">
                <a:latin typeface="Calibri"/>
                <a:cs typeface="Calibri"/>
              </a:rPr>
              <a:t> </a:t>
            </a:r>
            <a:r>
              <a:rPr dirty="0" sz="2100" spc="-65">
                <a:latin typeface="Calibri"/>
                <a:cs typeface="Calibri"/>
              </a:rPr>
              <a:t>2024*,</a:t>
            </a:r>
            <a:r>
              <a:rPr dirty="0" sz="2100" spc="15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31313"/>
                </a:solidFill>
                <a:latin typeface="Calibri"/>
                <a:cs typeface="Calibri"/>
              </a:rPr>
              <a:t>limiting</a:t>
            </a:r>
            <a:r>
              <a:rPr dirty="0" sz="2100" spc="36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0E0E0E"/>
                </a:solidFill>
                <a:latin typeface="Calibri"/>
                <a:cs typeface="Calibri"/>
              </a:rPr>
              <a:t>its </a:t>
            </a:r>
            <a:r>
              <a:rPr dirty="0" sz="2100">
                <a:solidFill>
                  <a:srgbClr val="181818"/>
                </a:solidFill>
                <a:latin typeface="Calibri"/>
                <a:cs typeface="Calibri"/>
              </a:rPr>
              <a:t>ability</a:t>
            </a:r>
            <a:r>
              <a:rPr dirty="0" sz="2100" spc="17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dirty="0" sz="2100" spc="4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31313"/>
                </a:solidFill>
                <a:latin typeface="Calibri"/>
                <a:cs typeface="Calibri"/>
              </a:rPr>
              <a:t>answer</a:t>
            </a:r>
            <a:r>
              <a:rPr dirty="0" sz="2100" spc="24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questions</a:t>
            </a:r>
            <a:r>
              <a:rPr dirty="0" sz="2100" spc="30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about</a:t>
            </a:r>
            <a:r>
              <a:rPr dirty="0" sz="2100" spc="19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more</a:t>
            </a:r>
            <a:r>
              <a:rPr dirty="0" sz="2100" spc="15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recent</a:t>
            </a:r>
            <a:r>
              <a:rPr dirty="0" sz="2100" spc="254"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31313"/>
                </a:solidFill>
                <a:latin typeface="Calibri"/>
                <a:cs typeface="Calibri"/>
              </a:rPr>
              <a:t>data.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2100" spc="-175">
                <a:latin typeface="Calibri"/>
                <a:cs typeface="Calibri"/>
              </a:rPr>
              <a:t>*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60">
                <a:latin typeface="Calibri"/>
                <a:cs typeface="Calibri"/>
              </a:rPr>
              <a:t>Why</a:t>
            </a:r>
            <a:r>
              <a:rPr dirty="0" sz="2100" spc="8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65">
                <a:latin typeface="Calibri"/>
                <a:cs typeface="Calibri"/>
              </a:rPr>
              <a:t> </a:t>
            </a:r>
            <a:r>
              <a:rPr dirty="0" sz="2100" spc="55">
                <a:latin typeface="Calibri"/>
                <a:cs typeface="Calibri"/>
              </a:rPr>
              <a:t>asking</a:t>
            </a:r>
            <a:r>
              <a:rPr dirty="0" sz="2100" spc="200">
                <a:latin typeface="Calibri"/>
                <a:cs typeface="Calibri"/>
              </a:rPr>
              <a:t> </a:t>
            </a:r>
            <a:r>
              <a:rPr dirty="0" sz="2100" spc="80">
                <a:latin typeface="Calibri"/>
                <a:cs typeface="Calibri"/>
              </a:rPr>
              <a:t>Chat</a:t>
            </a:r>
            <a:r>
              <a:rPr dirty="0" sz="2100" spc="15">
                <a:latin typeface="Calibri"/>
                <a:cs typeface="Calibri"/>
              </a:rPr>
              <a:t> </a:t>
            </a:r>
            <a:r>
              <a:rPr dirty="0" sz="2100" spc="50">
                <a:solidFill>
                  <a:srgbClr val="0E0E0E"/>
                </a:solidFill>
                <a:latin typeface="Calibri"/>
                <a:cs typeface="Calibri"/>
              </a:rPr>
              <a:t>GPT</a:t>
            </a:r>
            <a:r>
              <a:rPr dirty="0" sz="2100" spc="-3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100" spc="60">
                <a:latin typeface="Calibri"/>
                <a:cs typeface="Calibri"/>
              </a:rPr>
              <a:t>with </a:t>
            </a:r>
            <a:r>
              <a:rPr dirty="0" sz="2100">
                <a:solidFill>
                  <a:srgbClr val="1F1F1F"/>
                </a:solidFill>
                <a:latin typeface="Calibri"/>
                <a:cs typeface="Calibri"/>
              </a:rPr>
              <a:t>a</a:t>
            </a:r>
            <a:r>
              <a:rPr dirty="0" sz="2100" spc="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prompt?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0820" y="3117606"/>
            <a:ext cx="8742680" cy="178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You</a:t>
            </a:r>
            <a:r>
              <a:rPr dirty="0" sz="1350" spc="155">
                <a:solidFill>
                  <a:srgbClr val="1A1A1A"/>
                </a:solidFill>
                <a:latin typeface="Calibri"/>
                <a:cs typeface="Calibri"/>
              </a:rPr>
              <a:t>  </a:t>
            </a:r>
            <a:r>
              <a:rPr dirty="0" sz="1350" spc="170">
                <a:latin typeface="Calibri"/>
                <a:cs typeface="Calibri"/>
              </a:rPr>
              <a:t>sald:</a:t>
            </a:r>
            <a:endParaRPr sz="13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160"/>
              </a:spcBef>
            </a:pPr>
            <a:r>
              <a:rPr dirty="0" sz="1500" spc="-180">
                <a:solidFill>
                  <a:srgbClr val="181818"/>
                </a:solidFill>
                <a:latin typeface="Courier New"/>
                <a:cs typeface="Courier New"/>
              </a:rPr>
              <a:t>Can</a:t>
            </a:r>
            <a:r>
              <a:rPr dirty="0" sz="1500" spc="-10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500" spc="-180">
                <a:latin typeface="Courier New"/>
                <a:cs typeface="Courier New"/>
              </a:rPr>
              <a:t>you</a:t>
            </a:r>
            <a:r>
              <a:rPr dirty="0" sz="1500" spc="-75">
                <a:latin typeface="Courier New"/>
                <a:cs typeface="Courier New"/>
              </a:rPr>
              <a:t> </a:t>
            </a:r>
            <a:r>
              <a:rPr dirty="0" sz="1500" spc="-160">
                <a:latin typeface="Courier New"/>
                <a:cs typeface="Courier New"/>
              </a:rPr>
              <a:t>tell</a:t>
            </a:r>
            <a:r>
              <a:rPr dirty="0" sz="1500" spc="-80">
                <a:latin typeface="Courier New"/>
                <a:cs typeface="Courier New"/>
              </a:rPr>
              <a:t> </a:t>
            </a:r>
            <a:r>
              <a:rPr dirty="0" sz="1500" spc="-190">
                <a:solidFill>
                  <a:srgbClr val="1A1A1A"/>
                </a:solidFill>
                <a:latin typeface="Courier New"/>
                <a:cs typeface="Courier New"/>
              </a:rPr>
              <a:t>me</a:t>
            </a:r>
            <a:r>
              <a:rPr dirty="0" sz="1500" spc="-14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500" spc="-175">
                <a:solidFill>
                  <a:srgbClr val="161616"/>
                </a:solidFill>
                <a:latin typeface="Courier New"/>
                <a:cs typeface="Courier New"/>
              </a:rPr>
              <a:t>the</a:t>
            </a:r>
            <a:r>
              <a:rPr dirty="0" sz="1500" spc="-14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500" spc="-175">
                <a:solidFill>
                  <a:srgbClr val="161616"/>
                </a:solidFill>
                <a:latin typeface="Courier New"/>
                <a:cs typeface="Courier New"/>
              </a:rPr>
              <a:t>date</a:t>
            </a:r>
            <a:r>
              <a:rPr dirty="0" sz="1500" spc="-10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500" spc="-190">
                <a:solidFill>
                  <a:srgbClr val="131313"/>
                </a:solidFill>
                <a:latin typeface="Courier New"/>
                <a:cs typeface="Courier New"/>
              </a:rPr>
              <a:t>of</a:t>
            </a:r>
            <a:r>
              <a:rPr dirty="0" sz="1500" spc="-9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500" spc="-175">
                <a:solidFill>
                  <a:srgbClr val="111111"/>
                </a:solidFill>
                <a:latin typeface="Courier New"/>
                <a:cs typeface="Courier New"/>
              </a:rPr>
              <a:t>the</a:t>
            </a:r>
            <a:r>
              <a:rPr dirty="0" sz="1500" spc="-6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500" spc="-204">
                <a:solidFill>
                  <a:srgbClr val="1A1A1A"/>
                </a:solidFill>
                <a:latin typeface="Courier New"/>
                <a:cs typeface="Courier New"/>
              </a:rPr>
              <a:t>most</a:t>
            </a:r>
            <a:r>
              <a:rPr dirty="0" sz="150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500" spc="-190">
                <a:solidFill>
                  <a:srgbClr val="0F0F0F"/>
                </a:solidFill>
                <a:latin typeface="Courier New"/>
                <a:cs typeface="Courier New"/>
              </a:rPr>
              <a:t>recent</a:t>
            </a:r>
            <a:r>
              <a:rPr dirty="0" sz="1500" spc="-5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500" spc="-175">
                <a:latin typeface="Courier New"/>
                <a:cs typeface="Courier New"/>
              </a:rPr>
              <a:t>information</a:t>
            </a:r>
            <a:r>
              <a:rPr dirty="0" sz="1500" spc="15">
                <a:latin typeface="Courier New"/>
                <a:cs typeface="Courier New"/>
              </a:rPr>
              <a:t> </a:t>
            </a:r>
            <a:r>
              <a:rPr dirty="0" sz="1500" spc="-165">
                <a:solidFill>
                  <a:srgbClr val="131313"/>
                </a:solidFill>
                <a:latin typeface="Courier New"/>
                <a:cs typeface="Courier New"/>
              </a:rPr>
              <a:t>in</a:t>
            </a:r>
            <a:r>
              <a:rPr dirty="0" sz="1500" spc="-10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500" spc="-185">
                <a:solidFill>
                  <a:srgbClr val="131313"/>
                </a:solidFill>
                <a:latin typeface="Courier New"/>
                <a:cs typeface="Courier New"/>
              </a:rPr>
              <a:t>your</a:t>
            </a:r>
            <a:r>
              <a:rPr dirty="0" sz="1500" spc="-1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500" spc="-175">
                <a:latin typeface="Courier New"/>
                <a:cs typeface="Courier New"/>
              </a:rPr>
              <a:t>training</a:t>
            </a:r>
            <a:r>
              <a:rPr dirty="0" sz="1500" spc="65"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0E0E0E"/>
                </a:solidFill>
                <a:latin typeface="Courier New"/>
                <a:cs typeface="Courier New"/>
              </a:rPr>
              <a:t>data?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50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</a:pPr>
            <a:r>
              <a:rPr dirty="0" sz="1300">
                <a:latin typeface="Consolas"/>
                <a:cs typeface="Consolas"/>
              </a:rPr>
              <a:t>ChatGPT</a:t>
            </a:r>
            <a:r>
              <a:rPr dirty="0" sz="1300" spc="-90"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0E0E0E"/>
                </a:solidFill>
                <a:latin typeface="Consolas"/>
                <a:cs typeface="Consolas"/>
              </a:rPr>
              <a:t>said:</a:t>
            </a:r>
            <a:endParaRPr sz="1300">
              <a:latin typeface="Consolas"/>
              <a:cs typeface="Consolas"/>
            </a:endParaRPr>
          </a:p>
          <a:p>
            <a:pPr marL="12700" marR="5080" indent="15875">
              <a:lnSpc>
                <a:spcPts val="1340"/>
              </a:lnSpc>
              <a:spcBef>
                <a:spcPts val="1405"/>
              </a:spcBef>
            </a:pPr>
            <a:r>
              <a:rPr dirty="0" sz="1350" spc="-145">
                <a:latin typeface="Courier New"/>
                <a:cs typeface="Courier New"/>
              </a:rPr>
              <a:t>My</a:t>
            </a:r>
            <a:r>
              <a:rPr dirty="0" sz="1350" spc="-60"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0F0F0F"/>
                </a:solidFill>
                <a:latin typeface="Courier New"/>
                <a:cs typeface="Courier New"/>
              </a:rPr>
              <a:t>most</a:t>
            </a:r>
            <a:r>
              <a:rPr dirty="0" sz="1350" spc="-8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131313"/>
                </a:solidFill>
                <a:latin typeface="Courier New"/>
                <a:cs typeface="Courier New"/>
              </a:rPr>
              <a:t>recent</a:t>
            </a:r>
            <a:r>
              <a:rPr dirty="0" sz="1350" spc="-8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0F0F0F"/>
                </a:solidFill>
                <a:latin typeface="Courier New"/>
                <a:cs typeface="Courier New"/>
              </a:rPr>
              <a:t>training</a:t>
            </a:r>
            <a:r>
              <a:rPr dirty="0" sz="1350" spc="-7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0F0F0F"/>
                </a:solidFill>
                <a:latin typeface="Courier New"/>
                <a:cs typeface="Courier New"/>
              </a:rPr>
              <a:t>data</a:t>
            </a:r>
            <a:r>
              <a:rPr dirty="0" sz="1350" spc="-8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10">
                <a:latin typeface="Courier New"/>
                <a:cs typeface="Courier New"/>
              </a:rPr>
              <a:t>goes</a:t>
            </a:r>
            <a:r>
              <a:rPr dirty="0" sz="1350" spc="-65">
                <a:latin typeface="Courier New"/>
                <a:cs typeface="Courier New"/>
              </a:rPr>
              <a:t> </a:t>
            </a:r>
            <a:r>
              <a:rPr dirty="0" sz="1350" spc="-150">
                <a:solidFill>
                  <a:srgbClr val="151515"/>
                </a:solidFill>
                <a:latin typeface="Courier New"/>
                <a:cs typeface="Courier New"/>
              </a:rPr>
              <a:t>up</a:t>
            </a:r>
            <a:r>
              <a:rPr dirty="0" sz="1350" spc="-5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50" spc="-130">
                <a:solidFill>
                  <a:srgbClr val="0E0E0E"/>
                </a:solidFill>
                <a:latin typeface="Courier New"/>
                <a:cs typeface="Courier New"/>
              </a:rPr>
              <a:t>until</a:t>
            </a:r>
            <a:r>
              <a:rPr dirty="0" sz="1350" spc="-75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0E0E0E"/>
                </a:solidFill>
                <a:latin typeface="Courier New"/>
                <a:cs typeface="Courier New"/>
              </a:rPr>
              <a:t>June </a:t>
            </a:r>
            <a:r>
              <a:rPr dirty="0" sz="1350" spc="-105">
                <a:latin typeface="Courier New"/>
                <a:cs typeface="Courier New"/>
              </a:rPr>
              <a:t>2024.</a:t>
            </a:r>
            <a:r>
              <a:rPr dirty="0" sz="1350" spc="-30"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111111"/>
                </a:solidFill>
                <a:latin typeface="Courier New"/>
                <a:cs typeface="Courier New"/>
              </a:rPr>
              <a:t>However,</a:t>
            </a:r>
            <a:r>
              <a:rPr dirty="0" sz="1350" spc="-2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350" spc="-17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350" spc="-130">
                <a:solidFill>
                  <a:srgbClr val="181818"/>
                </a:solidFill>
                <a:latin typeface="Courier New"/>
                <a:cs typeface="Courier New"/>
              </a:rPr>
              <a:t>can</a:t>
            </a:r>
            <a:r>
              <a:rPr dirty="0" sz="1350" spc="-10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solidFill>
                  <a:srgbClr val="111111"/>
                </a:solidFill>
                <a:latin typeface="Courier New"/>
                <a:cs typeface="Courier New"/>
              </a:rPr>
              <a:t>fetch</a:t>
            </a:r>
            <a:r>
              <a:rPr dirty="0" sz="1350" spc="1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135">
                <a:solidFill>
                  <a:srgbClr val="0F0F0F"/>
                </a:solidFill>
                <a:latin typeface="Courier New"/>
                <a:cs typeface="Courier New"/>
              </a:rPr>
              <a:t>up-to-</a:t>
            </a:r>
            <a:r>
              <a:rPr dirty="0" sz="1350" spc="-130">
                <a:solidFill>
                  <a:srgbClr val="0F0F0F"/>
                </a:solidFill>
                <a:latin typeface="Courier New"/>
                <a:cs typeface="Courier New"/>
              </a:rPr>
              <a:t>date</a:t>
            </a:r>
            <a:r>
              <a:rPr dirty="0" sz="1350" spc="-7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latin typeface="Courier New"/>
                <a:cs typeface="Courier New"/>
              </a:rPr>
              <a:t>information </a:t>
            </a:r>
            <a:r>
              <a:rPr dirty="0" sz="1350" spc="-85">
                <a:solidFill>
                  <a:srgbClr val="0F0F0F"/>
                </a:solidFill>
                <a:latin typeface="Courier New"/>
                <a:cs typeface="Courier New"/>
              </a:rPr>
              <a:t>from</a:t>
            </a:r>
            <a:r>
              <a:rPr dirty="0" sz="1350" spc="-12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30">
                <a:solidFill>
                  <a:srgbClr val="151515"/>
                </a:solidFill>
                <a:latin typeface="Courier New"/>
                <a:cs typeface="Courier New"/>
              </a:rPr>
              <a:t>the</a:t>
            </a:r>
            <a:r>
              <a:rPr dirty="0" sz="1350" spc="-105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161616"/>
                </a:solidFill>
                <a:latin typeface="Courier New"/>
                <a:cs typeface="Courier New"/>
              </a:rPr>
              <a:t>web</a:t>
            </a:r>
            <a:r>
              <a:rPr dirty="0" sz="1350" spc="-13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latin typeface="Courier New"/>
                <a:cs typeface="Courier New"/>
              </a:rPr>
              <a:t>if</a:t>
            </a:r>
            <a:r>
              <a:rPr dirty="0" sz="1350" spc="-160">
                <a:latin typeface="Courier New"/>
                <a:cs typeface="Courier New"/>
              </a:rPr>
              <a:t> </a:t>
            </a:r>
            <a:r>
              <a:rPr dirty="0" sz="1350" spc="-114">
                <a:solidFill>
                  <a:srgbClr val="0C0C0C"/>
                </a:solidFill>
                <a:latin typeface="Courier New"/>
                <a:cs typeface="Courier New"/>
              </a:rPr>
              <a:t>needed.</a:t>
            </a:r>
            <a:r>
              <a:rPr dirty="0" sz="1350" spc="-8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 spc="-114">
                <a:solidFill>
                  <a:srgbClr val="161616"/>
                </a:solidFill>
                <a:latin typeface="Courier New"/>
                <a:cs typeface="Courier New"/>
              </a:rPr>
              <a:t>Let</a:t>
            </a:r>
            <a:r>
              <a:rPr dirty="0" sz="1350" spc="-40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150">
                <a:solidFill>
                  <a:srgbClr val="1A1A1A"/>
                </a:solidFill>
                <a:latin typeface="Courier New"/>
                <a:cs typeface="Courier New"/>
              </a:rPr>
              <a:t>me</a:t>
            </a:r>
            <a:r>
              <a:rPr dirty="0" sz="1350" spc="-12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95">
                <a:solidFill>
                  <a:srgbClr val="0F0F0F"/>
                </a:solidFill>
                <a:latin typeface="Courier New"/>
                <a:cs typeface="Courier New"/>
              </a:rPr>
              <a:t>know</a:t>
            </a:r>
            <a:r>
              <a:rPr dirty="0" sz="1350" spc="-7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50">
                <a:solidFill>
                  <a:srgbClr val="111111"/>
                </a:solidFill>
                <a:latin typeface="Courier New"/>
                <a:cs typeface="Courier New"/>
              </a:rPr>
              <a:t>how</a:t>
            </a:r>
            <a:r>
              <a:rPr dirty="0" sz="1350" spc="-114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81818"/>
                </a:solidFill>
                <a:latin typeface="Courier New"/>
                <a:cs typeface="Courier New"/>
              </a:rPr>
              <a:t>I</a:t>
            </a:r>
            <a:r>
              <a:rPr dirty="0" sz="1350" spc="-18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100">
                <a:solidFill>
                  <a:srgbClr val="151515"/>
                </a:solidFill>
                <a:latin typeface="Courier New"/>
                <a:cs typeface="Courier New"/>
              </a:rPr>
              <a:t>can</a:t>
            </a:r>
            <a:r>
              <a:rPr dirty="0" sz="1350" spc="-75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latin typeface="Courier New"/>
                <a:cs typeface="Courier New"/>
              </a:rPr>
              <a:t>help!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0084" y="5295940"/>
            <a:ext cx="21786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Intelligent</a:t>
            </a:r>
            <a:r>
              <a:rPr dirty="0" sz="1050" spc="19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949"/>
                </a:solidFill>
                <a:latin typeface="Calibri"/>
                <a:cs typeface="Calibri"/>
              </a:rPr>
              <a:t>Applications</a:t>
            </a:r>
            <a:r>
              <a:rPr dirty="0" sz="1050" spc="20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050" spc="1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454"/>
                </a:solidFill>
                <a:latin typeface="Calibri"/>
                <a:cs typeface="Calibri"/>
              </a:rPr>
              <a:t>Spring</a:t>
            </a:r>
            <a:r>
              <a:rPr dirty="0" sz="1050" spc="27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Calibri"/>
                <a:cs typeface="Calibri"/>
              </a:rPr>
              <a:t>AI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86319" y="5295940"/>
            <a:ext cx="17526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65656"/>
                </a:solidFill>
                <a:latin typeface="Consolas"/>
                <a:cs typeface="Consolas"/>
              </a:rPr>
              <a:t>28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</a:pPr>
            <a:r>
              <a:rPr dirty="0" sz="2950" spc="165">
                <a:solidFill>
                  <a:srgbClr val="1FBADA"/>
                </a:solidFill>
                <a:latin typeface="Arial MT"/>
                <a:cs typeface="Arial MT"/>
              </a:rPr>
              <a:t>Limitations</a:t>
            </a:r>
            <a:r>
              <a:rPr dirty="0" sz="2950" spc="180">
                <a:solidFill>
                  <a:srgbClr val="1FBADA"/>
                </a:solidFill>
                <a:latin typeface="Arial MT"/>
                <a:cs typeface="Arial MT"/>
              </a:rPr>
              <a:t> </a:t>
            </a:r>
            <a:r>
              <a:rPr dirty="0" sz="2950" spc="70">
                <a:solidFill>
                  <a:srgbClr val="03A5BC"/>
                </a:solidFill>
                <a:latin typeface="Arial MT"/>
                <a:cs typeface="Arial MT"/>
              </a:rPr>
              <a:t>of</a:t>
            </a:r>
            <a:r>
              <a:rPr dirty="0" sz="2950" spc="114">
                <a:solidFill>
                  <a:srgbClr val="03A5BC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0BAE6"/>
                </a:solidFill>
                <a:latin typeface="Arial MT"/>
                <a:cs typeface="Arial MT"/>
              </a:rPr>
              <a:t>Al</a:t>
            </a:r>
            <a:r>
              <a:rPr dirty="0" sz="2950" spc="254">
                <a:solidFill>
                  <a:srgbClr val="00BAE6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00AFD8"/>
                </a:solidFill>
                <a:latin typeface="Arial MT"/>
                <a:cs typeface="Arial MT"/>
              </a:rPr>
              <a:t>Models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9446" y="1215326"/>
            <a:ext cx="6489700" cy="212598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900">
                <a:solidFill>
                  <a:srgbClr val="111111"/>
                </a:solidFill>
                <a:latin typeface="Arial MT"/>
                <a:cs typeface="Arial MT"/>
              </a:rPr>
              <a:t>Al</a:t>
            </a:r>
            <a:r>
              <a:rPr dirty="0" sz="1900" spc="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models:</a:t>
            </a:r>
            <a:endParaRPr sz="1900">
              <a:latin typeface="Arial MT"/>
              <a:cs typeface="Arial MT"/>
            </a:endParaRPr>
          </a:p>
          <a:p>
            <a:pPr marL="470534" indent="-210185">
              <a:lnSpc>
                <a:spcPct val="100000"/>
              </a:lnSpc>
              <a:spcBef>
                <a:spcPts val="1215"/>
              </a:spcBef>
              <a:buClr>
                <a:srgbClr val="232323"/>
              </a:buClr>
              <a:buChar char="•"/>
              <a:tabLst>
                <a:tab pos="470534" algn="l"/>
              </a:tabLst>
            </a:pPr>
            <a:r>
              <a:rPr dirty="0" sz="2050" spc="-65">
                <a:solidFill>
                  <a:srgbClr val="0C0C0C"/>
                </a:solidFill>
                <a:latin typeface="Arial MT"/>
                <a:cs typeface="Arial MT"/>
              </a:rPr>
              <a:t>Are</a:t>
            </a:r>
            <a:r>
              <a:rPr dirty="0" sz="2050" spc="-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trained</a:t>
            </a:r>
            <a:r>
              <a:rPr dirty="0" sz="205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C0C0C"/>
                </a:solidFill>
                <a:latin typeface="Arial MT"/>
                <a:cs typeface="Arial MT"/>
              </a:rPr>
              <a:t>on</a:t>
            </a:r>
            <a:r>
              <a:rPr dirty="0" sz="20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C0C0C"/>
                </a:solidFill>
                <a:latin typeface="Arial MT"/>
                <a:cs typeface="Arial MT"/>
              </a:rPr>
              <a:t>public</a:t>
            </a:r>
            <a:r>
              <a:rPr dirty="0" sz="2050" spc="1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knowledge</a:t>
            </a:r>
            <a:r>
              <a:rPr dirty="0" sz="2050" spc="145"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0C0C0C"/>
                </a:solidFill>
                <a:latin typeface="Arial MT"/>
                <a:cs typeface="Arial MT"/>
              </a:rPr>
              <a:t>up</a:t>
            </a:r>
            <a:r>
              <a:rPr dirty="0" sz="2050" spc="-9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dirty="0" sz="2050" spc="-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 spc="-275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2050" spc="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61616"/>
                </a:solidFill>
                <a:latin typeface="Arial MT"/>
                <a:cs typeface="Arial MT"/>
              </a:rPr>
              <a:t>certain</a:t>
            </a:r>
            <a:r>
              <a:rPr dirty="0" sz="2050" spc="-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111111"/>
                </a:solidFill>
                <a:latin typeface="Arial MT"/>
                <a:cs typeface="Arial MT"/>
              </a:rPr>
              <a:t>date</a:t>
            </a:r>
            <a:endParaRPr sz="2050">
              <a:latin typeface="Arial MT"/>
              <a:cs typeface="Arial MT"/>
            </a:endParaRPr>
          </a:p>
          <a:p>
            <a:pPr marL="464184" indent="-203835">
              <a:lnSpc>
                <a:spcPct val="100000"/>
              </a:lnSpc>
              <a:spcBef>
                <a:spcPts val="685"/>
              </a:spcBef>
              <a:buClr>
                <a:srgbClr val="1C1C1C"/>
              </a:buClr>
              <a:buChar char="•"/>
              <a:tabLst>
                <a:tab pos="464184" algn="l"/>
              </a:tabLst>
            </a:pPr>
            <a:r>
              <a:rPr dirty="0" sz="2050" spc="-70">
                <a:solidFill>
                  <a:srgbClr val="151515"/>
                </a:solidFill>
                <a:latin typeface="Arial MT"/>
                <a:cs typeface="Arial MT"/>
              </a:rPr>
              <a:t>They</a:t>
            </a:r>
            <a:r>
              <a:rPr dirty="0" sz="2050" spc="-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don't</a:t>
            </a:r>
            <a:r>
              <a:rPr dirty="0" sz="20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know</a:t>
            </a:r>
            <a:r>
              <a:rPr dirty="0" sz="2050" spc="-2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about</a:t>
            </a:r>
            <a:r>
              <a:rPr dirty="0" sz="2050" spc="-4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your</a:t>
            </a:r>
            <a:r>
              <a:rPr dirty="0" sz="2050" spc="5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private</a:t>
            </a:r>
            <a:r>
              <a:rPr dirty="0" sz="2050" spc="-4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/</a:t>
            </a:r>
            <a:r>
              <a:rPr dirty="0" sz="2050" spc="-60"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0E0E0E"/>
                </a:solidFill>
                <a:latin typeface="Arial MT"/>
                <a:cs typeface="Arial MT"/>
              </a:rPr>
              <a:t>corporate</a:t>
            </a:r>
            <a:r>
              <a:rPr dirty="0" sz="2050" spc="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endParaRPr sz="2050">
              <a:latin typeface="Arial MT"/>
              <a:cs typeface="Arial MT"/>
            </a:endParaRPr>
          </a:p>
          <a:p>
            <a:pPr marL="466090" indent="-205740">
              <a:lnSpc>
                <a:spcPct val="100000"/>
              </a:lnSpc>
              <a:spcBef>
                <a:spcPts val="735"/>
              </a:spcBef>
              <a:buClr>
                <a:srgbClr val="1A1A1A"/>
              </a:buClr>
              <a:buChar char="•"/>
              <a:tabLst>
                <a:tab pos="466090" algn="l"/>
              </a:tabLst>
            </a:pPr>
            <a:r>
              <a:rPr dirty="0" sz="2000">
                <a:solidFill>
                  <a:srgbClr val="131313"/>
                </a:solidFill>
                <a:latin typeface="Arial MT"/>
                <a:cs typeface="Arial MT"/>
              </a:rPr>
              <a:t>Don't</a:t>
            </a:r>
            <a:r>
              <a:rPr dirty="0" sz="2000" spc="10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have</a:t>
            </a:r>
            <a:r>
              <a:rPr dirty="0" sz="2000" spc="50">
                <a:latin typeface="Arial MT"/>
                <a:cs typeface="Arial MT"/>
              </a:rPr>
              <a:t> </a:t>
            </a:r>
            <a:r>
              <a:rPr dirty="0" sz="2000" spc="-90">
                <a:latin typeface="Arial MT"/>
                <a:cs typeface="Arial MT"/>
              </a:rPr>
              <a:t>access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7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F0F0F"/>
                </a:solidFill>
                <a:latin typeface="Arial MT"/>
                <a:cs typeface="Arial MT"/>
              </a:rPr>
              <a:t>realtime</a:t>
            </a:r>
            <a:r>
              <a:rPr dirty="0" sz="200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460375" indent="-200025">
              <a:lnSpc>
                <a:spcPct val="100000"/>
              </a:lnSpc>
              <a:spcBef>
                <a:spcPts val="770"/>
              </a:spcBef>
              <a:buClr>
                <a:srgbClr val="1C1C1C"/>
              </a:buClr>
              <a:buChar char="•"/>
              <a:tabLst>
                <a:tab pos="460375" algn="l"/>
              </a:tabLst>
            </a:pPr>
            <a:r>
              <a:rPr dirty="0" sz="2000">
                <a:solidFill>
                  <a:srgbClr val="0E0E0E"/>
                </a:solidFill>
                <a:latin typeface="Arial MT"/>
                <a:cs typeface="Arial MT"/>
              </a:rPr>
              <a:t>Can't</a:t>
            </a:r>
            <a:r>
              <a:rPr dirty="0" sz="200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11111"/>
                </a:solidFill>
                <a:latin typeface="Arial MT"/>
                <a:cs typeface="Arial MT"/>
              </a:rPr>
              <a:t>learn</a:t>
            </a:r>
            <a:r>
              <a:rPr dirty="0" sz="20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616"/>
                </a:solidFill>
                <a:latin typeface="Arial MT"/>
                <a:cs typeface="Arial MT"/>
              </a:rPr>
              <a:t>from</a:t>
            </a:r>
            <a:r>
              <a:rPr dirty="0" sz="2000" spc="-3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616"/>
                </a:solidFill>
                <a:latin typeface="Arial MT"/>
                <a:cs typeface="Arial MT"/>
              </a:rPr>
              <a:t>your</a:t>
            </a:r>
            <a:r>
              <a:rPr dirty="0" sz="2000" spc="8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83" y="5359706"/>
            <a:ext cx="2133600" cy="1036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224" y="475354"/>
            <a:ext cx="3860165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6250" algn="l"/>
              </a:tabLst>
            </a:pPr>
            <a:r>
              <a:rPr dirty="0" sz="2950" spc="160">
                <a:solidFill>
                  <a:srgbClr val="16BFDA"/>
                </a:solidFill>
                <a:latin typeface="Arial MT"/>
                <a:cs typeface="Arial MT"/>
              </a:rPr>
              <a:t>Bring</a:t>
            </a:r>
            <a:r>
              <a:rPr dirty="0" sz="2950" spc="125">
                <a:solidFill>
                  <a:srgbClr val="16BFDA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0B1D4"/>
                </a:solidFill>
                <a:latin typeface="Arial MT"/>
                <a:cs typeface="Arial MT"/>
              </a:rPr>
              <a:t>Vour</a:t>
            </a:r>
            <a:r>
              <a:rPr dirty="0" sz="2950" spc="200">
                <a:solidFill>
                  <a:srgbClr val="00B1D4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13ACD8"/>
                </a:solidFill>
                <a:latin typeface="Arial MT"/>
                <a:cs typeface="Arial MT"/>
              </a:rPr>
              <a:t>Own</a:t>
            </a:r>
            <a:r>
              <a:rPr dirty="0" sz="2950">
                <a:solidFill>
                  <a:srgbClr val="13ACD8"/>
                </a:solidFill>
                <a:latin typeface="Arial MT"/>
                <a:cs typeface="Arial MT"/>
              </a:rPr>
              <a:t>	</a:t>
            </a:r>
            <a:r>
              <a:rPr dirty="0" sz="2950" spc="50">
                <a:solidFill>
                  <a:srgbClr val="16A3CC"/>
                </a:solidFill>
                <a:latin typeface="Arial MT"/>
                <a:cs typeface="Arial MT"/>
              </a:rPr>
              <a:t>Data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2010" y="1178477"/>
            <a:ext cx="4787900" cy="255778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050" spc="-135">
                <a:latin typeface="Arial MT"/>
                <a:cs typeface="Arial MT"/>
              </a:rPr>
              <a:t>Ways</a:t>
            </a:r>
            <a:r>
              <a:rPr dirty="0" sz="2050" spc="-4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dirty="0" sz="2050" spc="-10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81818"/>
                </a:solidFill>
                <a:latin typeface="Arial MT"/>
                <a:cs typeface="Arial MT"/>
              </a:rPr>
              <a:t>using</a:t>
            </a:r>
            <a:r>
              <a:rPr dirty="0" sz="2050" spc="-1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81818"/>
                </a:solidFill>
                <a:latin typeface="Arial MT"/>
                <a:cs typeface="Arial MT"/>
              </a:rPr>
              <a:t>your</a:t>
            </a:r>
            <a:r>
              <a:rPr dirty="0" sz="2050" spc="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dirty="0" sz="2050" spc="1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61616"/>
                </a:solidFill>
                <a:latin typeface="Arial MT"/>
                <a:cs typeface="Arial MT"/>
              </a:rPr>
              <a:t>in</a:t>
            </a:r>
            <a:r>
              <a:rPr dirty="0" sz="2050" spc="-7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1C1C1C"/>
                </a:solidFill>
                <a:latin typeface="Arial MT"/>
                <a:cs typeface="Arial MT"/>
              </a:rPr>
              <a:t>AI</a:t>
            </a:r>
            <a:r>
              <a:rPr dirty="0" sz="2050" spc="-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151515"/>
                </a:solidFill>
                <a:latin typeface="Arial MT"/>
                <a:cs typeface="Arial MT"/>
              </a:rPr>
              <a:t>applications:</a:t>
            </a:r>
            <a:endParaRPr sz="2050">
              <a:latin typeface="Arial MT"/>
              <a:cs typeface="Arial MT"/>
            </a:endParaRPr>
          </a:p>
          <a:p>
            <a:pPr marL="458470" indent="-200660">
              <a:lnSpc>
                <a:spcPct val="100000"/>
              </a:lnSpc>
              <a:spcBef>
                <a:spcPts val="1235"/>
              </a:spcBef>
              <a:buClr>
                <a:srgbClr val="232323"/>
              </a:buClr>
              <a:buChar char="•"/>
              <a:tabLst>
                <a:tab pos="458470" algn="l"/>
              </a:tabLst>
            </a:pPr>
            <a:r>
              <a:rPr dirty="0" sz="2000" spc="-35">
                <a:solidFill>
                  <a:srgbClr val="151515"/>
                </a:solidFill>
                <a:latin typeface="Arial MT"/>
                <a:cs typeface="Arial MT"/>
              </a:rPr>
              <a:t>Train</a:t>
            </a:r>
            <a:r>
              <a:rPr dirty="0" sz="2000" spc="2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75"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161616"/>
                </a:solidFill>
                <a:latin typeface="Arial MT"/>
                <a:cs typeface="Arial MT"/>
              </a:rPr>
              <a:t>(X)</a:t>
            </a:r>
            <a:endParaRPr sz="2000">
              <a:latin typeface="Arial MT"/>
              <a:cs typeface="Arial MT"/>
            </a:endParaRPr>
          </a:p>
          <a:p>
            <a:pPr marL="462280" indent="-204470">
              <a:lnSpc>
                <a:spcPct val="100000"/>
              </a:lnSpc>
              <a:spcBef>
                <a:spcPts val="770"/>
              </a:spcBef>
              <a:buClr>
                <a:srgbClr val="1C1C1C"/>
              </a:buClr>
              <a:buChar char="•"/>
              <a:tabLst>
                <a:tab pos="462280" algn="l"/>
              </a:tabLst>
            </a:pPr>
            <a:r>
              <a:rPr dirty="0" sz="2000" spc="-10">
                <a:latin typeface="Arial MT"/>
                <a:cs typeface="Arial MT"/>
              </a:rPr>
              <a:t>Fine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60">
                <a:latin typeface="Arial MT"/>
                <a:cs typeface="Arial MT"/>
              </a:rPr>
              <a:t>tune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existing</a:t>
            </a:r>
            <a:r>
              <a:rPr dirty="0" sz="2000" spc="11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11111"/>
                </a:solidFill>
                <a:latin typeface="Arial MT"/>
                <a:cs typeface="Arial MT"/>
              </a:rPr>
              <a:t>models</a:t>
            </a:r>
            <a:r>
              <a:rPr dirty="0" sz="200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baseline="1388" sz="3000" spc="-37">
                <a:solidFill>
                  <a:srgbClr val="1A1A1A"/>
                </a:solidFill>
                <a:latin typeface="Arial MT"/>
                <a:cs typeface="Arial MT"/>
              </a:rPr>
              <a:t>(</a:t>
            </a:r>
            <a:r>
              <a:rPr dirty="0" sz="2000" spc="-25">
                <a:solidFill>
                  <a:srgbClr val="1A1A1A"/>
                </a:solidFill>
                <a:latin typeface="Arial MT"/>
                <a:cs typeface="Arial MT"/>
              </a:rPr>
              <a:t>X)</a:t>
            </a:r>
            <a:endParaRPr sz="2000">
              <a:latin typeface="Arial MT"/>
              <a:cs typeface="Arial MT"/>
            </a:endParaRPr>
          </a:p>
          <a:p>
            <a:pPr marL="466090" indent="-207645">
              <a:lnSpc>
                <a:spcPct val="100000"/>
              </a:lnSpc>
              <a:spcBef>
                <a:spcPts val="819"/>
              </a:spcBef>
              <a:buClr>
                <a:srgbClr val="1A1A1A"/>
              </a:buClr>
              <a:buChar char="•"/>
              <a:tabLst>
                <a:tab pos="466090" algn="l"/>
              </a:tabLst>
            </a:pPr>
            <a:r>
              <a:rPr dirty="0" sz="1900">
                <a:solidFill>
                  <a:srgbClr val="0F0F0F"/>
                </a:solidFill>
                <a:latin typeface="Arial MT"/>
                <a:cs typeface="Arial MT"/>
              </a:rPr>
              <a:t>"StuP</a:t>
            </a:r>
            <a:r>
              <a:rPr dirty="0" sz="1900" spc="-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380"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161616"/>
                </a:solidFill>
                <a:latin typeface="Arial MT"/>
                <a:cs typeface="Arial MT"/>
              </a:rPr>
              <a:t>prompt"</a:t>
            </a:r>
            <a:r>
              <a:rPr dirty="0" sz="1900" spc="24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900" spc="-254">
                <a:latin typeface="Arial MT"/>
                <a:cs typeface="Arial MT"/>
              </a:rPr>
              <a:t>(</a:t>
            </a:r>
            <a:r>
              <a:rPr dirty="0" sz="1900" spc="-1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...’)</a:t>
            </a:r>
            <a:endParaRPr sz="1900">
              <a:latin typeface="Arial MT"/>
              <a:cs typeface="Arial MT"/>
            </a:endParaRPr>
          </a:p>
          <a:p>
            <a:pPr marL="462915" indent="-205104">
              <a:lnSpc>
                <a:spcPct val="100000"/>
              </a:lnSpc>
              <a:spcBef>
                <a:spcPts val="790"/>
              </a:spcBef>
              <a:buClr>
                <a:srgbClr val="1C1C1C"/>
              </a:buClr>
              <a:buChar char="•"/>
              <a:tabLst>
                <a:tab pos="462915" algn="l"/>
                <a:tab pos="4627245" algn="l"/>
              </a:tabLst>
            </a:pPr>
            <a:r>
              <a:rPr dirty="0" sz="2000" spc="-20">
                <a:latin typeface="Arial MT"/>
                <a:cs typeface="Arial MT"/>
              </a:rPr>
              <a:t>Retrieval</a:t>
            </a:r>
            <a:r>
              <a:rPr dirty="0" sz="2000" spc="15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C0C0C"/>
                </a:solidFill>
                <a:latin typeface="Arial MT"/>
                <a:cs typeface="Arial MT"/>
              </a:rPr>
              <a:t>Augmented</a:t>
            </a:r>
            <a:r>
              <a:rPr dirty="0" sz="2000" spc="1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Generation</a:t>
            </a:r>
            <a:r>
              <a:rPr dirty="0" sz="2000" spc="190">
                <a:latin typeface="Arial MT"/>
                <a:cs typeface="Arial MT"/>
              </a:rPr>
              <a:t> </a:t>
            </a:r>
            <a:r>
              <a:rPr dirty="0" sz="2000" spc="-325">
                <a:solidFill>
                  <a:srgbClr val="1A1A1A"/>
                </a:solidFill>
                <a:latin typeface="Arial MT"/>
                <a:cs typeface="Arial MT"/>
              </a:rPr>
              <a:t>(</a:t>
            </a:r>
            <a:r>
              <a:rPr dirty="0" sz="20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000" spc="-50">
                <a:solidFill>
                  <a:srgbClr val="212121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462915" indent="-204470">
              <a:lnSpc>
                <a:spcPct val="100000"/>
              </a:lnSpc>
              <a:spcBef>
                <a:spcPts val="770"/>
              </a:spcBef>
              <a:buClr>
                <a:srgbClr val="0E0E0E"/>
              </a:buClr>
              <a:buChar char="•"/>
              <a:tabLst>
                <a:tab pos="462915" algn="l"/>
              </a:tabLst>
            </a:pPr>
            <a:r>
              <a:rPr dirty="0" sz="1950">
                <a:latin typeface="Arial MT"/>
                <a:cs typeface="Arial MT"/>
              </a:rPr>
              <a:t>Function</a:t>
            </a:r>
            <a:r>
              <a:rPr dirty="0" sz="1950" spc="2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calling</a:t>
            </a:r>
            <a:r>
              <a:rPr dirty="0" sz="1950" spc="409">
                <a:latin typeface="Arial MT"/>
                <a:cs typeface="Arial MT"/>
              </a:rPr>
              <a:t> </a:t>
            </a:r>
            <a:r>
              <a:rPr dirty="0" sz="1950" spc="-155">
                <a:solidFill>
                  <a:srgbClr val="0E0E0E"/>
                </a:solidFill>
                <a:latin typeface="Arial MT"/>
                <a:cs typeface="Arial MT"/>
              </a:rPr>
              <a:t>(/.:.</a:t>
            </a:r>
            <a:r>
              <a:rPr dirty="0" sz="195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950" spc="-320">
                <a:solidFill>
                  <a:srgbClr val="0E0E0E"/>
                </a:solidFill>
                <a:latin typeface="Arial MT"/>
                <a:cs typeface="Arial MT"/>
              </a:rPr>
              <a:t>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31877" y="5302546"/>
            <a:ext cx="11430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50">
                <a:solidFill>
                  <a:srgbClr val="5B5B5B"/>
                </a:solidFill>
                <a:latin typeface="Consolas"/>
                <a:cs typeface="Consolas"/>
              </a:rPr>
              <a:t>Al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1560961"/>
            <a:ext cx="1895856" cy="2256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950" spc="-110">
                <a:solidFill>
                  <a:srgbClr val="0CA1BF"/>
                </a:solidFill>
                <a:latin typeface="Arial MT"/>
                <a:cs typeface="Arial MT"/>
              </a:rPr>
              <a:t>3a'va</a:t>
            </a:r>
            <a:r>
              <a:rPr dirty="0" sz="2950" spc="130">
                <a:solidFill>
                  <a:srgbClr val="0CA1BF"/>
                </a:solidFill>
                <a:latin typeface="Arial MT"/>
                <a:cs typeface="Arial MT"/>
              </a:rPr>
              <a:t> </a:t>
            </a:r>
            <a:r>
              <a:rPr dirty="0" sz="2950" spc="160">
                <a:solidFill>
                  <a:srgbClr val="24A5C1"/>
                </a:solidFill>
                <a:latin typeface="Arial MT"/>
                <a:cs typeface="Arial MT"/>
              </a:rPr>
              <a:t>and</a:t>
            </a:r>
            <a:r>
              <a:rPr dirty="0" sz="2950" spc="-50">
                <a:solidFill>
                  <a:srgbClr val="24A5C1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00BADD"/>
                </a:solidFill>
                <a:latin typeface="Arial MT"/>
                <a:cs typeface="Arial MT"/>
              </a:rPr>
              <a:t>AI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316" y="1833065"/>
            <a:ext cx="6055360" cy="295211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696595" indent="-207645">
              <a:lnSpc>
                <a:spcPct val="100000"/>
              </a:lnSpc>
              <a:spcBef>
                <a:spcPts val="1025"/>
              </a:spcBef>
              <a:buClr>
                <a:srgbClr val="777777"/>
              </a:buClr>
              <a:buChar char="•"/>
              <a:tabLst>
                <a:tab pos="696595" algn="l"/>
              </a:tabLst>
            </a:pPr>
            <a:r>
              <a:rPr dirty="0" sz="1850">
                <a:solidFill>
                  <a:srgbClr val="161616"/>
                </a:solidFill>
                <a:latin typeface="Arial MT"/>
                <a:cs typeface="Arial MT"/>
              </a:rPr>
              <a:t>AI</a:t>
            </a:r>
            <a:r>
              <a:rPr dirty="0" sz="1850" spc="9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 spc="85">
                <a:latin typeface="Arial MT"/>
                <a:cs typeface="Arial MT"/>
              </a:rPr>
              <a:t>becomes</a:t>
            </a:r>
            <a:r>
              <a:rPr dirty="0" sz="1850" spc="125">
                <a:latin typeface="Arial MT"/>
                <a:cs typeface="Arial MT"/>
              </a:rPr>
              <a:t> </a:t>
            </a:r>
            <a:r>
              <a:rPr dirty="0" sz="1850" spc="105">
                <a:solidFill>
                  <a:srgbClr val="0C0C0C"/>
                </a:solidFill>
                <a:latin typeface="Arial MT"/>
                <a:cs typeface="Arial MT"/>
              </a:rPr>
              <a:t>ubiquitous</a:t>
            </a:r>
            <a:r>
              <a:rPr dirty="0" sz="1850" spc="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0F0F0F"/>
                </a:solidFill>
                <a:latin typeface="Arial MT"/>
                <a:cs typeface="Arial MT"/>
              </a:rPr>
              <a:t>across</a:t>
            </a:r>
            <a:r>
              <a:rPr dirty="0" sz="18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1850" spc="4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D1D1D"/>
                </a:solidFill>
                <a:latin typeface="Arial MT"/>
                <a:cs typeface="Arial MT"/>
              </a:rPr>
              <a:t>IT</a:t>
            </a:r>
            <a:r>
              <a:rPr dirty="0" sz="1850" spc="5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850" spc="40">
                <a:solidFill>
                  <a:srgbClr val="111111"/>
                </a:solidFill>
                <a:latin typeface="Arial MT"/>
                <a:cs typeface="Arial MT"/>
              </a:rPr>
              <a:t>landscape</a:t>
            </a:r>
            <a:endParaRPr sz="1850">
              <a:latin typeface="Arial MT"/>
              <a:cs typeface="Arial MT"/>
            </a:endParaRPr>
          </a:p>
          <a:p>
            <a:pPr marL="688340" indent="-194945">
              <a:lnSpc>
                <a:spcPct val="100000"/>
              </a:lnSpc>
              <a:spcBef>
                <a:spcPts val="925"/>
              </a:spcBef>
              <a:buClr>
                <a:srgbClr val="313131"/>
              </a:buClr>
              <a:buChar char="o"/>
              <a:tabLst>
                <a:tab pos="688340" algn="l"/>
                <a:tab pos="1943100" algn="l"/>
              </a:tabLst>
            </a:pPr>
            <a:r>
              <a:rPr dirty="0" sz="1850">
                <a:latin typeface="Arial MT"/>
                <a:cs typeface="Arial MT"/>
              </a:rPr>
              <a:t>Java</a:t>
            </a:r>
            <a:r>
              <a:rPr dirty="0" sz="1850" spc="75"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81818"/>
                </a:solidFill>
                <a:latin typeface="Arial MT"/>
                <a:cs typeface="Arial MT"/>
              </a:rPr>
              <a:t>is</a:t>
            </a:r>
            <a:r>
              <a:rPr dirty="0" sz="1850" spc="-7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the</a:t>
            </a: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80">
                <a:solidFill>
                  <a:srgbClr val="0C0C0C"/>
                </a:solidFill>
                <a:latin typeface="Arial MT"/>
                <a:cs typeface="Arial MT"/>
              </a:rPr>
              <a:t>language</a:t>
            </a:r>
            <a:r>
              <a:rPr dirty="0" sz="1850" spc="1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50" spc="50">
                <a:solidFill>
                  <a:srgbClr val="161616"/>
                </a:solidFill>
                <a:latin typeface="Arial MT"/>
                <a:cs typeface="Arial MT"/>
              </a:rPr>
              <a:t>of</a:t>
            </a:r>
            <a:r>
              <a:rPr dirty="0" sz="1850" spc="4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 spc="55">
                <a:solidFill>
                  <a:srgbClr val="131313"/>
                </a:solidFill>
                <a:latin typeface="Arial MT"/>
                <a:cs typeface="Arial MT"/>
              </a:rPr>
              <a:t>enterprise</a:t>
            </a:r>
            <a:endParaRPr sz="1850">
              <a:latin typeface="Arial MT"/>
              <a:cs typeface="Arial MT"/>
            </a:endParaRPr>
          </a:p>
          <a:p>
            <a:pPr marL="695325" indent="-201930">
              <a:lnSpc>
                <a:spcPct val="100000"/>
              </a:lnSpc>
              <a:spcBef>
                <a:spcPts val="944"/>
              </a:spcBef>
              <a:buClr>
                <a:srgbClr val="212121"/>
              </a:buClr>
              <a:buChar char="o"/>
              <a:tabLst>
                <a:tab pos="695325" algn="l"/>
              </a:tabLst>
            </a:pPr>
            <a:r>
              <a:rPr dirty="0" sz="1850" spc="70">
                <a:latin typeface="Arial MT"/>
                <a:cs typeface="Arial MT"/>
              </a:rPr>
              <a:t>Creating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51515"/>
                </a:solidFill>
                <a:latin typeface="Arial MT"/>
                <a:cs typeface="Arial MT"/>
              </a:rPr>
              <a:t>Java</a:t>
            </a:r>
            <a:r>
              <a:rPr dirty="0" sz="1850" spc="12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0E0E0E"/>
                </a:solidFill>
                <a:latin typeface="Arial MT"/>
                <a:cs typeface="Arial MT"/>
              </a:rPr>
              <a:t>AI</a:t>
            </a:r>
            <a:r>
              <a:rPr dirty="0" sz="185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850" spc="60">
                <a:latin typeface="Arial MT"/>
                <a:cs typeface="Arial MT"/>
              </a:rPr>
              <a:t>apps</a:t>
            </a:r>
            <a:r>
              <a:rPr dirty="0" sz="1850" spc="-10"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D1D1D"/>
                </a:solidFill>
                <a:latin typeface="Arial MT"/>
                <a:cs typeface="Arial MT"/>
              </a:rPr>
              <a:t>is</a:t>
            </a:r>
            <a:r>
              <a:rPr dirty="0" sz="1850" spc="-4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1850" spc="9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850" spc="105">
                <a:solidFill>
                  <a:srgbClr val="161616"/>
                </a:solidFill>
                <a:latin typeface="Arial MT"/>
                <a:cs typeface="Arial MT"/>
              </a:rPr>
              <a:t>new</a:t>
            </a:r>
            <a:r>
              <a:rPr dirty="0" sz="1850" spc="3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 spc="90">
                <a:solidFill>
                  <a:srgbClr val="0C0C0C"/>
                </a:solidFill>
                <a:latin typeface="Arial MT"/>
                <a:cs typeface="Arial MT"/>
              </a:rPr>
              <a:t>requirement</a:t>
            </a:r>
            <a:endParaRPr sz="1850">
              <a:latin typeface="Arial MT"/>
              <a:cs typeface="Arial MT"/>
            </a:endParaRPr>
          </a:p>
          <a:p>
            <a:pPr marL="240665" indent="-202565">
              <a:lnSpc>
                <a:spcPct val="100000"/>
              </a:lnSpc>
              <a:spcBef>
                <a:spcPts val="1455"/>
              </a:spcBef>
              <a:buClr>
                <a:srgbClr val="1F1F1F"/>
              </a:buClr>
              <a:buChar char="•"/>
              <a:tabLst>
                <a:tab pos="240665" algn="l"/>
              </a:tabLst>
            </a:pPr>
            <a:r>
              <a:rPr dirty="0" sz="1850" spc="75">
                <a:solidFill>
                  <a:srgbClr val="131313"/>
                </a:solidFill>
                <a:latin typeface="Arial MT"/>
                <a:cs typeface="Arial MT"/>
              </a:rPr>
              <a:t>Spring</a:t>
            </a:r>
            <a:r>
              <a:rPr dirty="0" sz="1850" spc="1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A1A1A"/>
                </a:solidFill>
                <a:latin typeface="Arial MT"/>
                <a:cs typeface="Arial MT"/>
              </a:rPr>
              <a:t>AI, </a:t>
            </a:r>
            <a:r>
              <a:rPr dirty="0" sz="1850" spc="55">
                <a:latin typeface="Arial MT"/>
                <a:cs typeface="Arial MT"/>
              </a:rPr>
              <a:t>LangChain4j,</a:t>
            </a:r>
            <a:r>
              <a:rPr dirty="0" sz="1850" spc="114">
                <a:latin typeface="Arial MT"/>
                <a:cs typeface="Arial MT"/>
              </a:rPr>
              <a:t> </a:t>
            </a:r>
            <a:r>
              <a:rPr dirty="0" sz="1850" spc="75">
                <a:latin typeface="Arial MT"/>
                <a:cs typeface="Arial MT"/>
              </a:rPr>
              <a:t>Semantic</a:t>
            </a:r>
            <a:r>
              <a:rPr dirty="0" sz="1850" spc="245">
                <a:latin typeface="Arial MT"/>
                <a:cs typeface="Arial MT"/>
              </a:rPr>
              <a:t> </a:t>
            </a:r>
            <a:r>
              <a:rPr dirty="0" sz="1850" spc="-10">
                <a:solidFill>
                  <a:srgbClr val="0F0F0F"/>
                </a:solidFill>
                <a:latin typeface="Arial MT"/>
                <a:cs typeface="Arial MT"/>
              </a:rPr>
              <a:t>Kernel</a:t>
            </a:r>
            <a:endParaRPr sz="1850">
              <a:latin typeface="Arial MT"/>
              <a:cs typeface="Arial MT"/>
            </a:endParaRPr>
          </a:p>
          <a:p>
            <a:pPr lvl="1" marL="695960" indent="-202565">
              <a:lnSpc>
                <a:spcPct val="100000"/>
              </a:lnSpc>
              <a:spcBef>
                <a:spcPts val="1305"/>
              </a:spcBef>
              <a:buClr>
                <a:srgbClr val="181818"/>
              </a:buClr>
              <a:buChar char="o"/>
              <a:tabLst>
                <a:tab pos="695960" algn="l"/>
              </a:tabLst>
            </a:pPr>
            <a:r>
              <a:rPr dirty="0" sz="1950">
                <a:solidFill>
                  <a:srgbClr val="0F0F0F"/>
                </a:solidFill>
                <a:latin typeface="Arial MT"/>
                <a:cs typeface="Arial MT"/>
              </a:rPr>
              <a:t>Simplify</a:t>
            </a:r>
            <a:r>
              <a:rPr dirty="0" sz="1950" spc="1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F0F0F"/>
                </a:solidFill>
                <a:latin typeface="Arial MT"/>
                <a:cs typeface="Arial MT"/>
              </a:rPr>
              <a:t>AI</a:t>
            </a:r>
            <a:r>
              <a:rPr dirty="0" sz="19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131313"/>
                </a:solidFill>
                <a:latin typeface="Arial MT"/>
                <a:cs typeface="Arial MT"/>
              </a:rPr>
              <a:t>integration</a:t>
            </a:r>
            <a:endParaRPr sz="1950">
              <a:latin typeface="Arial MT"/>
              <a:cs typeface="Arial MT"/>
            </a:endParaRPr>
          </a:p>
          <a:p>
            <a:pPr lvl="1" marL="701675" indent="-208279">
              <a:lnSpc>
                <a:spcPct val="100000"/>
              </a:lnSpc>
              <a:spcBef>
                <a:spcPts val="850"/>
              </a:spcBef>
              <a:buClr>
                <a:srgbClr val="262626"/>
              </a:buClr>
              <a:buChar char="o"/>
              <a:tabLst>
                <a:tab pos="701675" algn="l"/>
              </a:tabLst>
            </a:pPr>
            <a:r>
              <a:rPr dirty="0" sz="1950">
                <a:latin typeface="Arial MT"/>
                <a:cs typeface="Arial MT"/>
              </a:rPr>
              <a:t>Provide</a:t>
            </a:r>
            <a:r>
              <a:rPr dirty="0" sz="1950" spc="10"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9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950" spc="45">
                <a:latin typeface="Arial MT"/>
                <a:cs typeface="Arial MT"/>
              </a:rPr>
              <a:t>unified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1C1C1C"/>
                </a:solidFill>
                <a:latin typeface="Arial MT"/>
                <a:cs typeface="Arial MT"/>
              </a:rPr>
              <a:t>API</a:t>
            </a:r>
            <a:endParaRPr sz="1950">
              <a:latin typeface="Arial MT"/>
              <a:cs typeface="Arial MT"/>
            </a:endParaRPr>
          </a:p>
          <a:p>
            <a:pPr lvl="1" marL="695960" indent="-202565">
              <a:lnSpc>
                <a:spcPct val="100000"/>
              </a:lnSpc>
              <a:spcBef>
                <a:spcPts val="735"/>
              </a:spcBef>
              <a:buClr>
                <a:srgbClr val="6E6E6E"/>
              </a:buClr>
              <a:buChar char="o"/>
              <a:tabLst>
                <a:tab pos="695960" algn="l"/>
              </a:tabLst>
            </a:pPr>
            <a:r>
              <a:rPr dirty="0" sz="1950">
                <a:solidFill>
                  <a:srgbClr val="0F0F0F"/>
                </a:solidFill>
                <a:latin typeface="Arial MT"/>
                <a:cs typeface="Arial MT"/>
              </a:rPr>
              <a:t>Support</a:t>
            </a:r>
            <a:r>
              <a:rPr dirty="0" sz="1950" spc="2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50" spc="75">
                <a:solidFill>
                  <a:srgbClr val="0E0E0E"/>
                </a:solidFill>
                <a:latin typeface="Arial MT"/>
                <a:cs typeface="Arial MT"/>
              </a:rPr>
              <a:t>multiple</a:t>
            </a:r>
            <a:r>
              <a:rPr dirty="0" sz="1950" spc="9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195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F0F0F"/>
                </a:solidFill>
                <a:latin typeface="Arial MT"/>
                <a:cs typeface="Arial MT"/>
              </a:rPr>
              <a:t>providers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2239" y="2408514"/>
            <a:ext cx="1011936" cy="8963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50" spc="55">
                <a:solidFill>
                  <a:srgbClr val="6EB136"/>
                </a:solidFill>
                <a:latin typeface="Arial MT"/>
                <a:cs typeface="Arial MT"/>
              </a:rPr>
              <a:t>Spring</a:t>
            </a:r>
            <a:r>
              <a:rPr dirty="0" sz="3250" spc="10">
                <a:solidFill>
                  <a:srgbClr val="6EB136"/>
                </a:solidFill>
                <a:latin typeface="Arial MT"/>
                <a:cs typeface="Arial MT"/>
              </a:rPr>
              <a:t> </a:t>
            </a:r>
            <a:r>
              <a:rPr dirty="0" sz="3250" spc="110">
                <a:solidFill>
                  <a:srgbClr val="60AE36"/>
                </a:solidFill>
                <a:latin typeface="Arial MT"/>
                <a:cs typeface="Arial MT"/>
              </a:rPr>
              <a:t>Al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3672" y="5015963"/>
            <a:ext cx="227266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0">
                <a:latin typeface="Arial MT"/>
                <a:cs typeface="Arial MT"/>
              </a:rPr>
              <a:t>See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2A2A"/>
                </a:solidFill>
                <a:latin typeface="Arial MT"/>
                <a:cs typeface="Arial MT"/>
              </a:rPr>
              <a:t>Spring</a:t>
            </a:r>
            <a:r>
              <a:rPr dirty="0" sz="950" spc="13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32323"/>
                </a:solidFill>
                <a:latin typeface="Arial MT"/>
                <a:cs typeface="Arial MT"/>
              </a:rPr>
              <a:t>AI</a:t>
            </a:r>
            <a:r>
              <a:rPr dirty="0" sz="950" spc="3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F1F1F"/>
                </a:solidFill>
                <a:latin typeface="Arial MT"/>
                <a:cs typeface="Arial MT"/>
              </a:rPr>
              <a:t>on</a:t>
            </a:r>
            <a:r>
              <a:rPr dirty="0" sz="950" spc="15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8A8A8"/>
                </a:solidFill>
                <a:latin typeface="Arial MT"/>
                <a:cs typeface="Arial MT"/>
              </a:rPr>
              <a:t>GitHub</a:t>
            </a:r>
            <a:r>
              <a:rPr dirty="0" sz="950" spc="7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2A2A"/>
                </a:solidFill>
                <a:latin typeface="Arial MT"/>
                <a:cs typeface="Arial MT"/>
              </a:rPr>
              <a:t>or</a:t>
            </a:r>
            <a:r>
              <a:rPr dirty="0" sz="950" spc="8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2A2A"/>
                </a:solidFill>
                <a:latin typeface="Arial MT"/>
                <a:cs typeface="Arial MT"/>
              </a:rPr>
              <a:t>on</a:t>
            </a:r>
            <a:r>
              <a:rPr dirty="0" sz="950" spc="5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50" spc="-45">
                <a:solidFill>
                  <a:srgbClr val="494949"/>
                </a:solidFill>
                <a:latin typeface="Arial MT"/>
                <a:cs typeface="Arial MT"/>
              </a:rPr>
              <a:t>sprİng,lo.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8254" y="5289588"/>
            <a:ext cx="21805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545454"/>
                </a:solidFill>
                <a:latin typeface="Arial MT"/>
                <a:cs typeface="Arial MT"/>
              </a:rPr>
              <a:t>Intelligent</a:t>
            </a:r>
            <a:r>
              <a:rPr dirty="0" sz="1100" spc="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25252"/>
                </a:solidFill>
                <a:latin typeface="Arial MT"/>
                <a:cs typeface="Arial MT"/>
              </a:rPr>
              <a:t>Applications</a:t>
            </a:r>
            <a:r>
              <a:rPr dirty="0" sz="1100" spc="-1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10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4F4F4F"/>
                </a:solidFill>
                <a:latin typeface="Arial MT"/>
                <a:cs typeface="Arial MT"/>
              </a:rPr>
              <a:t>Spring</a:t>
            </a:r>
            <a:r>
              <a:rPr dirty="0" sz="1100" spc="5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64359" y="2121425"/>
            <a:ext cx="3597275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780" sz="11700" spc="-562">
                <a:solidFill>
                  <a:srgbClr val="696969"/>
                </a:solidFill>
                <a:latin typeface="Arial MT"/>
                <a:cs typeface="Arial MT"/>
              </a:rPr>
              <a:t>spri</a:t>
            </a:r>
            <a:r>
              <a:rPr dirty="0" sz="7800" spc="-375">
                <a:solidFill>
                  <a:srgbClr val="696969"/>
                </a:solidFill>
                <a:latin typeface="Arial MT"/>
                <a:cs typeface="Arial MT"/>
              </a:rPr>
              <a:t>ng”A/</a:t>
            </a:r>
            <a:endParaRPr sz="7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96717" y="5302291"/>
            <a:ext cx="1612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4B4B4B"/>
                </a:solidFill>
                <a:latin typeface="Arial MT"/>
                <a:cs typeface="Arial MT"/>
              </a:rPr>
              <a:t>57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165">
                <a:solidFill>
                  <a:srgbClr val="01B1C3"/>
                </a:solidFill>
                <a:latin typeface="Arial MT"/>
                <a:cs typeface="Arial MT"/>
              </a:rPr>
              <a:t>What</a:t>
            </a:r>
            <a:r>
              <a:rPr dirty="0" sz="2950" spc="215">
                <a:solidFill>
                  <a:srgbClr val="01B1C3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158ABA"/>
                </a:solidFill>
                <a:latin typeface="Arial MT"/>
                <a:cs typeface="Arial MT"/>
              </a:rPr>
              <a:t>is</a:t>
            </a:r>
            <a:r>
              <a:rPr dirty="0" sz="2950" spc="-20">
                <a:solidFill>
                  <a:srgbClr val="158ABA"/>
                </a:solidFill>
                <a:latin typeface="Arial MT"/>
                <a:cs typeface="Arial MT"/>
              </a:rPr>
              <a:t> </a:t>
            </a:r>
            <a:r>
              <a:rPr dirty="0" sz="2950" spc="105">
                <a:solidFill>
                  <a:srgbClr val="00A1BA"/>
                </a:solidFill>
                <a:latin typeface="Arial MT"/>
                <a:cs typeface="Arial MT"/>
              </a:rPr>
              <a:t>Spring</a:t>
            </a:r>
            <a:r>
              <a:rPr dirty="0" sz="2950" spc="285">
                <a:solidFill>
                  <a:srgbClr val="00A1BA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00B5D1"/>
                </a:solidFill>
                <a:latin typeface="Arial MT"/>
                <a:cs typeface="Arial MT"/>
              </a:rPr>
              <a:t>AI?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46686" y="1249738"/>
            <a:ext cx="6872605" cy="275717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27329" indent="-214629">
              <a:lnSpc>
                <a:spcPct val="100000"/>
              </a:lnSpc>
              <a:spcBef>
                <a:spcPts val="785"/>
              </a:spcBef>
              <a:buClr>
                <a:srgbClr val="1D1D1D"/>
              </a:buClr>
              <a:buChar char="•"/>
              <a:tabLst>
                <a:tab pos="227329" algn="l"/>
              </a:tabLst>
            </a:pPr>
            <a:r>
              <a:rPr dirty="0" sz="2050">
                <a:latin typeface="Calibri"/>
                <a:cs typeface="Calibri"/>
              </a:rPr>
              <a:t>Al</a:t>
            </a:r>
            <a:r>
              <a:rPr dirty="0" sz="2050" spc="70"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dirty="0" sz="205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111111"/>
                </a:solidFill>
                <a:latin typeface="Calibri"/>
                <a:cs typeface="Calibri"/>
              </a:rPr>
              <a:t>3ava</a:t>
            </a:r>
            <a:r>
              <a:rPr dirty="0" sz="2050" spc="7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111111"/>
                </a:solidFill>
                <a:latin typeface="Calibri"/>
                <a:cs typeface="Calibri"/>
              </a:rPr>
              <a:t>developers!</a:t>
            </a:r>
            <a:endParaRPr sz="2050">
              <a:latin typeface="Calibri"/>
              <a:cs typeface="Calibri"/>
            </a:endParaRPr>
          </a:p>
          <a:p>
            <a:pPr marL="226695" indent="-203835">
              <a:lnSpc>
                <a:spcPct val="100000"/>
              </a:lnSpc>
              <a:spcBef>
                <a:spcPts val="685"/>
              </a:spcBef>
              <a:buClr>
                <a:srgbClr val="161616"/>
              </a:buClr>
              <a:buChar char="•"/>
              <a:tabLst>
                <a:tab pos="226695" algn="l"/>
              </a:tabLst>
            </a:pPr>
            <a:r>
              <a:rPr dirty="0" sz="2050">
                <a:latin typeface="Arial MT"/>
                <a:cs typeface="Arial MT"/>
              </a:rPr>
              <a:t>Simplifies</a:t>
            </a:r>
            <a:r>
              <a:rPr dirty="0" sz="2050" spc="-13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interactions</a:t>
            </a:r>
            <a:r>
              <a:rPr dirty="0" sz="2050" spc="50">
                <a:latin typeface="Arial MT"/>
                <a:cs typeface="Arial MT"/>
              </a:rPr>
              <a:t> </a:t>
            </a:r>
            <a:r>
              <a:rPr dirty="0" sz="2050" spc="65">
                <a:latin typeface="Arial MT"/>
                <a:cs typeface="Arial MT"/>
              </a:rPr>
              <a:t>with</a:t>
            </a:r>
            <a:r>
              <a:rPr dirty="0" sz="2050" spc="-55">
                <a:latin typeface="Arial MT"/>
                <a:cs typeface="Arial MT"/>
              </a:rPr>
              <a:t> </a:t>
            </a:r>
            <a:r>
              <a:rPr dirty="0" sz="2050" spc="-120">
                <a:solidFill>
                  <a:srgbClr val="151515"/>
                </a:solidFill>
                <a:latin typeface="Arial MT"/>
                <a:cs typeface="Arial MT"/>
              </a:rPr>
              <a:t>LLMs</a:t>
            </a:r>
            <a:r>
              <a:rPr dirty="0" sz="2050" spc="-2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50" spc="65">
                <a:solidFill>
                  <a:srgbClr val="181818"/>
                </a:solidFill>
                <a:latin typeface="Arial MT"/>
                <a:cs typeface="Arial MT"/>
              </a:rPr>
              <a:t>with</a:t>
            </a:r>
            <a:r>
              <a:rPr dirty="0" sz="2050" spc="-7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 spc="-225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2050" spc="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Spring</a:t>
            </a:r>
            <a:r>
              <a:rPr dirty="0" sz="2050" spc="55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abstraction</a:t>
            </a:r>
            <a:endParaRPr sz="2050">
              <a:latin typeface="Arial MT"/>
              <a:cs typeface="Arial MT"/>
            </a:endParaRPr>
          </a:p>
          <a:p>
            <a:pPr marL="440055">
              <a:lnSpc>
                <a:spcPct val="100000"/>
              </a:lnSpc>
              <a:spcBef>
                <a:spcPts val="225"/>
              </a:spcBef>
              <a:tabLst>
                <a:tab pos="681990" algn="l"/>
              </a:tabLst>
            </a:pPr>
            <a:r>
              <a:rPr dirty="0" sz="2050" spc="20">
                <a:solidFill>
                  <a:srgbClr val="444444"/>
                </a:solidFill>
                <a:latin typeface="Arial MT"/>
                <a:cs typeface="Arial MT"/>
              </a:rPr>
              <a:t>°</a:t>
            </a:r>
            <a:r>
              <a:rPr dirty="0" sz="205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050" spc="-10">
                <a:solidFill>
                  <a:srgbClr val="161616"/>
                </a:solidFill>
                <a:latin typeface="Arial MT"/>
                <a:cs typeface="Arial MT"/>
              </a:rPr>
              <a:t>Change</a:t>
            </a:r>
            <a:r>
              <a:rPr dirty="0" sz="2050" spc="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E0E0E"/>
                </a:solidFill>
                <a:latin typeface="Arial MT"/>
                <a:cs typeface="Arial MT"/>
              </a:rPr>
              <a:t>model</a:t>
            </a:r>
            <a:r>
              <a:rPr dirty="0" sz="205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51515"/>
                </a:solidFill>
                <a:latin typeface="Arial MT"/>
                <a:cs typeface="Arial MT"/>
              </a:rPr>
              <a:t>by</a:t>
            </a:r>
            <a:r>
              <a:rPr dirty="0" sz="2050" spc="-9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changing</a:t>
            </a:r>
            <a:r>
              <a:rPr dirty="0" sz="2050" spc="30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81818"/>
                </a:solidFill>
                <a:latin typeface="Arial MT"/>
                <a:cs typeface="Arial MT"/>
              </a:rPr>
              <a:t>one</a:t>
            </a:r>
            <a:r>
              <a:rPr dirty="0" sz="2050" spc="-4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line</a:t>
            </a:r>
            <a:r>
              <a:rPr dirty="0" sz="2050" spc="-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2050" spc="-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configuration!</a:t>
            </a:r>
            <a:endParaRPr sz="2050">
              <a:latin typeface="Arial MT"/>
              <a:cs typeface="Arial MT"/>
            </a:endParaRPr>
          </a:p>
          <a:p>
            <a:pPr marL="227965" indent="-215265">
              <a:lnSpc>
                <a:spcPct val="100000"/>
              </a:lnSpc>
              <a:spcBef>
                <a:spcPts val="735"/>
              </a:spcBef>
              <a:buClr>
                <a:srgbClr val="111111"/>
              </a:buClr>
              <a:buChar char="•"/>
              <a:tabLst>
                <a:tab pos="227965" algn="l"/>
              </a:tabLst>
            </a:pPr>
            <a:r>
              <a:rPr dirty="0" sz="2000" spc="70">
                <a:latin typeface="Calibri"/>
                <a:cs typeface="Calibri"/>
              </a:rPr>
              <a:t>Simplifies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 spc="50">
                <a:solidFill>
                  <a:srgbClr val="0E0E0E"/>
                </a:solidFill>
                <a:latin typeface="Calibri"/>
                <a:cs typeface="Calibri"/>
              </a:rPr>
              <a:t>interactions</a:t>
            </a:r>
            <a:r>
              <a:rPr dirty="0" sz="2000" spc="16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000" spc="85">
                <a:solidFill>
                  <a:srgbClr val="0E0E0E"/>
                </a:solidFill>
                <a:latin typeface="Calibri"/>
                <a:cs typeface="Calibri"/>
              </a:rPr>
              <a:t>with</a:t>
            </a:r>
            <a:r>
              <a:rPr dirty="0" sz="2000" spc="8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Vector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 spc="65">
                <a:latin typeface="Calibri"/>
                <a:cs typeface="Calibri"/>
              </a:rPr>
              <a:t>databases</a:t>
            </a:r>
            <a:endParaRPr sz="2000">
              <a:latin typeface="Calibri"/>
              <a:cs typeface="Calibri"/>
            </a:endParaRPr>
          </a:p>
          <a:p>
            <a:pPr marL="224790" indent="-211454">
              <a:lnSpc>
                <a:spcPct val="100000"/>
              </a:lnSpc>
              <a:spcBef>
                <a:spcPts val="795"/>
              </a:spcBef>
              <a:buClr>
                <a:srgbClr val="232323"/>
              </a:buClr>
              <a:buChar char="•"/>
              <a:tabLst>
                <a:tab pos="224790" algn="l"/>
              </a:tabLst>
            </a:pPr>
            <a:r>
              <a:rPr dirty="0" sz="1950" spc="65">
                <a:latin typeface="Calibri"/>
                <a:cs typeface="Calibri"/>
              </a:rPr>
              <a:t>Observability</a:t>
            </a:r>
            <a:endParaRPr sz="1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730"/>
              </a:spcBef>
              <a:buClr>
                <a:srgbClr val="181818"/>
              </a:buClr>
              <a:buChar char="•"/>
              <a:tabLst>
                <a:tab pos="224790" algn="l"/>
              </a:tabLst>
            </a:pPr>
            <a:r>
              <a:rPr dirty="0" sz="2000" spc="70">
                <a:solidFill>
                  <a:srgbClr val="0C0C0C"/>
                </a:solidFill>
                <a:latin typeface="Calibri"/>
                <a:cs typeface="Calibri"/>
              </a:rPr>
              <a:t>ChatMemory</a:t>
            </a:r>
            <a:endParaRPr sz="2000">
              <a:latin typeface="Calibri"/>
              <a:cs typeface="Calibri"/>
            </a:endParaRPr>
          </a:p>
          <a:p>
            <a:pPr marL="227329" indent="-214629">
              <a:lnSpc>
                <a:spcPct val="100000"/>
              </a:lnSpc>
              <a:spcBef>
                <a:spcPts val="675"/>
              </a:spcBef>
              <a:buClr>
                <a:srgbClr val="1C1C1C"/>
              </a:buClr>
              <a:buChar char="•"/>
              <a:tabLst>
                <a:tab pos="227329" algn="l"/>
              </a:tabLst>
            </a:pPr>
            <a:r>
              <a:rPr dirty="0" sz="2050" spc="95">
                <a:solidFill>
                  <a:srgbClr val="0F0F0F"/>
                </a:solidFill>
                <a:latin typeface="Calibri"/>
                <a:cs typeface="Calibri"/>
              </a:rPr>
              <a:t>And</a:t>
            </a:r>
            <a:r>
              <a:rPr dirty="0" sz="2050" spc="10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0E0E0E"/>
                </a:solidFill>
                <a:latin typeface="Calibri"/>
                <a:cs typeface="Calibri"/>
              </a:rPr>
              <a:t>more</a:t>
            </a:r>
            <a:r>
              <a:rPr dirty="0" sz="2050" spc="-3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111111"/>
                </a:solidFill>
                <a:latin typeface="Calibri"/>
                <a:cs typeface="Calibri"/>
              </a:rPr>
              <a:t>...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00"/>
              </a:spcBef>
            </a:pPr>
            <a:r>
              <a:rPr dirty="0" sz="2850" spc="160">
                <a:solidFill>
                  <a:srgbClr val="11B8CD"/>
                </a:solidFill>
                <a:latin typeface="Arial MT"/>
                <a:cs typeface="Arial MT"/>
              </a:rPr>
              <a:t>Spring</a:t>
            </a:r>
            <a:r>
              <a:rPr dirty="0" sz="2850" spc="204">
                <a:solidFill>
                  <a:srgbClr val="11B8CD"/>
                </a:solidFill>
                <a:latin typeface="Arial MT"/>
                <a:cs typeface="Arial MT"/>
              </a:rPr>
              <a:t> </a:t>
            </a:r>
            <a:r>
              <a:rPr dirty="0" sz="2850">
                <a:solidFill>
                  <a:srgbClr val="00ACD4"/>
                </a:solidFill>
                <a:latin typeface="Arial MT"/>
                <a:cs typeface="Arial MT"/>
              </a:rPr>
              <a:t>AI</a:t>
            </a:r>
            <a:r>
              <a:rPr dirty="0" sz="2850" spc="220">
                <a:solidFill>
                  <a:srgbClr val="00ACD4"/>
                </a:solidFill>
                <a:latin typeface="Arial MT"/>
                <a:cs typeface="Arial MT"/>
              </a:rPr>
              <a:t> </a:t>
            </a:r>
            <a:r>
              <a:rPr dirty="0" sz="2850" spc="95">
                <a:solidFill>
                  <a:srgbClr val="00B1E4"/>
                </a:solidFill>
                <a:latin typeface="Arial MT"/>
                <a:cs typeface="Arial MT"/>
              </a:rPr>
              <a:t>Ecosystem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8040" y="1250753"/>
            <a:ext cx="6200140" cy="1958339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213995" indent="-200660">
              <a:lnSpc>
                <a:spcPct val="100000"/>
              </a:lnSpc>
              <a:spcBef>
                <a:spcPts val="1000"/>
              </a:spcBef>
              <a:buClr>
                <a:srgbClr val="1D1D1D"/>
              </a:buClr>
              <a:buChar char="•"/>
              <a:tabLst>
                <a:tab pos="213995" algn="l"/>
              </a:tabLst>
            </a:pPr>
            <a:r>
              <a:rPr dirty="0" sz="1850">
                <a:solidFill>
                  <a:srgbClr val="161616"/>
                </a:solidFill>
                <a:latin typeface="Arial MT"/>
                <a:cs typeface="Arial MT"/>
              </a:rPr>
              <a:t>Created</a:t>
            </a:r>
            <a:r>
              <a:rPr dirty="0" sz="1850" spc="26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</a:t>
            </a:r>
            <a:r>
              <a:rPr dirty="0" sz="1850" spc="190"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11111"/>
                </a:solidFill>
                <a:latin typeface="Arial MT"/>
                <a:cs typeface="Arial MT"/>
              </a:rPr>
              <a:t>2023</a:t>
            </a:r>
            <a:r>
              <a:rPr dirty="0" sz="1850" spc="1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50" spc="85">
                <a:latin typeface="Arial MT"/>
                <a:cs typeface="Arial MT"/>
              </a:rPr>
              <a:t>by</a:t>
            </a:r>
            <a:r>
              <a:rPr dirty="0" sz="1850" spc="100">
                <a:latin typeface="Arial MT"/>
                <a:cs typeface="Arial MT"/>
              </a:rPr>
              <a:t> </a:t>
            </a:r>
            <a:r>
              <a:rPr dirty="0" sz="1850" spc="70">
                <a:solidFill>
                  <a:srgbClr val="161616"/>
                </a:solidFill>
                <a:latin typeface="Arial MT"/>
                <a:cs typeface="Arial MT"/>
              </a:rPr>
              <a:t>Mark</a:t>
            </a:r>
            <a:r>
              <a:rPr dirty="0" sz="1850" spc="204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81818"/>
                </a:solidFill>
                <a:latin typeface="Arial MT"/>
                <a:cs typeface="Arial MT"/>
              </a:rPr>
              <a:t>Pollack</a:t>
            </a:r>
            <a:r>
              <a:rPr dirty="0" sz="1850" spc="2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850" spc="85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dirty="0" sz="1850" spc="1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50" spc="60">
                <a:solidFill>
                  <a:srgbClr val="181818"/>
                </a:solidFill>
                <a:latin typeface="Arial MT"/>
                <a:cs typeface="Arial MT"/>
              </a:rPr>
              <a:t>Christian</a:t>
            </a:r>
            <a:r>
              <a:rPr dirty="0" sz="1850" spc="18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850" spc="-10">
                <a:solidFill>
                  <a:srgbClr val="0C0C0C"/>
                </a:solidFill>
                <a:latin typeface="Arial MT"/>
                <a:cs typeface="Arial MT"/>
              </a:rPr>
              <a:t>Tzolov</a:t>
            </a:r>
            <a:endParaRPr sz="1850">
              <a:latin typeface="Arial MT"/>
              <a:cs typeface="Arial MT"/>
            </a:endParaRPr>
          </a:p>
          <a:p>
            <a:pPr marL="215900" indent="-202565">
              <a:lnSpc>
                <a:spcPct val="100000"/>
              </a:lnSpc>
              <a:spcBef>
                <a:spcPts val="900"/>
              </a:spcBef>
              <a:buClr>
                <a:srgbClr val="161616"/>
              </a:buClr>
              <a:buChar char="•"/>
              <a:tabLst>
                <a:tab pos="215900" algn="l"/>
              </a:tabLst>
            </a:pPr>
            <a:r>
              <a:rPr dirty="0" sz="1850" spc="65">
                <a:solidFill>
                  <a:srgbClr val="111111"/>
                </a:solidFill>
                <a:latin typeface="Arial MT"/>
                <a:cs typeface="Arial MT"/>
              </a:rPr>
              <a:t>Inspired</a:t>
            </a:r>
            <a:r>
              <a:rPr dirty="0" sz="1850" spc="1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50" spc="85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dirty="0" sz="18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LangChain</a:t>
            </a:r>
            <a:r>
              <a:rPr dirty="0" sz="1850" spc="165">
                <a:latin typeface="Arial MT"/>
                <a:cs typeface="Arial MT"/>
              </a:rPr>
              <a:t> </a:t>
            </a:r>
            <a:r>
              <a:rPr dirty="0" sz="1850" spc="85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dirty="0" sz="1850" spc="14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 spc="65">
                <a:solidFill>
                  <a:srgbClr val="111111"/>
                </a:solidFill>
                <a:latin typeface="Arial MT"/>
                <a:cs typeface="Arial MT"/>
              </a:rPr>
              <a:t>Llamalndex</a:t>
            </a:r>
            <a:endParaRPr sz="1850">
              <a:latin typeface="Arial MT"/>
              <a:cs typeface="Arial MT"/>
            </a:endParaRPr>
          </a:p>
          <a:p>
            <a:pPr marL="213360" indent="-200660">
              <a:lnSpc>
                <a:spcPct val="100000"/>
              </a:lnSpc>
              <a:spcBef>
                <a:spcPts val="800"/>
              </a:spcBef>
              <a:buClr>
                <a:srgbClr val="181818"/>
              </a:buClr>
              <a:buChar char="•"/>
              <a:tabLst>
                <a:tab pos="213360" algn="l"/>
              </a:tabLst>
            </a:pPr>
            <a:r>
              <a:rPr dirty="0" sz="1950">
                <a:latin typeface="Arial MT"/>
                <a:cs typeface="Arial MT"/>
              </a:rPr>
              <a:t>Current</a:t>
            </a:r>
            <a:r>
              <a:rPr dirty="0" sz="1950" spc="13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version: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Spring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F0F0F"/>
                </a:solidFill>
                <a:latin typeface="Arial MT"/>
                <a:cs typeface="Arial MT"/>
              </a:rPr>
              <a:t>AI</a:t>
            </a:r>
            <a:r>
              <a:rPr dirty="0" sz="19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50" spc="-70">
                <a:latin typeface="Arial MT"/>
                <a:cs typeface="Arial MT"/>
              </a:rPr>
              <a:t>J.0.0-</a:t>
            </a:r>
            <a:r>
              <a:rPr dirty="0" sz="1950" spc="-25">
                <a:latin typeface="Arial MT"/>
                <a:cs typeface="Arial MT"/>
              </a:rPr>
              <a:t>M5</a:t>
            </a:r>
            <a:endParaRPr sz="1950">
              <a:latin typeface="Arial MT"/>
              <a:cs typeface="Arial MT"/>
            </a:endParaRPr>
          </a:p>
          <a:p>
            <a:pPr marL="676910">
              <a:lnSpc>
                <a:spcPct val="100000"/>
              </a:lnSpc>
              <a:spcBef>
                <a:spcPts val="325"/>
              </a:spcBef>
            </a:pPr>
            <a:r>
              <a:rPr dirty="0" sz="2000">
                <a:latin typeface="Arial MT"/>
                <a:cs typeface="Arial MT"/>
              </a:rPr>
              <a:t>Not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F0F0F"/>
                </a:solidFill>
                <a:latin typeface="Arial MT"/>
                <a:cs typeface="Arial MT"/>
              </a:rPr>
              <a:t>in</a:t>
            </a:r>
            <a:r>
              <a:rPr dirty="0" sz="2000" spc="-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 spc="-26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2000" spc="7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F0F0F"/>
                </a:solidFill>
                <a:latin typeface="Arial MT"/>
                <a:cs typeface="Arial MT"/>
              </a:rPr>
              <a:t>final</a:t>
            </a:r>
            <a:r>
              <a:rPr dirty="0" sz="200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131313"/>
                </a:solidFill>
                <a:latin typeface="Arial MT"/>
                <a:cs typeface="Arial MT"/>
              </a:rPr>
              <a:t>release</a:t>
            </a:r>
            <a:r>
              <a:rPr dirty="0" sz="2000" spc="3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version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ye\!</a:t>
            </a:r>
            <a:endParaRPr sz="2000">
              <a:latin typeface="Arial MT"/>
              <a:cs typeface="Arial MT"/>
            </a:endParaRPr>
          </a:p>
          <a:p>
            <a:pPr marL="220979" indent="-207645">
              <a:lnSpc>
                <a:spcPct val="100000"/>
              </a:lnSpc>
              <a:spcBef>
                <a:spcPts val="895"/>
              </a:spcBef>
              <a:buClr>
                <a:srgbClr val="232323"/>
              </a:buClr>
              <a:buChar char="•"/>
              <a:tabLst>
                <a:tab pos="220979" algn="l"/>
              </a:tabLst>
            </a:pPr>
            <a:r>
              <a:rPr dirty="0" sz="1850">
                <a:solidFill>
                  <a:srgbClr val="111111"/>
                </a:solidFill>
                <a:latin typeface="Arial MT"/>
                <a:cs typeface="Arial MT"/>
              </a:rPr>
              <a:t>Based</a:t>
            </a:r>
            <a:r>
              <a:rPr dirty="0" sz="1850" spc="1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215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Spring</a:t>
            </a:r>
            <a:r>
              <a:rPr dirty="0" sz="1850" spc="204"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Framework</a:t>
            </a:r>
            <a:r>
              <a:rPr dirty="0" sz="1850" spc="225">
                <a:latin typeface="Arial MT"/>
                <a:cs typeface="Arial MT"/>
              </a:rPr>
              <a:t> </a:t>
            </a:r>
            <a:r>
              <a:rPr dirty="0" sz="1850" spc="-165">
                <a:solidFill>
                  <a:srgbClr val="0C0C0C"/>
                </a:solidFill>
                <a:latin typeface="Arial MT"/>
                <a:cs typeface="Arial MT"/>
              </a:rPr>
              <a:t>6.1</a:t>
            </a:r>
            <a:r>
              <a:rPr dirty="0" sz="1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50" spc="8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1850" spc="7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50" spc="75">
                <a:solidFill>
                  <a:srgbClr val="111111"/>
                </a:solidFill>
                <a:latin typeface="Arial MT"/>
                <a:cs typeface="Arial MT"/>
              </a:rPr>
              <a:t>Spring</a:t>
            </a:r>
            <a:r>
              <a:rPr dirty="0" sz="1850" spc="1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50" spc="90">
                <a:latin typeface="Arial MT"/>
                <a:cs typeface="Arial MT"/>
              </a:rPr>
              <a:t>Boot</a:t>
            </a:r>
            <a:r>
              <a:rPr dirty="0" sz="1850" spc="40"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3.3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spc="95">
                <a:solidFill>
                  <a:srgbClr val="11B8CD"/>
                </a:solidFill>
                <a:latin typeface="Arial MT"/>
                <a:cs typeface="Arial MT"/>
              </a:rPr>
              <a:t>Spring</a:t>
            </a:r>
            <a:r>
              <a:rPr dirty="0" sz="3000" spc="305">
                <a:solidFill>
                  <a:srgbClr val="11B8CD"/>
                </a:solidFill>
                <a:latin typeface="Arial MT"/>
                <a:cs typeface="Arial MT"/>
              </a:rPr>
              <a:t> </a:t>
            </a:r>
            <a:r>
              <a:rPr dirty="0" sz="3000" spc="75">
                <a:solidFill>
                  <a:srgbClr val="15A3CC"/>
                </a:solidFill>
                <a:latin typeface="Arial MT"/>
                <a:cs typeface="Arial MT"/>
              </a:rPr>
              <a:t>lnitializr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4795" y="1311982"/>
            <a:ext cx="8361680" cy="702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715">
              <a:lnSpc>
                <a:spcPct val="105700"/>
              </a:lnSpc>
              <a:spcBef>
                <a:spcPts val="100"/>
              </a:spcBef>
            </a:pPr>
            <a:r>
              <a:rPr dirty="0" sz="2100">
                <a:latin typeface="Calibri"/>
                <a:cs typeface="Calibri"/>
              </a:rPr>
              <a:t>Head</a:t>
            </a:r>
            <a:r>
              <a:rPr dirty="0" sz="2100" spc="6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81818"/>
                </a:solidFill>
                <a:latin typeface="Calibri"/>
                <a:cs typeface="Calibri"/>
              </a:rPr>
              <a:t>on</a:t>
            </a:r>
            <a:r>
              <a:rPr dirty="0" sz="2100" spc="3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over</a:t>
            </a:r>
            <a:r>
              <a:rPr dirty="0" sz="2100" spc="6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1F1F"/>
                </a:solidFill>
                <a:latin typeface="Calibri"/>
                <a:cs typeface="Calibri"/>
              </a:rPr>
              <a:t>to </a:t>
            </a:r>
            <a:r>
              <a:rPr dirty="0" sz="2100">
                <a:solidFill>
                  <a:srgbClr val="2F9395"/>
                </a:solidFill>
                <a:latin typeface="Calibri"/>
                <a:cs typeface="Calibri"/>
              </a:rPr>
              <a:t>start.spring</a:t>
            </a:r>
            <a:r>
              <a:rPr dirty="0" sz="2100" spc="315">
                <a:solidFill>
                  <a:srgbClr val="2F939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F9395"/>
                </a:solidFill>
                <a:latin typeface="Calibri"/>
                <a:cs typeface="Calibri"/>
              </a:rPr>
              <a:t>io</a:t>
            </a:r>
            <a:r>
              <a:rPr dirty="0" sz="2100" spc="55">
                <a:solidFill>
                  <a:srgbClr val="2F9395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21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C0C0C"/>
                </a:solidFill>
                <a:latin typeface="Calibri"/>
                <a:cs typeface="Calibri"/>
              </a:rPr>
              <a:t>select</a:t>
            </a:r>
            <a:r>
              <a:rPr dirty="0" sz="2100" spc="114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00" spc="5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dirty="0" sz="2100" spc="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</a:t>
            </a:r>
            <a:r>
              <a:rPr dirty="0" sz="2100" spc="1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Models</a:t>
            </a:r>
            <a:r>
              <a:rPr dirty="0" sz="2100" spc="7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 spc="70">
                <a:solidFill>
                  <a:srgbClr val="161616"/>
                </a:solidFill>
                <a:latin typeface="Calibri"/>
                <a:cs typeface="Calibri"/>
              </a:rPr>
              <a:t>and</a:t>
            </a:r>
            <a:r>
              <a:rPr dirty="0" sz="2100" spc="4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Vector</a:t>
            </a:r>
            <a:r>
              <a:rPr dirty="0" sz="2100" spc="16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A1A1A"/>
                </a:solidFill>
                <a:latin typeface="Calibri"/>
                <a:cs typeface="Calibri"/>
              </a:rPr>
              <a:t>Stores </a:t>
            </a:r>
            <a:r>
              <a:rPr dirty="0" sz="2100">
                <a:solidFill>
                  <a:srgbClr val="131313"/>
                </a:solidFill>
                <a:latin typeface="Calibri"/>
                <a:cs typeface="Calibri"/>
              </a:rPr>
              <a:t>that</a:t>
            </a:r>
            <a:r>
              <a:rPr dirty="0" sz="2100" spc="8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E0E0E"/>
                </a:solidFill>
                <a:latin typeface="Calibri"/>
                <a:cs typeface="Calibri"/>
              </a:rPr>
              <a:t>you</a:t>
            </a:r>
            <a:r>
              <a:rPr dirty="0" sz="2100" spc="114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C0C0C"/>
                </a:solidFill>
                <a:latin typeface="Calibri"/>
                <a:cs typeface="Calibri"/>
              </a:rPr>
              <a:t>want</a:t>
            </a:r>
            <a:r>
              <a:rPr dirty="0" sz="2100" spc="18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10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use</a:t>
            </a:r>
            <a:r>
              <a:rPr dirty="0" sz="2100" spc="6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dirty="0" sz="21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your</a:t>
            </a:r>
            <a:r>
              <a:rPr dirty="0" sz="2100" spc="22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new</a:t>
            </a:r>
            <a:r>
              <a:rPr dirty="0" sz="2100" spc="14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applications.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19679" y="2414107"/>
            <a:ext cx="13589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Arial"/>
                <a:cs typeface="Arial"/>
              </a:rPr>
              <a:t>Web.</a:t>
            </a:r>
            <a:r>
              <a:rPr dirty="0" sz="600" spc="20" i="1">
                <a:latin typeface="Arial"/>
                <a:cs typeface="Arial"/>
              </a:rPr>
              <a:t> </a:t>
            </a:r>
            <a:r>
              <a:rPr dirty="0" sz="600" spc="-10" i="1">
                <a:latin typeface="Arial"/>
                <a:cs typeface="Arial"/>
              </a:rPr>
              <a:t>Security.</a:t>
            </a:r>
            <a:r>
              <a:rPr dirty="0" sz="600" spc="30" i="1">
                <a:latin typeface="Arial"/>
                <a:cs typeface="Arial"/>
              </a:rPr>
              <a:t> </a:t>
            </a:r>
            <a:r>
              <a:rPr dirty="0" sz="600" spc="-35" i="1">
                <a:solidFill>
                  <a:srgbClr val="0C0C0C"/>
                </a:solidFill>
                <a:latin typeface="Arial"/>
                <a:cs typeface="Arial"/>
              </a:rPr>
              <a:t>UPS,</a:t>
            </a:r>
            <a:r>
              <a:rPr dirty="0" sz="600" spc="35" i="1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600" spc="-25" i="1">
                <a:latin typeface="Arial"/>
                <a:cs typeface="Arial"/>
              </a:rPr>
              <a:t>Ac!ug</a:t>
            </a:r>
            <a:r>
              <a:rPr dirty="0" sz="600" spc="-65" i="1">
                <a:latin typeface="Arial"/>
                <a:cs typeface="Arial"/>
              </a:rPr>
              <a:t> </a:t>
            </a:r>
            <a:r>
              <a:rPr dirty="0" sz="600" spc="-45" i="1">
                <a:solidFill>
                  <a:srgbClr val="242424"/>
                </a:solidFill>
                <a:latin typeface="Arial"/>
                <a:cs typeface="Arial"/>
              </a:rPr>
              <a:t>fior.</a:t>
            </a:r>
            <a:r>
              <a:rPr dirty="0" sz="600" spc="50" i="1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161616"/>
                </a:solidFill>
                <a:latin typeface="Arial"/>
                <a:cs typeface="Arial"/>
              </a:rPr>
              <a:t>Deuto‹als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01314" y="2413853"/>
            <a:ext cx="963294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latin typeface="Arial MT"/>
                <a:cs typeface="Arial MT"/>
              </a:rPr>
              <a:t>Press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343434"/>
                </a:solidFill>
                <a:latin typeface="Arial MT"/>
                <a:cs typeface="Arial MT"/>
              </a:rPr>
              <a:t>Ctrl</a:t>
            </a:r>
            <a:r>
              <a:rPr dirty="0" sz="650" spc="-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for</a:t>
            </a:r>
            <a:r>
              <a:rPr dirty="0" sz="650">
                <a:latin typeface="Arial MT"/>
                <a:cs typeface="Arial MT"/>
              </a:rPr>
              <a:t> </a:t>
            </a:r>
            <a:r>
              <a:rPr dirty="0" sz="650" spc="-40">
                <a:latin typeface="Arial MT"/>
                <a:cs typeface="Arial MT"/>
              </a:rPr>
              <a:t>mtiJtiple</a:t>
            </a:r>
            <a:r>
              <a:rPr dirty="0" sz="650" spc="-5"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424242"/>
                </a:solidFill>
                <a:latin typeface="Arial MT"/>
                <a:cs typeface="Arial MT"/>
              </a:rPr>
              <a:t>adris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016039" y="2937729"/>
            <a:ext cx="3790315" cy="268033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340"/>
              </a:spcBef>
            </a:pPr>
            <a:r>
              <a:rPr dirty="0" sz="750" spc="-20">
                <a:latin typeface="Arial MT"/>
                <a:cs typeface="Arial MT"/>
              </a:rPr>
              <a:t>Azure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OpenAl</a:t>
            </a:r>
            <a:endParaRPr sz="750">
              <a:latin typeface="Arial MT"/>
              <a:cs typeface="Arial MT"/>
            </a:endParaRPr>
          </a:p>
          <a:p>
            <a:pPr marL="16510" marR="104139" indent="-635">
              <a:lnSpc>
                <a:spcPts val="1060"/>
              </a:lnSpc>
              <a:spcBef>
                <a:spcPts val="10"/>
              </a:spcBef>
            </a:pPr>
            <a:r>
              <a:rPr dirty="0" sz="650" spc="-40">
                <a:solidFill>
                  <a:srgbClr val="262626"/>
                </a:solidFill>
                <a:latin typeface="Arial MT"/>
                <a:cs typeface="Arial MT"/>
              </a:rPr>
              <a:t>Spr</a:t>
            </a:r>
            <a:r>
              <a:rPr dirty="0" sz="650" spc="-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Arial MT"/>
                <a:cs typeface="Arial MT"/>
              </a:rPr>
              <a:t>ng</a:t>
            </a:r>
            <a:r>
              <a:rPr dirty="0" sz="650" spc="-2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42424"/>
                </a:solidFill>
                <a:latin typeface="Arial MT"/>
                <a:cs typeface="Arial MT"/>
              </a:rPr>
              <a:t>AI</a:t>
            </a:r>
            <a:r>
              <a:rPr dirty="0" sz="650" spc="-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11111"/>
                </a:solidFill>
                <a:latin typeface="Arial MT"/>
                <a:cs typeface="Arial MT"/>
              </a:rPr>
              <a:t>support</a:t>
            </a:r>
            <a:r>
              <a:rPr dirty="0" sz="6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313131"/>
                </a:solidFill>
                <a:latin typeface="Arial MT"/>
                <a:cs typeface="Arial MT"/>
              </a:rPr>
              <a:t>for</a:t>
            </a:r>
            <a:r>
              <a:rPr dirty="0" sz="650" spc="-2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161616"/>
                </a:solidFill>
                <a:latin typeface="Arial MT"/>
                <a:cs typeface="Arial MT"/>
              </a:rPr>
              <a:t>Azure</a:t>
            </a:r>
            <a:r>
              <a:rPr dirty="0" sz="650" spc="-5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61616"/>
                </a:solidFill>
                <a:latin typeface="Arial MT"/>
                <a:cs typeface="Arial MT"/>
              </a:rPr>
              <a:t>s</a:t>
            </a:r>
            <a:r>
              <a:rPr dirty="0" sz="650" spc="-4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32323"/>
                </a:solidFill>
                <a:latin typeface="Arial MT"/>
                <a:cs typeface="Arial MT"/>
              </a:rPr>
              <a:t>OpenAl</a:t>
            </a:r>
            <a:r>
              <a:rPr dirty="0" sz="650" spc="2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A1A1A"/>
                </a:solidFill>
                <a:latin typeface="Arial MT"/>
                <a:cs typeface="Arial MT"/>
              </a:rPr>
              <a:t>o!fenng,</a:t>
            </a:r>
            <a:r>
              <a:rPr dirty="0" sz="6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1F1F1F"/>
                </a:solidFill>
                <a:latin typeface="Arial MT"/>
                <a:cs typeface="Arial MT"/>
              </a:rPr>
              <a:t>powered</a:t>
            </a:r>
            <a:r>
              <a:rPr dirty="0" sz="650" spc="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232323"/>
                </a:solidFill>
                <a:latin typeface="Arial MT"/>
                <a:cs typeface="Arial MT"/>
              </a:rPr>
              <a:t>by</a:t>
            </a:r>
            <a:r>
              <a:rPr dirty="0" sz="650" spc="-3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212121"/>
                </a:solidFill>
                <a:latin typeface="Arial MT"/>
                <a:cs typeface="Arial MT"/>
              </a:rPr>
              <a:t>ChatGPT.</a:t>
            </a:r>
            <a:r>
              <a:rPr dirty="0" sz="6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545454"/>
                </a:solidFill>
                <a:latin typeface="Arial MT"/>
                <a:cs typeface="Arial MT"/>
              </a:rPr>
              <a:t>It</a:t>
            </a:r>
            <a:r>
              <a:rPr dirty="0" sz="650" spc="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31313"/>
                </a:solidFill>
                <a:latin typeface="Arial MT"/>
                <a:cs typeface="Arial MT"/>
              </a:rPr>
              <a:t>extends</a:t>
            </a:r>
            <a:r>
              <a:rPr dirty="0" sz="650" spc="1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heyond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traditional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OpenAl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40">
                <a:latin typeface="Arial MT"/>
                <a:cs typeface="Arial MT"/>
              </a:rPr>
              <a:t>capabilit-</a:t>
            </a:r>
            <a:r>
              <a:rPr dirty="0" sz="650" spc="-35">
                <a:latin typeface="Arial MT"/>
                <a:cs typeface="Arial MT"/>
              </a:rPr>
              <a:t>'es.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51515"/>
                </a:solidFill>
                <a:latin typeface="Arial MT"/>
                <a:cs typeface="Arial MT"/>
              </a:rPr>
              <a:t>rlelivering</a:t>
            </a:r>
            <a:r>
              <a:rPr dirty="0" sz="650" spc="2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Al-</a:t>
            </a:r>
            <a:r>
              <a:rPr dirty="0" sz="650" spc="-25">
                <a:latin typeface="Arial MT"/>
                <a:cs typeface="Arial MT"/>
              </a:rPr>
              <a:t>driven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232323"/>
                </a:solidFill>
                <a:latin typeface="Arial MT"/>
                <a:cs typeface="Arial MT"/>
              </a:rPr>
              <a:t>text</a:t>
            </a:r>
            <a:r>
              <a:rPr dirty="0" sz="650" spc="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generation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81818"/>
                </a:solidFill>
                <a:latin typeface="Arial MT"/>
                <a:cs typeface="Arial MT"/>
              </a:rPr>
              <a:t>with</a:t>
            </a:r>
            <a:r>
              <a:rPr dirty="0" sz="650" spc="1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151515"/>
                </a:solidFill>
                <a:latin typeface="Arial MT"/>
                <a:cs typeface="Arial MT"/>
              </a:rPr>
              <a:t>enhanced</a:t>
            </a:r>
            <a:r>
              <a:rPr dirty="0" sz="650" spc="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11111"/>
                </a:solidFill>
                <a:latin typeface="Arial MT"/>
                <a:cs typeface="Arial MT"/>
              </a:rPr>
              <a:t>functionalily.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6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dirty="0" sz="650">
                <a:latin typeface="Arial MT"/>
                <a:cs typeface="Arial MT"/>
              </a:rPr>
              <a:t>Azure</a:t>
            </a:r>
            <a:r>
              <a:rPr dirty="0" sz="650" spc="1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AI</a:t>
            </a:r>
            <a:r>
              <a:rPr dirty="0" sz="650" spc="11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Search</a:t>
            </a:r>
            <a:endParaRPr sz="650">
              <a:latin typeface="Arial MT"/>
              <a:cs typeface="Arial MT"/>
            </a:endParaRPr>
          </a:p>
          <a:p>
            <a:pPr marL="14604" indent="1270">
              <a:lnSpc>
                <a:spcPct val="100000"/>
              </a:lnSpc>
              <a:spcBef>
                <a:spcPts val="225"/>
              </a:spcBef>
            </a:pPr>
            <a:r>
              <a:rPr dirty="0" sz="650" spc="-25">
                <a:latin typeface="Arial MT"/>
                <a:cs typeface="Arial MT"/>
              </a:rPr>
              <a:t>Spring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32323"/>
                </a:solidFill>
                <a:latin typeface="Arial MT"/>
                <a:cs typeface="Arial MT"/>
              </a:rPr>
              <a:t>AI</a:t>
            </a:r>
            <a:r>
              <a:rPr dirty="0" sz="650" spc="-1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51515"/>
                </a:solidFill>
                <a:latin typeface="Arial MT"/>
                <a:cs typeface="Arial MT"/>
              </a:rPr>
              <a:t>voclor</a:t>
            </a:r>
            <a:r>
              <a:rPr dirty="0" sz="650" spc="1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database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support</a:t>
            </a:r>
            <a:r>
              <a:rPr dirty="0" sz="6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dirty="0" sz="65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Azuro </a:t>
            </a:r>
            <a:r>
              <a:rPr dirty="0" sz="650">
                <a:solidFill>
                  <a:srgbClr val="494949"/>
                </a:solidFill>
                <a:latin typeface="Arial MT"/>
                <a:cs typeface="Arial MT"/>
              </a:rPr>
              <a:t>AI</a:t>
            </a:r>
            <a:r>
              <a:rPr dirty="0" sz="650" spc="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Soarch.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44444"/>
                </a:solidFill>
                <a:latin typeface="Arial MT"/>
                <a:cs typeface="Arial MT"/>
              </a:rPr>
              <a:t>li</a:t>
            </a:r>
            <a:r>
              <a:rPr dirty="0" sz="650" spc="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676767"/>
                </a:solidFill>
                <a:latin typeface="Arial MT"/>
                <a:cs typeface="Arial MT"/>
              </a:rPr>
              <a:t>'s </a:t>
            </a:r>
            <a:r>
              <a:rPr dirty="0" sz="650" spc="-35">
                <a:latin typeface="Arial MT"/>
                <a:cs typeface="Arial MT"/>
              </a:rPr>
              <a:t>an</a:t>
            </a:r>
            <a:r>
              <a:rPr dirty="0" sz="650" spc="-15"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131313"/>
                </a:solidFill>
                <a:latin typeface="Arial MT"/>
                <a:cs typeface="Arial MT"/>
              </a:rPr>
              <a:t>Al-</a:t>
            </a:r>
            <a:r>
              <a:rPr dirty="0" sz="650" spc="-20">
                <a:solidFill>
                  <a:srgbClr val="131313"/>
                </a:solidFill>
                <a:latin typeface="Arial MT"/>
                <a:cs typeface="Arial MT"/>
              </a:rPr>
              <a:t>powo</a:t>
            </a:r>
            <a:r>
              <a:rPr dirty="0" sz="650" spc="7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131313"/>
                </a:solidFill>
                <a:latin typeface="Arial MT"/>
                <a:cs typeface="Arial MT"/>
              </a:rPr>
              <a:t>ad</a:t>
            </a:r>
            <a:r>
              <a:rPr dirty="0" sz="650" spc="-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information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retrioval</a:t>
            </a:r>
            <a:r>
              <a:rPr dirty="0" sz="65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platform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endParaRPr sz="650">
              <a:latin typeface="Arial MT"/>
              <a:cs typeface="Arial MT"/>
            </a:endParaRPr>
          </a:p>
          <a:p>
            <a:pPr marL="14604" marR="20320" indent="-635">
              <a:lnSpc>
                <a:spcPct val="140000"/>
              </a:lnSpc>
              <a:spcBef>
                <a:spcPts val="40"/>
              </a:spcBef>
            </a:pPr>
            <a:r>
              <a:rPr dirty="0" sz="600">
                <a:latin typeface="Arial MT"/>
                <a:cs typeface="Arial MT"/>
              </a:rPr>
              <a:t>part</a:t>
            </a:r>
            <a:r>
              <a:rPr dirty="0" sz="600" spc="15"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575757"/>
                </a:solidFill>
                <a:latin typeface="Arial MT"/>
                <a:cs typeface="Arial MT"/>
              </a:rPr>
              <a:t>nl</a:t>
            </a:r>
            <a:r>
              <a:rPr dirty="0" sz="600" spc="6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A1A1A"/>
                </a:solidFill>
                <a:latin typeface="Arial MT"/>
                <a:cs typeface="Arial MT"/>
              </a:rPr>
              <a:t>Mirrosoft's</a:t>
            </a:r>
            <a:r>
              <a:rPr dirty="0" sz="6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242424"/>
                </a:solidFill>
                <a:latin typeface="Arial MT"/>
                <a:cs typeface="Arial MT"/>
              </a:rPr>
              <a:t>larger</a:t>
            </a:r>
            <a:r>
              <a:rPr dirty="0" sz="60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00" spc="-60">
                <a:solidFill>
                  <a:srgbClr val="313131"/>
                </a:solidFill>
                <a:latin typeface="Arial MT"/>
                <a:cs typeface="Arial MT"/>
              </a:rPr>
              <a:t>d </a:t>
            </a:r>
            <a:r>
              <a:rPr dirty="0" sz="600">
                <a:solidFill>
                  <a:srgbClr val="313131"/>
                </a:solidFill>
                <a:latin typeface="Arial MT"/>
                <a:cs typeface="Arial MT"/>
              </a:rPr>
              <a:t>|</a:t>
            </a:r>
            <a:r>
              <a:rPr dirty="0" sz="600" spc="1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C0C0C"/>
                </a:solidFill>
                <a:latin typeface="Arial MT"/>
                <a:cs typeface="Arial MT"/>
              </a:rPr>
              <a:t>platform</a:t>
            </a:r>
            <a:r>
              <a:rPr dirty="0" sz="600" spc="1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Among</a:t>
            </a:r>
            <a:r>
              <a:rPr dirty="0" sz="600" spc="35"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232323"/>
                </a:solidFill>
                <a:latin typeface="Arial MT"/>
                <a:cs typeface="Arial MT"/>
              </a:rPr>
              <a:t>other</a:t>
            </a:r>
            <a:r>
              <a:rPr dirty="0" sz="600" spc="3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262626"/>
                </a:solidFill>
                <a:latin typeface="Arial MT"/>
                <a:cs typeface="Arial MT"/>
              </a:rPr>
              <a:t>fmat‹ires,</a:t>
            </a:r>
            <a:r>
              <a:rPr dirty="0" sz="600" spc="6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D1D1D"/>
                </a:solidFill>
                <a:latin typeface="Arial MT"/>
                <a:cs typeface="Arial MT"/>
              </a:rPr>
              <a:t>ii</a:t>
            </a:r>
            <a:r>
              <a:rPr dirty="0" sz="600" spc="-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61616"/>
                </a:solidFill>
                <a:latin typeface="Arial MT"/>
                <a:cs typeface="Arial MT"/>
              </a:rPr>
              <a:t>a</a:t>
            </a:r>
            <a:r>
              <a:rPr dirty="0" sz="600">
                <a:latin typeface="Arial MT"/>
                <a:cs typeface="Arial MT"/>
              </a:rPr>
              <a:t>IInws</a:t>
            </a:r>
            <a:r>
              <a:rPr dirty="0" sz="600" spc="25"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F1F1F"/>
                </a:solidFill>
                <a:latin typeface="Arial MT"/>
                <a:cs typeface="Arial MT"/>
              </a:rPr>
              <a:t>users</a:t>
            </a:r>
            <a:r>
              <a:rPr dirty="0" sz="600" spc="5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212121"/>
                </a:solidFill>
                <a:latin typeface="Arial MT"/>
                <a:cs typeface="Arial MT"/>
              </a:rPr>
              <a:t>tc</a:t>
            </a:r>
            <a:r>
              <a:rPr dirty="0" sz="6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qr</a:t>
            </a:r>
            <a:r>
              <a:rPr dirty="0" sz="6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ery</a:t>
            </a:r>
            <a:r>
              <a:rPr dirty="0" sz="60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C1C1C"/>
                </a:solidFill>
                <a:latin typeface="Arial MT"/>
                <a:cs typeface="Arial MT"/>
              </a:rPr>
              <a:t>information</a:t>
            </a:r>
            <a:r>
              <a:rPr dirty="0" sz="600" spc="3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2B2B2B"/>
                </a:solidFill>
                <a:latin typeface="Arial MT"/>
                <a:cs typeface="Arial MT"/>
              </a:rPr>
              <a:t>using</a:t>
            </a:r>
            <a:r>
              <a:rPr dirty="0" sz="600" spc="3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vrrtor-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based</a:t>
            </a:r>
            <a:r>
              <a:rPr dirty="0" sz="6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storage</a:t>
            </a:r>
            <a:r>
              <a:rPr dirty="0" sz="600" spc="65"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484848"/>
                </a:solidFill>
                <a:latin typeface="Arial MT"/>
                <a:cs typeface="Arial MT"/>
              </a:rPr>
              <a:t>and</a:t>
            </a:r>
            <a:r>
              <a:rPr dirty="0" sz="600" spc="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600" spc="-45">
                <a:latin typeface="Arial MT"/>
                <a:cs typeface="Arial MT"/>
              </a:rPr>
              <a:t>rely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81818"/>
                </a:solidFill>
                <a:latin typeface="Arial MT"/>
                <a:cs typeface="Arial MT"/>
              </a:rPr>
              <a:t>ieval.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650">
                <a:latin typeface="Arial MT"/>
                <a:cs typeface="Arial MT"/>
              </a:rPr>
              <a:t>Amazon</a:t>
            </a:r>
            <a:r>
              <a:rPr dirty="0" sz="650" spc="30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Bedrock</a:t>
            </a:r>
            <a:endParaRPr sz="650">
              <a:latin typeface="Arial MT"/>
              <a:cs typeface="Arial MT"/>
            </a:endParaRPr>
          </a:p>
          <a:p>
            <a:pPr marL="19685" marR="5080" indent="-4445">
              <a:lnSpc>
                <a:spcPct val="129299"/>
              </a:lnSpc>
            </a:pPr>
            <a:r>
              <a:rPr dirty="0" sz="650" spc="-25">
                <a:solidFill>
                  <a:srgbClr val="1A1A1A"/>
                </a:solidFill>
                <a:latin typeface="Arial MT"/>
                <a:cs typeface="Arial MT"/>
              </a:rPr>
              <a:t>Spring</a:t>
            </a:r>
            <a:r>
              <a:rPr dirty="0" sz="6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6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support</a:t>
            </a:r>
            <a:r>
              <a:rPr dirty="0" sz="6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for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Amazon</a:t>
            </a:r>
            <a:r>
              <a:rPr dirty="0" sz="650" spc="-5"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0E0E0E"/>
                </a:solidFill>
                <a:latin typeface="Arial MT"/>
                <a:cs typeface="Arial MT"/>
              </a:rPr>
              <a:t>Be¢irock.</a:t>
            </a:r>
            <a:r>
              <a:rPr dirty="0" sz="65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It </a:t>
            </a:r>
            <a:r>
              <a:rPr dirty="0" sz="650">
                <a:solidFill>
                  <a:srgbClr val="505050"/>
                </a:solidFill>
                <a:latin typeface="Arial MT"/>
                <a:cs typeface="Arial MT"/>
              </a:rPr>
              <a:t>is</a:t>
            </a:r>
            <a:r>
              <a:rPr dirty="0" sz="650" spc="-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3A3A3A"/>
                </a:solidFill>
                <a:latin typeface="Arial MT"/>
                <a:cs typeface="Arial MT"/>
              </a:rPr>
              <a:t>a</a:t>
            </a:r>
            <a:r>
              <a:rPr dirty="0" sz="650" spc="-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650" spc="-50">
                <a:solidFill>
                  <a:srgbClr val="1C1C1C"/>
                </a:solidFill>
                <a:latin typeface="Arial MT"/>
                <a:cs typeface="Arial MT"/>
              </a:rPr>
              <a:t>manaCed</a:t>
            </a:r>
            <a:r>
              <a:rPr dirty="0" sz="650" spc="4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service</a:t>
            </a:r>
            <a:r>
              <a:rPr dirty="0" sz="650" spc="-5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6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provides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45">
                <a:latin typeface="Arial MT"/>
                <a:cs typeface="Arial MT"/>
              </a:rPr>
              <a:t>Foundation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F0F0F"/>
                </a:solidFill>
                <a:latin typeface="Arial MT"/>
                <a:cs typeface="Arial MT"/>
              </a:rPr>
              <a:t>models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B2B2B"/>
                </a:solidFill>
                <a:latin typeface="Arial MT"/>
                <a:cs typeface="Arial MT"/>
              </a:rPr>
              <a:t>from</a:t>
            </a:r>
            <a:r>
              <a:rPr dirty="0" sz="650" spc="5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31313"/>
                </a:solidFill>
                <a:latin typeface="Arial MT"/>
                <a:cs typeface="Arial MT"/>
              </a:rPr>
              <a:t>various</a:t>
            </a:r>
            <a:r>
              <a:rPr dirty="0" sz="650" spc="5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32323"/>
                </a:solidFill>
                <a:latin typeface="Arial MT"/>
                <a:cs typeface="Arial MT"/>
              </a:rPr>
              <a:t>AI</a:t>
            </a:r>
            <a:r>
              <a:rPr dirty="0" sz="650" spc="-3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11111"/>
                </a:solidFill>
                <a:latin typeface="Arial MT"/>
                <a:cs typeface="Arial MT"/>
              </a:rPr>
              <a:t>providers.</a:t>
            </a:r>
            <a:r>
              <a:rPr dirty="0" sz="6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available</a:t>
            </a:r>
            <a:r>
              <a:rPr dirty="0" sz="650" spc="8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through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dirty="0" sz="650" spc="-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11111"/>
                </a:solidFill>
                <a:latin typeface="Arial MT"/>
                <a:cs typeface="Arial MT"/>
              </a:rPr>
              <a:t>unified</a:t>
            </a:r>
            <a:r>
              <a:rPr dirty="0" sz="6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C1C1C"/>
                </a:solidFill>
                <a:latin typeface="Arial MT"/>
                <a:cs typeface="Arial MT"/>
              </a:rPr>
              <a:t>API.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6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</a:pPr>
            <a:r>
              <a:rPr dirty="0" sz="650" spc="60">
                <a:latin typeface="Cambria"/>
                <a:cs typeface="Cambria"/>
              </a:rPr>
              <a:t>Chroma</a:t>
            </a:r>
            <a:r>
              <a:rPr dirty="0" sz="650" spc="190">
                <a:latin typeface="Cambria"/>
                <a:cs typeface="Cambria"/>
              </a:rPr>
              <a:t> </a:t>
            </a:r>
            <a:r>
              <a:rPr dirty="0" sz="650" spc="10">
                <a:latin typeface="Cambria"/>
                <a:cs typeface="Cambria"/>
              </a:rPr>
              <a:t>Vector</a:t>
            </a:r>
            <a:r>
              <a:rPr dirty="0" sz="650" spc="160">
                <a:latin typeface="Cambria"/>
                <a:cs typeface="Cambria"/>
              </a:rPr>
              <a:t> </a:t>
            </a:r>
            <a:r>
              <a:rPr dirty="0" sz="650" spc="-10" b="1">
                <a:latin typeface="Cambria"/>
                <a:cs typeface="Cambria"/>
              </a:rPr>
              <a:t>Database</a:t>
            </a:r>
            <a:endParaRPr sz="650">
              <a:latin typeface="Cambria"/>
              <a:cs typeface="Cambria"/>
            </a:endParaRPr>
          </a:p>
          <a:p>
            <a:pPr marL="13970" marR="49530" indent="1270">
              <a:lnSpc>
                <a:spcPts val="1060"/>
              </a:lnSpc>
              <a:spcBef>
                <a:spcPts val="30"/>
              </a:spcBef>
            </a:pPr>
            <a:r>
              <a:rPr dirty="0" sz="650" spc="-25">
                <a:solidFill>
                  <a:srgbClr val="242424"/>
                </a:solidFill>
                <a:latin typeface="Arial MT"/>
                <a:cs typeface="Arial MT"/>
              </a:rPr>
              <a:t>Spring</a:t>
            </a:r>
            <a:r>
              <a:rPr dirty="0" sz="650" spc="-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C1C1C"/>
                </a:solidFill>
                <a:latin typeface="Arial MT"/>
                <a:cs typeface="Arial MT"/>
              </a:rPr>
              <a:t>AI</a:t>
            </a:r>
            <a:r>
              <a:rPr dirty="0" sz="650" spc="-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D2D2D"/>
                </a:solidFill>
                <a:latin typeface="Arial MT"/>
                <a:cs typeface="Arial MT"/>
              </a:rPr>
              <a:t>vector</a:t>
            </a:r>
            <a:r>
              <a:rPr dirty="0" sz="650" spc="1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11111"/>
                </a:solidFill>
                <a:latin typeface="Arial MT"/>
                <a:cs typeface="Arial MT"/>
              </a:rPr>
              <a:t>dstabsse</a:t>
            </a:r>
            <a:r>
              <a:rPr dirty="0" sz="6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32323"/>
                </a:solidFill>
                <a:latin typeface="Arial MT"/>
                <a:cs typeface="Arial MT"/>
              </a:rPr>
              <a:t>support</a:t>
            </a:r>
            <a:r>
              <a:rPr dirty="0" sz="650" spc="2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6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Arial MT"/>
                <a:cs typeface="Arial MT"/>
              </a:rPr>
              <a:t>Chroma.</a:t>
            </a:r>
            <a:r>
              <a:rPr dirty="0" sz="65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44444"/>
                </a:solidFill>
                <a:latin typeface="Arial MT"/>
                <a:cs typeface="Arial MT"/>
              </a:rPr>
              <a:t>It</a:t>
            </a:r>
            <a:r>
              <a:rPr dirty="0" sz="65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D2D2D"/>
                </a:solidFill>
                <a:latin typeface="Arial MT"/>
                <a:cs typeface="Arial MT"/>
              </a:rPr>
              <a:t>is</a:t>
            </a:r>
            <a:r>
              <a:rPr dirty="0" sz="650" spc="-3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Arial MT"/>
                <a:cs typeface="Arial MT"/>
              </a:rPr>
              <a:t>an</a:t>
            </a:r>
            <a:r>
              <a:rPr dirty="0" sz="650" spc="-4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42424"/>
                </a:solidFill>
                <a:latin typeface="Arial MT"/>
                <a:cs typeface="Arial MT"/>
              </a:rPr>
              <a:t>open-</a:t>
            </a:r>
            <a:r>
              <a:rPr dirty="0" sz="650" spc="-20">
                <a:solidFill>
                  <a:srgbClr val="242424"/>
                </a:solidFill>
                <a:latin typeface="Arial MT"/>
                <a:cs typeface="Arial MT"/>
              </a:rPr>
              <a:t>source</a:t>
            </a:r>
            <a:r>
              <a:rPr dirty="0" sz="65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embedding</a:t>
            </a:r>
            <a:r>
              <a:rPr dirty="0" sz="650" spc="-15"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F0F0F"/>
                </a:solidFill>
                <a:latin typeface="Arial MT"/>
                <a:cs typeface="Arial MT"/>
              </a:rPr>
              <a:t>database</a:t>
            </a:r>
            <a:r>
              <a:rPr dirty="0" sz="6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3B3B3B"/>
                </a:solidFill>
                <a:latin typeface="Arial MT"/>
                <a:cs typeface="Arial MT"/>
              </a:rPr>
              <a:t>and</a:t>
            </a:r>
            <a:r>
              <a:rPr dirty="0" sz="650" spc="-1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31313"/>
                </a:solidFill>
                <a:latin typeface="Arial MT"/>
                <a:cs typeface="Arial MT"/>
              </a:rPr>
              <a:t>gives</a:t>
            </a:r>
            <a:r>
              <a:rPr dirty="0" sz="650" spc="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Arial MT"/>
                <a:cs typeface="Arial MT"/>
              </a:rPr>
              <a:t>you</a:t>
            </a:r>
            <a:r>
              <a:rPr dirty="0" sz="6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6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lools</a:t>
            </a:r>
            <a:r>
              <a:rPr dirty="0" sz="6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242424"/>
                </a:solidFill>
                <a:latin typeface="Arial MT"/>
                <a:cs typeface="Arial MT"/>
              </a:rPr>
              <a:t>\o</a:t>
            </a:r>
            <a:r>
              <a:rPr dirty="0" sz="650" spc="-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store </a:t>
            </a:r>
            <a:r>
              <a:rPr dirty="0" sz="650" spc="-25">
                <a:solidFill>
                  <a:srgbClr val="181818"/>
                </a:solidFill>
                <a:latin typeface="Arial MT"/>
                <a:cs typeface="Arial MT"/>
              </a:rPr>
              <a:t>document</a:t>
            </a:r>
            <a:r>
              <a:rPr dirty="0" sz="650" spc="3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embeddings,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content.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40">
                <a:latin typeface="Arial MT"/>
                <a:cs typeface="Arial MT"/>
              </a:rPr>
              <a:t>and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me\adata.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81818"/>
                </a:solidFill>
                <a:latin typeface="Arial MT"/>
                <a:cs typeface="Arial MT"/>
              </a:rPr>
              <a:t>It</a:t>
            </a:r>
            <a:r>
              <a:rPr dirty="0" sz="650" spc="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also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A1A1A"/>
                </a:solidFill>
                <a:latin typeface="Arial MT"/>
                <a:cs typeface="Arial MT"/>
              </a:rPr>
              <a:t>allows</a:t>
            </a:r>
            <a:r>
              <a:rPr dirty="0" sz="6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to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search</a:t>
            </a:r>
            <a:r>
              <a:rPr dirty="0" sz="6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through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those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232323"/>
                </a:solidFill>
                <a:latin typeface="Arial MT"/>
                <a:cs typeface="Arial MT"/>
              </a:rPr>
              <a:t>embeddinqs.</a:t>
            </a:r>
            <a:r>
              <a:rPr dirty="0" sz="650" spc="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31313"/>
                </a:solidFill>
                <a:latin typeface="Arial MT"/>
                <a:cs typeface="Arial MT"/>
              </a:rPr>
              <a:t>including</a:t>
            </a:r>
            <a:r>
              <a:rPr dirty="0" sz="650" spc="1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metadata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fiiterng.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 MT"/>
                <a:cs typeface="Arial MT"/>
              </a:rPr>
              <a:t>Milvus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Vector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Database</a:t>
            </a:r>
            <a:endParaRPr sz="7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10"/>
              </a:spcBef>
            </a:pPr>
            <a:r>
              <a:rPr dirty="0" sz="650" spc="-25">
                <a:solidFill>
                  <a:srgbClr val="111111"/>
                </a:solidFill>
                <a:latin typeface="Arial MT"/>
                <a:cs typeface="Arial MT"/>
              </a:rPr>
              <a:t>Spring</a:t>
            </a:r>
            <a:r>
              <a:rPr dirty="0" sz="6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42424"/>
                </a:solidFill>
                <a:latin typeface="Arial MT"/>
                <a:cs typeface="Arial MT"/>
              </a:rPr>
              <a:t>AI</a:t>
            </a:r>
            <a:r>
              <a:rPr dirty="0" sz="650" spc="-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32323"/>
                </a:solidFill>
                <a:latin typeface="Arial MT"/>
                <a:cs typeface="Arial MT"/>
              </a:rPr>
              <a:t>vec\or</a:t>
            </a:r>
            <a:r>
              <a:rPr dirty="0" sz="650" spc="1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database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11111"/>
                </a:solidFill>
                <a:latin typeface="Arial MT"/>
                <a:cs typeface="Arial MT"/>
              </a:rPr>
              <a:t>srippon</a:t>
            </a:r>
            <a:r>
              <a:rPr dirty="0" sz="65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3B3B3B"/>
                </a:solidFill>
                <a:latin typeface="Arial MT"/>
                <a:cs typeface="Arial MT"/>
              </a:rPr>
              <a:t>for</a:t>
            </a:r>
            <a:r>
              <a:rPr dirty="0" sz="650" spc="-2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Arial MT"/>
                <a:cs typeface="Arial MT"/>
              </a:rPr>
              <a:t>Milvus.</a:t>
            </a:r>
            <a:r>
              <a:rPr dirty="0" sz="650" spc="2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64646"/>
                </a:solidFill>
                <a:latin typeface="Arial MT"/>
                <a:cs typeface="Arial MT"/>
              </a:rPr>
              <a:t>It</a:t>
            </a:r>
            <a:r>
              <a:rPr dirty="0" sz="650" spc="-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dirty="0" sz="650" spc="-3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2F2F2F"/>
                </a:solidFill>
                <a:latin typeface="Arial MT"/>
                <a:cs typeface="Arial MT"/>
              </a:rPr>
              <a:t>an</a:t>
            </a:r>
            <a:r>
              <a:rPr dirty="0" sz="650" spc="-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open-</a:t>
            </a:r>
            <a:r>
              <a:rPr dirty="0" sz="650" spc="-20">
                <a:latin typeface="Arial MT"/>
                <a:cs typeface="Arial MT"/>
              </a:rPr>
              <a:t>source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51515"/>
                </a:solidFill>
                <a:latin typeface="Arial MT"/>
                <a:cs typeface="Arial MT"/>
              </a:rPr>
              <a:t>vector</a:t>
            </a:r>
            <a:r>
              <a:rPr dirty="0" sz="650" spc="5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161616"/>
                </a:solidFill>
                <a:latin typeface="Arial MT"/>
                <a:cs typeface="Arial MT"/>
              </a:rPr>
              <a:t>aatabase</a:t>
            </a:r>
            <a:r>
              <a:rPr dirty="0" sz="650" spc="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Arial MT"/>
                <a:cs typeface="Arial MT"/>
              </a:rPr>
              <a:t>that</a:t>
            </a:r>
            <a:r>
              <a:rPr dirty="0" sz="650" spc="2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ganJered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080">
              <a:lnSpc>
                <a:spcPct val="100000"/>
              </a:lnSpc>
              <a:spcBef>
                <a:spcPts val="100"/>
              </a:spcBef>
            </a:pPr>
            <a:r>
              <a:rPr dirty="0" sz="3250" spc="-10">
                <a:solidFill>
                  <a:srgbClr val="00B1D6"/>
                </a:solidFill>
                <a:latin typeface="Arial MT"/>
                <a:cs typeface="Arial MT"/>
              </a:rPr>
              <a:t>Milestone</a:t>
            </a:r>
            <a:r>
              <a:rPr dirty="0" sz="3250" spc="-135">
                <a:solidFill>
                  <a:srgbClr val="00B1D6"/>
                </a:solidFill>
                <a:latin typeface="Arial MT"/>
                <a:cs typeface="Arial MT"/>
              </a:rPr>
              <a:t> </a:t>
            </a:r>
            <a:r>
              <a:rPr dirty="0" sz="3250" spc="-35">
                <a:solidFill>
                  <a:srgbClr val="13B1E1"/>
                </a:solidFill>
                <a:latin typeface="Arial MT"/>
                <a:cs typeface="Arial MT"/>
              </a:rPr>
              <a:t>Repository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2557" y="1316808"/>
            <a:ext cx="8717915" cy="323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 marR="5080" indent="-2540">
              <a:lnSpc>
                <a:spcPct val="107300"/>
              </a:lnSpc>
              <a:spcBef>
                <a:spcPts val="100"/>
              </a:spcBef>
            </a:pPr>
            <a:r>
              <a:rPr dirty="0" sz="2050" spc="-60">
                <a:solidFill>
                  <a:srgbClr val="131313"/>
                </a:solidFill>
                <a:latin typeface="Arial MT"/>
                <a:cs typeface="Arial MT"/>
              </a:rPr>
              <a:t>Because</a:t>
            </a:r>
            <a:r>
              <a:rPr dirty="0" sz="205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F0F0F"/>
                </a:solidFill>
                <a:latin typeface="Arial MT"/>
                <a:cs typeface="Arial MT"/>
              </a:rPr>
              <a:t>Spring</a:t>
            </a:r>
            <a:r>
              <a:rPr dirty="0" sz="20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latin typeface="Arial MT"/>
                <a:cs typeface="Arial MT"/>
              </a:rPr>
              <a:t>AI</a:t>
            </a:r>
            <a:r>
              <a:rPr dirty="0" sz="2050" spc="-50">
                <a:latin typeface="Arial MT"/>
                <a:cs typeface="Arial MT"/>
              </a:rPr>
              <a:t> </a:t>
            </a:r>
            <a:r>
              <a:rPr dirty="0" sz="2050" spc="-85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dirty="0" sz="2050" spc="-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61616"/>
                </a:solidFill>
                <a:latin typeface="Arial MT"/>
                <a:cs typeface="Arial MT"/>
              </a:rPr>
              <a:t>still</a:t>
            </a:r>
            <a:r>
              <a:rPr dirty="0" sz="2050" spc="-6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1F1F1F"/>
                </a:solidFill>
                <a:latin typeface="Arial MT"/>
                <a:cs typeface="Arial MT"/>
              </a:rPr>
              <a:t>in</a:t>
            </a:r>
            <a:r>
              <a:rPr dirty="0" sz="2050" spc="-11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latin typeface="Arial MT"/>
                <a:cs typeface="Arial MT"/>
              </a:rPr>
              <a:t>Milestone,</a:t>
            </a:r>
            <a:r>
              <a:rPr dirty="0" sz="2050" spc="-14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you</a:t>
            </a:r>
            <a:r>
              <a:rPr dirty="0" sz="2050" spc="10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F0F0F"/>
                </a:solidFill>
                <a:latin typeface="Arial MT"/>
                <a:cs typeface="Arial MT"/>
              </a:rPr>
              <a:t>need</a:t>
            </a:r>
            <a:r>
              <a:rPr dirty="0" sz="20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dirty="0" sz="2050" spc="-5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add</a:t>
            </a:r>
            <a:r>
              <a:rPr dirty="0" sz="2050" spc="-5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dirty="0" sz="2050" spc="-10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Spring</a:t>
            </a:r>
            <a:r>
              <a:rPr dirty="0" sz="2050" spc="60">
                <a:latin typeface="Arial MT"/>
                <a:cs typeface="Arial MT"/>
              </a:rPr>
              <a:t> </a:t>
            </a:r>
            <a:r>
              <a:rPr dirty="0" sz="2050" spc="-20">
                <a:latin typeface="Arial MT"/>
                <a:cs typeface="Arial MT"/>
              </a:rPr>
              <a:t>Milestones repository</a:t>
            </a:r>
            <a:r>
              <a:rPr dirty="0" sz="2050" spc="-3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2050" spc="-1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your</a:t>
            </a:r>
            <a:r>
              <a:rPr dirty="0" sz="2050" spc="65">
                <a:latin typeface="Arial MT"/>
                <a:cs typeface="Arial MT"/>
              </a:rPr>
              <a:t> </a:t>
            </a:r>
            <a:r>
              <a:rPr dirty="0" sz="2050" spc="-170">
                <a:solidFill>
                  <a:srgbClr val="181818"/>
                </a:solidFill>
                <a:latin typeface="Arial MT"/>
                <a:cs typeface="Arial MT"/>
              </a:rPr>
              <a:t>porn.</a:t>
            </a:r>
            <a:r>
              <a:rPr dirty="0" sz="2050" spc="-1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xml</a:t>
            </a:r>
            <a:r>
              <a:rPr dirty="0" sz="2050" spc="-145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file.</a:t>
            </a:r>
            <a:r>
              <a:rPr dirty="0" sz="2050" spc="-14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dirty="0" sz="20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 spc="-254">
                <a:solidFill>
                  <a:srgbClr val="131313"/>
                </a:solidFill>
                <a:latin typeface="Arial MT"/>
                <a:cs typeface="Arial MT"/>
              </a:rPr>
              <a:t>MS</a:t>
            </a:r>
            <a:r>
              <a:rPr dirty="0" sz="205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latin typeface="Arial MT"/>
                <a:cs typeface="Arial MT"/>
              </a:rPr>
              <a:t>onwards,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31313"/>
                </a:solidFill>
                <a:latin typeface="Arial MT"/>
                <a:cs typeface="Arial MT"/>
              </a:rPr>
              <a:t>they</a:t>
            </a:r>
            <a:r>
              <a:rPr dirty="0" sz="2050" spc="-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latin typeface="Arial MT"/>
                <a:cs typeface="Arial MT"/>
              </a:rPr>
              <a:t>are</a:t>
            </a:r>
            <a:r>
              <a:rPr dirty="0" sz="2050" spc="-50"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0F0F0F"/>
                </a:solidFill>
                <a:latin typeface="Arial MT"/>
                <a:cs typeface="Arial MT"/>
              </a:rPr>
              <a:t>also</a:t>
            </a:r>
            <a:r>
              <a:rPr dirty="0" sz="20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C1C1C"/>
                </a:solidFill>
                <a:latin typeface="Arial MT"/>
                <a:cs typeface="Arial MT"/>
              </a:rPr>
              <a:t>in</a:t>
            </a:r>
            <a:r>
              <a:rPr dirty="0" sz="2050" spc="-5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111111"/>
                </a:solidFill>
                <a:latin typeface="Arial MT"/>
                <a:cs typeface="Arial MT"/>
              </a:rPr>
              <a:t>Maven</a:t>
            </a: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100" spc="-10">
                <a:latin typeface="Calibri"/>
                <a:cs typeface="Calibri"/>
              </a:rPr>
              <a:t>Central.</a:t>
            </a:r>
            <a:endParaRPr sz="2100">
              <a:latin typeface="Calibri"/>
              <a:cs typeface="Calibri"/>
            </a:endParaRPr>
          </a:p>
          <a:p>
            <a:pPr algn="r" marR="7059930">
              <a:lnSpc>
                <a:spcPts val="1535"/>
              </a:lnSpc>
              <a:spcBef>
                <a:spcPts val="2405"/>
              </a:spcBef>
            </a:pPr>
            <a:r>
              <a:rPr dirty="0" sz="1400" spc="90">
                <a:solidFill>
                  <a:srgbClr val="0E0E0E"/>
                </a:solidFill>
                <a:latin typeface="Calibri"/>
                <a:cs typeface="Calibri"/>
              </a:rPr>
              <a:t>&lt;repos1tor</a:t>
            </a:r>
            <a:r>
              <a:rPr dirty="0" sz="1400" spc="-16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31313"/>
                </a:solidFill>
                <a:latin typeface="Calibri"/>
                <a:cs typeface="Calibri"/>
              </a:rPr>
              <a:t>1es&gt;</a:t>
            </a:r>
            <a:endParaRPr sz="1400">
              <a:latin typeface="Calibri"/>
              <a:cs typeface="Calibri"/>
            </a:endParaRPr>
          </a:p>
          <a:p>
            <a:pPr algn="r" marR="7059930">
              <a:lnSpc>
                <a:spcPts val="1450"/>
              </a:lnSpc>
            </a:pPr>
            <a:r>
              <a:rPr dirty="0" sz="1400" spc="90">
                <a:solidFill>
                  <a:srgbClr val="2B2B2B"/>
                </a:solidFill>
                <a:latin typeface="Calibri"/>
                <a:cs typeface="Calibri"/>
              </a:rPr>
              <a:t>&lt;repos1tor</a:t>
            </a:r>
            <a:r>
              <a:rPr dirty="0" sz="140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D1D1D"/>
                </a:solidFill>
                <a:latin typeface="Calibri"/>
                <a:cs typeface="Calibri"/>
              </a:rPr>
              <a:t>y&gt;</a:t>
            </a:r>
            <a:endParaRPr sz="1400">
              <a:latin typeface="Calibri"/>
              <a:cs typeface="Calibri"/>
            </a:endParaRPr>
          </a:p>
          <a:p>
            <a:pPr marL="695960">
              <a:lnSpc>
                <a:spcPts val="1465"/>
              </a:lnSpc>
            </a:pPr>
            <a:r>
              <a:rPr dirty="0" sz="1400" spc="55">
                <a:solidFill>
                  <a:srgbClr val="0C0C0C"/>
                </a:solidFill>
                <a:latin typeface="Calibri"/>
                <a:cs typeface="Calibri"/>
              </a:rPr>
              <a:t>&lt;1d&gt;spr1ng</a:t>
            </a:r>
            <a:r>
              <a:rPr dirty="0" sz="1400" spc="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-</a:t>
            </a:r>
            <a:r>
              <a:rPr dirty="0" sz="1400" spc="55">
                <a:latin typeface="Calibri"/>
                <a:cs typeface="Calibri"/>
              </a:rPr>
              <a:t>«i11estenes&lt;/1d&gt;</a:t>
            </a:r>
            <a:endParaRPr sz="1400">
              <a:latin typeface="Calibri"/>
              <a:cs typeface="Calibri"/>
            </a:endParaRPr>
          </a:p>
          <a:p>
            <a:pPr marL="695960">
              <a:lnSpc>
                <a:spcPts val="1415"/>
              </a:lnSpc>
            </a:pPr>
            <a:r>
              <a:rPr dirty="0" sz="1400">
                <a:latin typeface="Calibri"/>
                <a:cs typeface="Calibri"/>
              </a:rPr>
              <a:t>&lt;nai›ie&gt;spr1ng</a:t>
            </a:r>
            <a:r>
              <a:rPr dirty="0" sz="1400" spc="250">
                <a:latin typeface="Calibri"/>
                <a:cs typeface="Calibri"/>
              </a:rPr>
              <a:t>  </a:t>
            </a:r>
            <a:r>
              <a:rPr dirty="0" sz="1400" spc="45">
                <a:solidFill>
                  <a:srgbClr val="0F0F0F"/>
                </a:solidFill>
                <a:latin typeface="Calibri"/>
                <a:cs typeface="Calibri"/>
              </a:rPr>
              <a:t>N1testones&lt;/name&gt;</a:t>
            </a:r>
            <a:endParaRPr sz="1400">
              <a:latin typeface="Calibri"/>
              <a:cs typeface="Calibri"/>
            </a:endParaRPr>
          </a:p>
          <a:p>
            <a:pPr marL="695960">
              <a:lnSpc>
                <a:spcPts val="1475"/>
              </a:lnSpc>
            </a:pPr>
            <a:r>
              <a:rPr dirty="0" sz="1400" spc="50">
                <a:latin typeface="Calibri"/>
                <a:cs typeface="Calibri"/>
              </a:rPr>
              <a:t>&lt;ur</a:t>
            </a:r>
            <a:r>
              <a:rPr dirty="0" sz="1400" spc="-135">
                <a:latin typeface="Calibri"/>
                <a:cs typeface="Calibri"/>
              </a:rPr>
              <a:t> </a:t>
            </a:r>
            <a:r>
              <a:rPr dirty="0" sz="1400" spc="55">
                <a:solidFill>
                  <a:srgbClr val="1A1A1A"/>
                </a:solidFill>
                <a:latin typeface="Calibri"/>
                <a:cs typeface="Calibri"/>
              </a:rPr>
              <a:t>1&gt;ht</a:t>
            </a:r>
            <a:r>
              <a:rPr dirty="0" sz="1400" spc="-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tps</a:t>
            </a:r>
            <a:r>
              <a:rPr dirty="0" sz="1400" spc="1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818"/>
                </a:solidFill>
                <a:latin typeface="Calibri"/>
                <a:cs typeface="Calibri"/>
              </a:rPr>
              <a:t>:</a:t>
            </a:r>
            <a:r>
              <a:rPr dirty="0" sz="1400" spc="-4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spc="100">
                <a:solidFill>
                  <a:srgbClr val="111111"/>
                </a:solidFill>
                <a:latin typeface="Calibri"/>
                <a:cs typeface="Calibri"/>
              </a:rPr>
              <a:t>//repo</a:t>
            </a:r>
            <a:r>
              <a:rPr dirty="0" sz="1400" spc="-6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81818"/>
                </a:solidFill>
                <a:latin typeface="Calibri"/>
                <a:cs typeface="Calibri"/>
              </a:rPr>
              <a:t>.</a:t>
            </a:r>
            <a:r>
              <a:rPr dirty="0" sz="1400" spc="-3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131313"/>
                </a:solidFill>
                <a:latin typeface="Calibri"/>
                <a:cs typeface="Calibri"/>
              </a:rPr>
              <a:t>spr1ng</a:t>
            </a:r>
            <a:r>
              <a:rPr dirty="0" sz="1400" spc="3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81818"/>
                </a:solidFill>
                <a:latin typeface="Calibri"/>
                <a:cs typeface="Calibri"/>
              </a:rPr>
              <a:t>.</a:t>
            </a:r>
            <a:r>
              <a:rPr dirty="0" sz="1400" spc="-12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spc="85">
                <a:latin typeface="Calibri"/>
                <a:cs typeface="Calibri"/>
              </a:rPr>
              <a:t>1o/m1Iestene&lt;/urt&gt;</a:t>
            </a:r>
            <a:endParaRPr sz="1400">
              <a:latin typeface="Calibri"/>
              <a:cs typeface="Calibri"/>
            </a:endParaRPr>
          </a:p>
          <a:p>
            <a:pPr marL="789940">
              <a:lnSpc>
                <a:spcPts val="1445"/>
              </a:lnSpc>
            </a:pPr>
            <a:r>
              <a:rPr dirty="0" sz="1350" spc="-10">
                <a:solidFill>
                  <a:srgbClr val="1A1A1A"/>
                </a:solidFill>
                <a:latin typeface="Consolas"/>
                <a:cs typeface="Consolas"/>
              </a:rPr>
              <a:t>snapshots</a:t>
            </a:r>
            <a:endParaRPr sz="1350">
              <a:latin typeface="Consolas"/>
              <a:cs typeface="Consolas"/>
            </a:endParaRPr>
          </a:p>
          <a:p>
            <a:pPr marL="890905">
              <a:lnSpc>
                <a:spcPts val="1415"/>
              </a:lnSpc>
            </a:pPr>
            <a:r>
              <a:rPr dirty="0" sz="1350" spc="90">
                <a:latin typeface="Calibri"/>
                <a:cs typeface="Calibri"/>
              </a:rPr>
              <a:t>&lt;enab1ed&gt;fa1se&lt;/enabled»</a:t>
            </a:r>
            <a:endParaRPr sz="1350">
              <a:latin typeface="Calibri"/>
              <a:cs typeface="Calibri"/>
            </a:endParaRPr>
          </a:p>
          <a:p>
            <a:pPr marL="695960">
              <a:lnSpc>
                <a:spcPts val="1440"/>
              </a:lnSpc>
            </a:pPr>
            <a:r>
              <a:rPr dirty="0" sz="1350" spc="100">
                <a:latin typeface="Calibri"/>
                <a:cs typeface="Calibri"/>
              </a:rPr>
              <a:t>&lt;/snapshots&gt;</a:t>
            </a:r>
            <a:endParaRPr sz="1350">
              <a:latin typeface="Calibri"/>
              <a:cs typeface="Calibri"/>
            </a:endParaRPr>
          </a:p>
          <a:p>
            <a:pPr algn="r" marR="6980555">
              <a:lnSpc>
                <a:spcPts val="1450"/>
              </a:lnSpc>
            </a:pPr>
            <a:r>
              <a:rPr dirty="0" sz="1350" spc="110">
                <a:latin typeface="Calibri"/>
                <a:cs typeface="Calibri"/>
              </a:rPr>
              <a:t>&lt;/repos1tory&gt;</a:t>
            </a:r>
            <a:endParaRPr sz="1350">
              <a:latin typeface="Calibri"/>
              <a:cs typeface="Calibri"/>
            </a:endParaRPr>
          </a:p>
          <a:p>
            <a:pPr algn="r" marR="6960234">
              <a:lnSpc>
                <a:spcPts val="1530"/>
              </a:lnSpc>
            </a:pPr>
            <a:r>
              <a:rPr dirty="0" sz="1350" spc="114">
                <a:solidFill>
                  <a:srgbClr val="111111"/>
                </a:solidFill>
                <a:latin typeface="Calibri"/>
                <a:cs typeface="Calibri"/>
              </a:rPr>
              <a:t>&lt;/repos1tor1es&gt;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9551" y="5289588"/>
            <a:ext cx="2179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45454"/>
                </a:solidFill>
                <a:latin typeface="Calibri"/>
                <a:cs typeface="Calibri"/>
              </a:rPr>
              <a:t>Intelligent</a:t>
            </a:r>
            <a:r>
              <a:rPr dirty="0" sz="1100" spc="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25252"/>
                </a:solidFill>
                <a:latin typeface="Calibri"/>
                <a:cs typeface="Calibri"/>
              </a:rPr>
              <a:t>Applications</a:t>
            </a:r>
            <a:r>
              <a:rPr dirty="0" sz="1100" spc="-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100" spc="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100" spc="8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Calibri"/>
                <a:cs typeface="Calibri"/>
              </a:rPr>
              <a:t>AI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93091" y="5295940"/>
            <a:ext cx="1676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676767"/>
                </a:solidFill>
                <a:latin typeface="Consolas"/>
                <a:cs typeface="Consolas"/>
              </a:rPr>
              <a:t>42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50" spc="50">
                <a:solidFill>
                  <a:srgbClr val="13B1CC"/>
                </a:solidFill>
                <a:latin typeface="Arial MT"/>
                <a:cs typeface="Arial MT"/>
              </a:rPr>
              <a:t>Spring</a:t>
            </a:r>
            <a:r>
              <a:rPr dirty="0" sz="3050" spc="110">
                <a:solidFill>
                  <a:srgbClr val="13B1CC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0EC3D8"/>
                </a:solidFill>
                <a:latin typeface="Arial MT"/>
                <a:cs typeface="Arial MT"/>
              </a:rPr>
              <a:t>AI</a:t>
            </a:r>
            <a:r>
              <a:rPr dirty="0" sz="3050" spc="70">
                <a:solidFill>
                  <a:srgbClr val="0EC3D8"/>
                </a:solidFill>
                <a:latin typeface="Arial MT"/>
                <a:cs typeface="Arial MT"/>
              </a:rPr>
              <a:t> </a:t>
            </a:r>
            <a:r>
              <a:rPr dirty="0" sz="3050" spc="-25">
                <a:solidFill>
                  <a:srgbClr val="0AB6CF"/>
                </a:solidFill>
                <a:latin typeface="Arial MT"/>
                <a:cs typeface="Arial MT"/>
              </a:rPr>
              <a:t>BOM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9437" y="1287338"/>
            <a:ext cx="8602980" cy="3846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27600"/>
              </a:lnSpc>
              <a:spcBef>
                <a:spcPts val="100"/>
              </a:spcBef>
            </a:pPr>
            <a:r>
              <a:rPr dirty="0" sz="1850" spc="95">
                <a:solidFill>
                  <a:srgbClr val="131313"/>
                </a:solidFill>
                <a:latin typeface="Arial MT"/>
                <a:cs typeface="Arial MT"/>
              </a:rPr>
              <a:t>Add</a:t>
            </a:r>
            <a:r>
              <a:rPr dirty="0" sz="1850" spc="5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50" spc="7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dirty="0" sz="1850" spc="2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 spc="75">
                <a:solidFill>
                  <a:srgbClr val="0F0F0F"/>
                </a:solidFill>
                <a:latin typeface="Arial MT"/>
                <a:cs typeface="Arial MT"/>
              </a:rPr>
              <a:t>Spring</a:t>
            </a:r>
            <a:r>
              <a:rPr dirty="0" sz="1850" spc="9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AI</a:t>
            </a:r>
            <a:r>
              <a:rPr dirty="0" sz="1850" spc="90">
                <a:latin typeface="Arial MT"/>
                <a:cs typeface="Arial MT"/>
              </a:rPr>
              <a:t> </a:t>
            </a:r>
            <a:r>
              <a:rPr dirty="0" sz="1850" spc="70">
                <a:solidFill>
                  <a:srgbClr val="0E0E0E"/>
                </a:solidFill>
                <a:latin typeface="Arial MT"/>
                <a:cs typeface="Arial MT"/>
              </a:rPr>
              <a:t>BOM</a:t>
            </a:r>
            <a:r>
              <a:rPr dirty="0" sz="1850" spc="8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dirty="0" sz="1850" spc="9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your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 spc="-165">
                <a:solidFill>
                  <a:srgbClr val="1D1D1D"/>
                </a:solidFill>
                <a:latin typeface="Arial MT"/>
                <a:cs typeface="Arial MT"/>
              </a:rPr>
              <a:t>pom</a:t>
            </a:r>
            <a:r>
              <a:rPr dirty="0" sz="1850" spc="-18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850" spc="-75">
                <a:solidFill>
                  <a:srgbClr val="131313"/>
                </a:solidFill>
                <a:latin typeface="Arial MT"/>
                <a:cs typeface="Arial MT"/>
              </a:rPr>
              <a:t>. </a:t>
            </a:r>
            <a:r>
              <a:rPr dirty="0" sz="1850" spc="90">
                <a:solidFill>
                  <a:srgbClr val="181818"/>
                </a:solidFill>
                <a:latin typeface="Arial MT"/>
                <a:cs typeface="Arial MT"/>
              </a:rPr>
              <a:t>xml</a:t>
            </a:r>
            <a:r>
              <a:rPr dirty="0" sz="1850" spc="-2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850" spc="65">
                <a:solidFill>
                  <a:srgbClr val="1C1C1C"/>
                </a:solidFill>
                <a:latin typeface="Arial MT"/>
                <a:cs typeface="Arial MT"/>
              </a:rPr>
              <a:t>file</a:t>
            </a:r>
            <a:r>
              <a:rPr dirty="0" sz="1850" spc="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850" spc="85">
                <a:solidFill>
                  <a:srgbClr val="151515"/>
                </a:solidFill>
                <a:latin typeface="Arial MT"/>
                <a:cs typeface="Arial MT"/>
              </a:rPr>
              <a:t>and</a:t>
            </a:r>
            <a:r>
              <a:rPr dirty="0" sz="1850" spc="114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850" spc="55">
                <a:solidFill>
                  <a:srgbClr val="111111"/>
                </a:solidFill>
                <a:latin typeface="Arial MT"/>
                <a:cs typeface="Arial MT"/>
              </a:rPr>
              <a:t>reference</a:t>
            </a:r>
            <a:r>
              <a:rPr dirty="0" sz="1850" spc="10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50" spc="55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1850" spc="2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50" spc="45">
                <a:solidFill>
                  <a:srgbClr val="161616"/>
                </a:solidFill>
                <a:latin typeface="Arial MT"/>
                <a:cs typeface="Arial MT"/>
              </a:rPr>
              <a:t>version</a:t>
            </a:r>
            <a:r>
              <a:rPr dirty="0" sz="1850" spc="13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50">
                <a:solidFill>
                  <a:srgbClr val="1C1C1C"/>
                </a:solidFill>
                <a:latin typeface="Arial MT"/>
                <a:cs typeface="Arial MT"/>
              </a:rPr>
              <a:t>in</a:t>
            </a:r>
            <a:r>
              <a:rPr dirty="0" sz="1850" spc="8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the </a:t>
            </a:r>
            <a:r>
              <a:rPr dirty="0" sz="1850" spc="80">
                <a:latin typeface="Arial MT"/>
                <a:cs typeface="Arial MT"/>
              </a:rPr>
              <a:t>properties</a:t>
            </a:r>
            <a:r>
              <a:rPr dirty="0" sz="1850" spc="120">
                <a:latin typeface="Arial MT"/>
                <a:cs typeface="Arial MT"/>
              </a:rPr>
              <a:t> </a:t>
            </a:r>
            <a:r>
              <a:rPr dirty="0" sz="1850" spc="45">
                <a:solidFill>
                  <a:srgbClr val="131313"/>
                </a:solidFill>
                <a:latin typeface="Arial MT"/>
                <a:cs typeface="Arial MT"/>
              </a:rPr>
              <a:t>section.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50">
              <a:latin typeface="Arial MT"/>
              <a:cs typeface="Arial MT"/>
            </a:endParaRPr>
          </a:p>
          <a:p>
            <a:pPr marL="307340">
              <a:lnSpc>
                <a:spcPts val="1590"/>
              </a:lnSpc>
            </a:pPr>
            <a:r>
              <a:rPr dirty="0" sz="1450" spc="-70">
                <a:solidFill>
                  <a:srgbClr val="1A1A1A"/>
                </a:solidFill>
                <a:latin typeface="Courier New"/>
                <a:cs typeface="Courier New"/>
              </a:rPr>
              <a:t>‹propertiesx</a:t>
            </a:r>
            <a:endParaRPr sz="1450">
              <a:latin typeface="Courier New"/>
              <a:cs typeface="Courier New"/>
            </a:endParaRPr>
          </a:p>
          <a:p>
            <a:pPr marL="779780">
              <a:lnSpc>
                <a:spcPts val="1465"/>
              </a:lnSpc>
            </a:pPr>
            <a:r>
              <a:rPr dirty="0" sz="1450" spc="-145">
                <a:latin typeface="Courier New"/>
                <a:cs typeface="Courier New"/>
              </a:rPr>
              <a:t>spring-</a:t>
            </a:r>
            <a:r>
              <a:rPr dirty="0" sz="1450" spc="-140">
                <a:latin typeface="Courier New"/>
                <a:cs typeface="Courier New"/>
              </a:rPr>
              <a:t>ai.version</a:t>
            </a:r>
            <a:r>
              <a:rPr dirty="0" sz="1450" spc="40">
                <a:latin typeface="Courier New"/>
                <a:cs typeface="Courier New"/>
              </a:rPr>
              <a:t> </a:t>
            </a:r>
            <a:r>
              <a:rPr dirty="0" sz="1450" spc="-145">
                <a:latin typeface="Courier New"/>
                <a:cs typeface="Courier New"/>
              </a:rPr>
              <a:t>1.0.0-</a:t>
            </a:r>
            <a:r>
              <a:rPr dirty="0" sz="1450" spc="-135">
                <a:latin typeface="Courier New"/>
                <a:cs typeface="Courier New"/>
              </a:rPr>
              <a:t>M5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135">
                <a:latin typeface="Courier New"/>
                <a:cs typeface="Courier New"/>
              </a:rPr>
              <a:t>/spring-</a:t>
            </a:r>
            <a:r>
              <a:rPr dirty="0" sz="1450" spc="-20">
                <a:latin typeface="Courier New"/>
                <a:cs typeface="Courier New"/>
              </a:rPr>
              <a:t>ai.version</a:t>
            </a:r>
            <a:endParaRPr sz="1450">
              <a:latin typeface="Courier New"/>
              <a:cs typeface="Courier New"/>
            </a:endParaRPr>
          </a:p>
          <a:p>
            <a:pPr marL="393700">
              <a:lnSpc>
                <a:spcPts val="1614"/>
              </a:lnSpc>
            </a:pPr>
            <a:r>
              <a:rPr dirty="0" sz="1450" spc="-60">
                <a:solidFill>
                  <a:srgbClr val="1A1A1A"/>
                </a:solidFill>
                <a:latin typeface="Courier New"/>
                <a:cs typeface="Courier New"/>
              </a:rPr>
              <a:t>/properties</a:t>
            </a:r>
            <a:endParaRPr sz="1450">
              <a:latin typeface="Courier New"/>
              <a:cs typeface="Courier New"/>
            </a:endParaRPr>
          </a:p>
          <a:p>
            <a:pPr marL="305435">
              <a:lnSpc>
                <a:spcPts val="1530"/>
              </a:lnSpc>
              <a:spcBef>
                <a:spcPts val="1190"/>
              </a:spcBef>
            </a:pPr>
            <a:r>
              <a:rPr dirty="0" sz="1350" spc="-10">
                <a:solidFill>
                  <a:srgbClr val="181818"/>
                </a:solidFill>
                <a:latin typeface="Consolas"/>
                <a:cs typeface="Consolas"/>
              </a:rPr>
              <a:t>&lt;dependencyManagement&gt;</a:t>
            </a:r>
            <a:endParaRPr sz="1350">
              <a:latin typeface="Consolas"/>
              <a:cs typeface="Consolas"/>
            </a:endParaRPr>
          </a:p>
          <a:p>
            <a:pPr algn="r" marR="6762750">
              <a:lnSpc>
                <a:spcPts val="1445"/>
              </a:lnSpc>
            </a:pPr>
            <a:r>
              <a:rPr dirty="0" sz="1400" spc="10">
                <a:solidFill>
                  <a:srgbClr val="151515"/>
                </a:solidFill>
                <a:latin typeface="Calibri"/>
                <a:cs typeface="Calibri"/>
              </a:rPr>
              <a:t>&lt;dependenc</a:t>
            </a:r>
            <a:r>
              <a:rPr dirty="0" sz="1400" spc="-1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31313"/>
                </a:solidFill>
                <a:latin typeface="Calibri"/>
                <a:cs typeface="Calibri"/>
              </a:rPr>
              <a:t>1es&gt;</a:t>
            </a:r>
            <a:endParaRPr sz="1400">
              <a:latin typeface="Calibri"/>
              <a:cs typeface="Calibri"/>
            </a:endParaRPr>
          </a:p>
          <a:p>
            <a:pPr algn="r" marR="6776720">
              <a:lnSpc>
                <a:spcPts val="1465"/>
              </a:lnSpc>
            </a:pPr>
            <a:r>
              <a:rPr dirty="0" sz="1400" spc="-10">
                <a:solidFill>
                  <a:srgbClr val="161616"/>
                </a:solidFill>
                <a:latin typeface="Calibri"/>
                <a:cs typeface="Calibri"/>
              </a:rPr>
              <a:t>&lt;dependency&gt;</a:t>
            </a:r>
            <a:endParaRPr sz="1400">
              <a:latin typeface="Calibri"/>
              <a:cs typeface="Calibri"/>
            </a:endParaRPr>
          </a:p>
          <a:p>
            <a:pPr marL="884555">
              <a:lnSpc>
                <a:spcPts val="1430"/>
              </a:lnSpc>
            </a:pPr>
            <a:r>
              <a:rPr dirty="0" sz="1300">
                <a:solidFill>
                  <a:srgbClr val="0E0E0E"/>
                </a:solidFill>
                <a:latin typeface="Calibri"/>
                <a:cs typeface="Calibri"/>
              </a:rPr>
              <a:t>&lt;g</a:t>
            </a:r>
            <a:r>
              <a:rPr dirty="0" sz="1300" spc="-9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300" spc="95">
                <a:solidFill>
                  <a:srgbClr val="CF796B"/>
                </a:solidFill>
                <a:latin typeface="Calibri"/>
                <a:cs typeface="Calibri"/>
              </a:rPr>
              <a:t>roup</a:t>
            </a:r>
            <a:r>
              <a:rPr dirty="0" sz="1300" spc="95">
                <a:solidFill>
                  <a:srgbClr val="AA5650"/>
                </a:solidFill>
                <a:latin typeface="Calibri"/>
                <a:cs typeface="Calibri"/>
              </a:rPr>
              <a:t>I</a:t>
            </a:r>
            <a:r>
              <a:rPr dirty="0" sz="1300" spc="120">
                <a:solidFill>
                  <a:srgbClr val="AA5650"/>
                </a:solidFill>
                <a:latin typeface="Calibri"/>
                <a:cs typeface="Calibri"/>
              </a:rPr>
              <a:t> </a:t>
            </a:r>
            <a:r>
              <a:rPr dirty="0" sz="1300" spc="95">
                <a:solidFill>
                  <a:srgbClr val="151515"/>
                </a:solidFill>
                <a:latin typeface="Calibri"/>
                <a:cs typeface="Calibri"/>
              </a:rPr>
              <a:t>d&gt;or</a:t>
            </a:r>
            <a:r>
              <a:rPr dirty="0" sz="1300" spc="-11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g</a:t>
            </a:r>
            <a:r>
              <a:rPr dirty="0" sz="1300" spc="-7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r>
              <a:rPr dirty="0" sz="1300" spc="5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sp</a:t>
            </a:r>
            <a:r>
              <a:rPr dirty="0" sz="13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150">
                <a:solidFill>
                  <a:srgbClr val="0F0F0F"/>
                </a:solidFill>
                <a:latin typeface="Calibri"/>
                <a:cs typeface="Calibri"/>
              </a:rPr>
              <a:t>r1ngf</a:t>
            </a:r>
            <a:r>
              <a:rPr dirty="0" sz="1300" spc="-16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300" spc="130">
                <a:solidFill>
                  <a:srgbClr val="151515"/>
                </a:solidFill>
                <a:latin typeface="Calibri"/>
                <a:cs typeface="Calibri"/>
              </a:rPr>
              <a:t>r</a:t>
            </a:r>
            <a:r>
              <a:rPr dirty="0" sz="13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31313"/>
                </a:solidFill>
                <a:latin typeface="Calibri"/>
                <a:cs typeface="Calibri"/>
              </a:rPr>
              <a:t>amewor</a:t>
            </a:r>
            <a:r>
              <a:rPr dirty="0" sz="1300" spc="-9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121"/>
                </a:solidFill>
                <a:latin typeface="Calibri"/>
                <a:cs typeface="Calibri"/>
              </a:rPr>
              <a:t>k</a:t>
            </a:r>
            <a:r>
              <a:rPr dirty="0" sz="1300" spc="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61616"/>
                </a:solidFill>
                <a:latin typeface="Calibri"/>
                <a:cs typeface="Calibri"/>
              </a:rPr>
              <a:t>.</a:t>
            </a:r>
            <a:r>
              <a:rPr dirty="0" sz="1300" spc="-5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300" spc="110">
                <a:latin typeface="Calibri"/>
                <a:cs typeface="Calibri"/>
              </a:rPr>
              <a:t>a1&lt;/g</a:t>
            </a:r>
            <a:r>
              <a:rPr dirty="0" sz="1300" spc="-130">
                <a:latin typeface="Calibri"/>
                <a:cs typeface="Calibri"/>
              </a:rPr>
              <a:t> </a:t>
            </a:r>
            <a:r>
              <a:rPr dirty="0" sz="1300" spc="95">
                <a:solidFill>
                  <a:srgbClr val="CA6B64"/>
                </a:solidFill>
                <a:latin typeface="Calibri"/>
                <a:cs typeface="Calibri"/>
              </a:rPr>
              <a:t>roup</a:t>
            </a:r>
            <a:r>
              <a:rPr dirty="0" sz="1300" spc="95">
                <a:solidFill>
                  <a:srgbClr val="BA5E52"/>
                </a:solidFill>
                <a:latin typeface="Calibri"/>
                <a:cs typeface="Calibri"/>
              </a:rPr>
              <a:t>I</a:t>
            </a:r>
            <a:r>
              <a:rPr dirty="0" sz="1300" spc="120">
                <a:solidFill>
                  <a:srgbClr val="BA5E52"/>
                </a:solidFill>
                <a:latin typeface="Calibri"/>
                <a:cs typeface="Calibri"/>
              </a:rPr>
              <a:t> </a:t>
            </a:r>
            <a:r>
              <a:rPr dirty="0" sz="1300" spc="75">
                <a:latin typeface="Calibri"/>
                <a:cs typeface="Calibri"/>
              </a:rPr>
              <a:t>d&gt;</a:t>
            </a:r>
            <a:endParaRPr sz="1300">
              <a:latin typeface="Calibri"/>
              <a:cs typeface="Calibri"/>
            </a:endParaRPr>
          </a:p>
          <a:p>
            <a:pPr marL="883919">
              <a:lnSpc>
                <a:spcPts val="1495"/>
              </a:lnSpc>
            </a:pPr>
            <a:r>
              <a:rPr dirty="0" sz="1350" spc="90">
                <a:solidFill>
                  <a:srgbClr val="131313"/>
                </a:solidFill>
                <a:latin typeface="Calibri"/>
                <a:cs typeface="Calibri"/>
              </a:rPr>
              <a:t>&lt;ar</a:t>
            </a:r>
            <a:r>
              <a:rPr dirty="0" sz="1350" spc="-16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CA5952"/>
                </a:solidFill>
                <a:latin typeface="Calibri"/>
                <a:cs typeface="Calibri"/>
              </a:rPr>
              <a:t>I</a:t>
            </a:r>
            <a:r>
              <a:rPr dirty="0" sz="1350" spc="30">
                <a:solidFill>
                  <a:srgbClr val="CA5952"/>
                </a:solidFill>
                <a:latin typeface="Calibri"/>
                <a:cs typeface="Calibri"/>
              </a:rPr>
              <a:t> </a:t>
            </a:r>
            <a:r>
              <a:rPr dirty="0" sz="1350" spc="155">
                <a:solidFill>
                  <a:srgbClr val="C35259"/>
                </a:solidFill>
                <a:latin typeface="Calibri"/>
                <a:cs typeface="Calibri"/>
              </a:rPr>
              <a:t>1fac</a:t>
            </a:r>
            <a:r>
              <a:rPr dirty="0" sz="1350" spc="-165">
                <a:solidFill>
                  <a:srgbClr val="C35259"/>
                </a:solidFill>
                <a:latin typeface="Calibri"/>
                <a:cs typeface="Calibri"/>
              </a:rPr>
              <a:t> </a:t>
            </a:r>
            <a:r>
              <a:rPr dirty="0" sz="1350" spc="155">
                <a:solidFill>
                  <a:srgbClr val="BA5767"/>
                </a:solidFill>
                <a:latin typeface="Calibri"/>
                <a:cs typeface="Calibri"/>
              </a:rPr>
              <a:t>t</a:t>
            </a:r>
            <a:r>
              <a:rPr dirty="0" sz="1350" spc="155">
                <a:solidFill>
                  <a:srgbClr val="D65460"/>
                </a:solidFill>
                <a:latin typeface="Calibri"/>
                <a:cs typeface="Calibri"/>
              </a:rPr>
              <a:t>I</a:t>
            </a:r>
            <a:r>
              <a:rPr dirty="0" sz="1350" spc="45">
                <a:solidFill>
                  <a:srgbClr val="D65460"/>
                </a:solidFill>
                <a:latin typeface="Calibri"/>
                <a:cs typeface="Calibri"/>
              </a:rPr>
              <a:t> </a:t>
            </a:r>
            <a:r>
              <a:rPr dirty="0" sz="1350" spc="85">
                <a:latin typeface="Calibri"/>
                <a:cs typeface="Calibri"/>
              </a:rPr>
              <a:t>d&gt;spr1ng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160">
                <a:solidFill>
                  <a:srgbClr val="232323"/>
                </a:solidFill>
                <a:latin typeface="Calibri"/>
                <a:cs typeface="Calibri"/>
              </a:rPr>
              <a:t>-</a:t>
            </a:r>
            <a:r>
              <a:rPr dirty="0" sz="1350" spc="200">
                <a:solidFill>
                  <a:srgbClr val="232323"/>
                </a:solidFill>
                <a:latin typeface="Calibri"/>
                <a:cs typeface="Calibri"/>
              </a:rPr>
              <a:t>at-</a:t>
            </a:r>
            <a:r>
              <a:rPr dirty="0" sz="1350" spc="-16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350" spc="105">
                <a:latin typeface="Calibri"/>
                <a:cs typeface="Calibri"/>
              </a:rPr>
              <a:t>bom&lt;/art1fact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 spc="70">
                <a:solidFill>
                  <a:srgbClr val="0C0C0C"/>
                </a:solidFill>
                <a:latin typeface="Calibri"/>
                <a:cs typeface="Calibri"/>
              </a:rPr>
              <a:t>Id&gt;</a:t>
            </a:r>
            <a:endParaRPr sz="1350">
              <a:latin typeface="Calibri"/>
              <a:cs typeface="Calibri"/>
            </a:endParaRPr>
          </a:p>
          <a:p>
            <a:pPr marL="884555">
              <a:lnSpc>
                <a:spcPts val="1385"/>
              </a:lnSpc>
            </a:pPr>
            <a:r>
              <a:rPr dirty="0" sz="1300" spc="135">
                <a:solidFill>
                  <a:srgbClr val="2D2D2D"/>
                </a:solidFill>
                <a:latin typeface="Calibri"/>
                <a:cs typeface="Calibri"/>
              </a:rPr>
              <a:t>&lt;ve</a:t>
            </a:r>
            <a:r>
              <a:rPr dirty="0" sz="1300" spc="135">
                <a:latin typeface="Calibri"/>
                <a:cs typeface="Calibri"/>
              </a:rPr>
              <a:t>rs1on&gt;${sp</a:t>
            </a:r>
            <a:r>
              <a:rPr dirty="0" sz="1300" spc="-120">
                <a:latin typeface="Calibri"/>
                <a:cs typeface="Calibri"/>
              </a:rPr>
              <a:t> </a:t>
            </a:r>
            <a:r>
              <a:rPr dirty="0" sz="1300" spc="100">
                <a:solidFill>
                  <a:srgbClr val="1A1A1A"/>
                </a:solidFill>
                <a:latin typeface="Calibri"/>
                <a:cs typeface="Calibri"/>
              </a:rPr>
              <a:t>r1ng</a:t>
            </a:r>
            <a:r>
              <a:rPr dirty="0" sz="1300" spc="-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00" spc="65">
                <a:solidFill>
                  <a:srgbClr val="262626"/>
                </a:solidFill>
                <a:latin typeface="Calibri"/>
                <a:cs typeface="Calibri"/>
              </a:rPr>
              <a:t>-</a:t>
            </a:r>
            <a:r>
              <a:rPr dirty="0" sz="1300" spc="110">
                <a:solidFill>
                  <a:srgbClr val="262626"/>
                </a:solidFill>
                <a:latin typeface="Calibri"/>
                <a:cs typeface="Calibri"/>
              </a:rPr>
              <a:t>a1</a:t>
            </a:r>
            <a:r>
              <a:rPr dirty="0" sz="130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300" spc="65">
                <a:latin typeface="Calibri"/>
                <a:cs typeface="Calibri"/>
              </a:rPr>
              <a:t>.</a:t>
            </a:r>
            <a:r>
              <a:rPr dirty="0" sz="1300" spc="-80">
                <a:latin typeface="Calibri"/>
                <a:cs typeface="Calibri"/>
              </a:rPr>
              <a:t> </a:t>
            </a:r>
            <a:r>
              <a:rPr dirty="0" sz="1300" spc="135">
                <a:latin typeface="Calibri"/>
                <a:cs typeface="Calibri"/>
              </a:rPr>
              <a:t>vers1on}&lt;/vers1on&gt;</a:t>
            </a:r>
            <a:endParaRPr sz="1300">
              <a:latin typeface="Calibri"/>
              <a:cs typeface="Calibri"/>
            </a:endParaRPr>
          </a:p>
          <a:p>
            <a:pPr marL="878205">
              <a:lnSpc>
                <a:spcPts val="1470"/>
              </a:lnSpc>
            </a:pPr>
            <a:r>
              <a:rPr dirty="0" sz="1350" spc="70">
                <a:latin typeface="Calibri"/>
                <a:cs typeface="Calibri"/>
              </a:rPr>
              <a:t>&lt;type&gt;pom&lt;/type&gt;</a:t>
            </a:r>
            <a:endParaRPr sz="1350">
              <a:latin typeface="Calibri"/>
              <a:cs typeface="Calibri"/>
            </a:endParaRPr>
          </a:p>
          <a:p>
            <a:pPr marL="884555">
              <a:lnSpc>
                <a:spcPts val="1460"/>
              </a:lnSpc>
            </a:pPr>
            <a:r>
              <a:rPr dirty="0" sz="1300" spc="100">
                <a:latin typeface="Calibri"/>
                <a:cs typeface="Calibri"/>
              </a:rPr>
              <a:t>&lt;scope&gt;1mport&lt;/scope&gt;</a:t>
            </a:r>
            <a:endParaRPr sz="1300">
              <a:latin typeface="Calibri"/>
              <a:cs typeface="Calibri"/>
            </a:endParaRPr>
          </a:p>
          <a:p>
            <a:pPr marL="688975">
              <a:lnSpc>
                <a:spcPts val="1390"/>
              </a:lnSpc>
            </a:pPr>
            <a:r>
              <a:rPr dirty="0" sz="1300" spc="80">
                <a:latin typeface="Calibri"/>
                <a:cs typeface="Calibri"/>
              </a:rPr>
              <a:t>&lt;/dependency&gt;</a:t>
            </a:r>
            <a:endParaRPr sz="1300">
              <a:latin typeface="Calibri"/>
              <a:cs typeface="Calibri"/>
            </a:endParaRPr>
          </a:p>
          <a:p>
            <a:pPr marL="494030">
              <a:lnSpc>
                <a:spcPts val="1460"/>
              </a:lnSpc>
            </a:pPr>
            <a:r>
              <a:rPr dirty="0" sz="1400" spc="-10">
                <a:solidFill>
                  <a:srgbClr val="1A1A1A"/>
                </a:solidFill>
                <a:latin typeface="Consolas"/>
                <a:cs typeface="Consolas"/>
              </a:rPr>
              <a:t>&lt;/dependencies&gt;</a:t>
            </a:r>
            <a:endParaRPr sz="1400">
              <a:latin typeface="Consolas"/>
              <a:cs typeface="Consolas"/>
            </a:endParaRPr>
          </a:p>
          <a:p>
            <a:pPr marL="404495">
              <a:lnSpc>
                <a:spcPts val="1570"/>
              </a:lnSpc>
            </a:pPr>
            <a:r>
              <a:rPr dirty="0" sz="1400" spc="-10">
                <a:solidFill>
                  <a:srgbClr val="111111"/>
                </a:solidFill>
                <a:latin typeface="Consolas"/>
                <a:cs typeface="Consolas"/>
              </a:rPr>
              <a:t>/dependencyManagement&gt;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8254" y="5289588"/>
            <a:ext cx="21805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F4F4F"/>
                </a:solidFill>
                <a:latin typeface="Arial MT"/>
                <a:cs typeface="Arial MT"/>
              </a:rPr>
              <a:t>Intelligent</a:t>
            </a:r>
            <a:r>
              <a:rPr dirty="0" sz="1100" spc="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25252"/>
                </a:solidFill>
                <a:latin typeface="Arial MT"/>
                <a:cs typeface="Arial MT"/>
              </a:rPr>
              <a:t>Applications</a:t>
            </a:r>
            <a:r>
              <a:rPr dirty="0" sz="1100" spc="-2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100" spc="-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Arial MT"/>
                <a:cs typeface="Arial MT"/>
              </a:rPr>
              <a:t>Sprinp</a:t>
            </a:r>
            <a:r>
              <a:rPr dirty="0" sz="1100" spc="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00004" y="5302291"/>
            <a:ext cx="1587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5D5D5D"/>
                </a:solidFill>
                <a:latin typeface="Times New Roman"/>
                <a:cs typeface="Times New Roman"/>
              </a:rPr>
              <a:t>43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43712" y="2736254"/>
            <a:ext cx="8830310" cy="0"/>
          </a:xfrm>
          <a:custGeom>
            <a:avLst/>
            <a:gdLst/>
            <a:ahLst/>
            <a:cxnLst/>
            <a:rect l="l" t="t" r="r" b="b"/>
            <a:pathLst>
              <a:path w="8830310" h="0">
                <a:moveTo>
                  <a:pt x="0" y="0"/>
                </a:moveTo>
                <a:lnTo>
                  <a:pt x="8830056" y="0"/>
                </a:lnTo>
              </a:path>
            </a:pathLst>
          </a:custGeom>
          <a:ln w="152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5359706"/>
            <a:ext cx="146303" cy="853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99C6"/>
                </a:solidFill>
                <a:latin typeface="Arial MT"/>
                <a:cs typeface="Arial MT"/>
              </a:rPr>
              <a:t>Spring</a:t>
            </a:r>
            <a:r>
              <a:rPr dirty="0" spc="-180">
                <a:solidFill>
                  <a:srgbClr val="0099C6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5ACE9"/>
                </a:solidFill>
                <a:latin typeface="Arial MT"/>
                <a:cs typeface="Arial MT"/>
              </a:rPr>
              <a:t>Boot</a:t>
            </a:r>
            <a:r>
              <a:rPr dirty="0" spc="-229">
                <a:solidFill>
                  <a:srgbClr val="05ACE9"/>
                </a:solidFill>
                <a:latin typeface="Arial MT"/>
                <a:cs typeface="Arial MT"/>
              </a:rPr>
              <a:t> </a:t>
            </a:r>
            <a:r>
              <a:rPr dirty="0" spc="-30">
                <a:solidFill>
                  <a:srgbClr val="0F9AD6"/>
                </a:solidFill>
                <a:latin typeface="Arial MT"/>
                <a:cs typeface="Arial MT"/>
              </a:rPr>
              <a:t>Starter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97340" y="1304360"/>
            <a:ext cx="8483600" cy="2864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C0C0C"/>
                </a:solidFill>
                <a:latin typeface="Arial MT"/>
                <a:cs typeface="Arial MT"/>
              </a:rPr>
              <a:t>Add </a:t>
            </a:r>
            <a:r>
              <a:rPr dirty="0" sz="1800" spc="6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180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F0F0F"/>
                </a:solidFill>
                <a:latin typeface="Arial MT"/>
                <a:cs typeface="Arial MT"/>
              </a:rPr>
              <a:t>specific</a:t>
            </a:r>
            <a:r>
              <a:rPr dirty="0" sz="180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11111"/>
                </a:solidFill>
                <a:latin typeface="Arial MT"/>
                <a:cs typeface="Arial MT"/>
              </a:rPr>
              <a:t>Spring</a:t>
            </a:r>
            <a:r>
              <a:rPr dirty="0" sz="1800" spc="1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00" spc="-45">
                <a:latin typeface="Arial MT"/>
                <a:cs typeface="Arial MT"/>
              </a:rPr>
              <a:t>AI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dependency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C0C0C"/>
                </a:solidFill>
                <a:latin typeface="Arial MT"/>
                <a:cs typeface="Arial MT"/>
              </a:rPr>
              <a:t>to</a:t>
            </a:r>
            <a:r>
              <a:rPr dirty="0" sz="18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31313"/>
                </a:solidFill>
                <a:latin typeface="Arial MT"/>
                <a:cs typeface="Arial MT"/>
              </a:rPr>
              <a:t>your</a:t>
            </a:r>
            <a:r>
              <a:rPr dirty="0" sz="1800" spc="7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00" spc="-120">
                <a:latin typeface="Arial MT"/>
                <a:cs typeface="Arial MT"/>
              </a:rPr>
              <a:t>pom.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xml</a:t>
            </a:r>
            <a:r>
              <a:rPr dirty="0" sz="1800" spc="-100"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11111"/>
                </a:solidFill>
                <a:latin typeface="Arial MT"/>
                <a:cs typeface="Arial MT"/>
              </a:rPr>
              <a:t>file.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800">
              <a:latin typeface="Arial MT"/>
              <a:cs typeface="Arial MT"/>
            </a:endParaRPr>
          </a:p>
          <a:p>
            <a:pPr marL="128270">
              <a:lnSpc>
                <a:spcPts val="1520"/>
              </a:lnSpc>
              <a:spcBef>
                <a:spcPts val="5"/>
              </a:spcBef>
            </a:pPr>
            <a:r>
              <a:rPr dirty="0" sz="1350" spc="45">
                <a:latin typeface="Calibri"/>
                <a:cs typeface="Calibri"/>
              </a:rPr>
              <a:t>&lt;dependency&gt;</a:t>
            </a:r>
            <a:endParaRPr sz="1350">
              <a:latin typeface="Calibri"/>
              <a:cs typeface="Calibri"/>
            </a:endParaRPr>
          </a:p>
          <a:p>
            <a:pPr marL="512445">
              <a:lnSpc>
                <a:spcPts val="1390"/>
              </a:lnSpc>
            </a:pPr>
            <a:r>
              <a:rPr dirty="0" sz="1350" spc="110">
                <a:latin typeface="Calibri"/>
                <a:cs typeface="Calibri"/>
              </a:rPr>
              <a:t>&lt;groupI</a:t>
            </a:r>
            <a:r>
              <a:rPr dirty="0" sz="1350" spc="110">
                <a:solidFill>
                  <a:srgbClr val="0C0C0C"/>
                </a:solidFill>
                <a:latin typeface="Calibri"/>
                <a:cs typeface="Calibri"/>
              </a:rPr>
              <a:t>d&gt;or</a:t>
            </a:r>
            <a:r>
              <a:rPr dirty="0" sz="1350" spc="-11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1C1C"/>
                </a:solidFill>
                <a:latin typeface="Calibri"/>
                <a:cs typeface="Calibri"/>
              </a:rPr>
              <a:t>g</a:t>
            </a:r>
            <a:r>
              <a:rPr dirty="0" sz="1350" spc="-2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61616"/>
                </a:solidFill>
                <a:latin typeface="Calibri"/>
                <a:cs typeface="Calibri"/>
              </a:rPr>
              <a:t>. </a:t>
            </a:r>
            <a:r>
              <a:rPr dirty="0" sz="1350" spc="120">
                <a:latin typeface="Calibri"/>
                <a:cs typeface="Calibri"/>
              </a:rPr>
              <a:t>spr1ngf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95">
                <a:solidFill>
                  <a:srgbClr val="1C1C1C"/>
                </a:solidFill>
                <a:latin typeface="Calibri"/>
                <a:cs typeface="Calibri"/>
              </a:rPr>
              <a:t>r</a:t>
            </a:r>
            <a:r>
              <a:rPr dirty="0" sz="1350" spc="-10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11111"/>
                </a:solidFill>
                <a:latin typeface="Calibri"/>
                <a:cs typeface="Calibri"/>
              </a:rPr>
              <a:t>amexer</a:t>
            </a:r>
            <a:r>
              <a:rPr dirty="0" sz="1350" spc="-9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F1F1F"/>
                </a:solidFill>
                <a:latin typeface="Calibri"/>
                <a:cs typeface="Calibri"/>
              </a:rPr>
              <a:t>k</a:t>
            </a:r>
            <a:r>
              <a:rPr dirty="0" sz="135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A1A1A"/>
                </a:solidFill>
                <a:latin typeface="Calibri"/>
                <a:cs typeface="Calibri"/>
              </a:rPr>
              <a:t>.</a:t>
            </a:r>
            <a:r>
              <a:rPr dirty="0" sz="1350" spc="-8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50" spc="90">
                <a:latin typeface="Calibri"/>
                <a:cs typeface="Calibri"/>
              </a:rPr>
              <a:t>a1&lt;/g</a:t>
            </a:r>
            <a:r>
              <a:rPr dirty="0" sz="1350" spc="-95">
                <a:latin typeface="Calibri"/>
                <a:cs typeface="Calibri"/>
              </a:rPr>
              <a:t> </a:t>
            </a:r>
            <a:r>
              <a:rPr dirty="0" sz="1350" spc="110">
                <a:solidFill>
                  <a:srgbClr val="B5696B"/>
                </a:solidFill>
                <a:latin typeface="Calibri"/>
                <a:cs typeface="Calibri"/>
              </a:rPr>
              <a:t>reupl</a:t>
            </a:r>
            <a:r>
              <a:rPr dirty="0" sz="1350" spc="110">
                <a:latin typeface="Calibri"/>
                <a:cs typeface="Calibri"/>
              </a:rPr>
              <a:t>d&gt;</a:t>
            </a:r>
            <a:endParaRPr sz="1350">
              <a:latin typeface="Calibri"/>
              <a:cs typeface="Calibri"/>
            </a:endParaRPr>
          </a:p>
          <a:p>
            <a:pPr marL="509270">
              <a:lnSpc>
                <a:spcPts val="1510"/>
              </a:lnSpc>
            </a:pPr>
            <a:r>
              <a:rPr dirty="0" sz="1450" spc="-145">
                <a:latin typeface="Courier New"/>
                <a:cs typeface="Courier New"/>
              </a:rPr>
              <a:t>&lt;artifactId</a:t>
            </a:r>
            <a:r>
              <a:rPr dirty="0" sz="1450" spc="195">
                <a:latin typeface="Courier New"/>
                <a:cs typeface="Courier New"/>
              </a:rPr>
              <a:t> </a:t>
            </a:r>
            <a:r>
              <a:rPr dirty="0" sz="1450" spc="-135">
                <a:latin typeface="Courier New"/>
                <a:cs typeface="Courier New"/>
              </a:rPr>
              <a:t>spring-ai-openai-spring-boot-starter</a:t>
            </a:r>
            <a:r>
              <a:rPr dirty="0" sz="1450" spc="-225">
                <a:latin typeface="Courier New"/>
                <a:cs typeface="Courier New"/>
              </a:rPr>
              <a:t> </a:t>
            </a:r>
            <a:r>
              <a:rPr dirty="0" sz="1450" spc="-50">
                <a:latin typeface="Courier New"/>
                <a:cs typeface="Courier New"/>
              </a:rPr>
              <a:t>/artifactId</a:t>
            </a:r>
            <a:endParaRPr sz="1450">
              <a:latin typeface="Courier New"/>
              <a:cs typeface="Courier New"/>
            </a:endParaRPr>
          </a:p>
          <a:p>
            <a:pPr marL="122555">
              <a:lnSpc>
                <a:spcPts val="1520"/>
              </a:lnSpc>
            </a:pPr>
            <a:r>
              <a:rPr dirty="0" sz="1350" spc="-10">
                <a:latin typeface="Consolas"/>
                <a:cs typeface="Consolas"/>
              </a:rPr>
              <a:t>&lt;/dependency</a:t>
            </a:r>
            <a:endParaRPr sz="13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350">
              <a:latin typeface="Consolas"/>
              <a:cs typeface="Consolas"/>
            </a:endParaRPr>
          </a:p>
          <a:p>
            <a:pPr marL="21590" marR="5080" indent="-9525">
              <a:lnSpc>
                <a:spcPts val="2110"/>
              </a:lnSpc>
            </a:pPr>
            <a:r>
              <a:rPr dirty="0" sz="1900" spc="-100">
                <a:solidFill>
                  <a:srgbClr val="131313"/>
                </a:solidFill>
                <a:latin typeface="Arial MT"/>
                <a:cs typeface="Arial MT"/>
              </a:rPr>
              <a:t>Then,</a:t>
            </a:r>
            <a:r>
              <a:rPr dirty="0" sz="1900" spc="-1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dirty="0" sz="1900" spc="-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131313"/>
                </a:solidFill>
                <a:latin typeface="Arial MT"/>
                <a:cs typeface="Arial MT"/>
              </a:rPr>
              <a:t>can</a:t>
            </a:r>
            <a:r>
              <a:rPr dirty="0" sz="1900" spc="-5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F0F0F"/>
                </a:solidFill>
                <a:latin typeface="Arial MT"/>
                <a:cs typeface="Arial MT"/>
              </a:rPr>
              <a:t>configure</a:t>
            </a:r>
            <a:r>
              <a:rPr dirty="0" sz="190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model</a:t>
            </a:r>
            <a:r>
              <a:rPr dirty="0" sz="1900" spc="-15">
                <a:latin typeface="Arial MT"/>
                <a:cs typeface="Arial MT"/>
              </a:rPr>
              <a:t> </a:t>
            </a:r>
            <a:r>
              <a:rPr dirty="0" sz="1900" spc="-55">
                <a:latin typeface="Arial MT"/>
                <a:cs typeface="Arial MT"/>
              </a:rPr>
              <a:t>parameters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81818"/>
                </a:solidFill>
                <a:latin typeface="Arial MT"/>
                <a:cs typeface="Arial MT"/>
              </a:rPr>
              <a:t>in</a:t>
            </a:r>
            <a:r>
              <a:rPr dirty="0" sz="1900" spc="-1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1900" spc="-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900" spc="-150">
                <a:solidFill>
                  <a:srgbClr val="1D1D1D"/>
                </a:solidFill>
                <a:latin typeface="Arial MT"/>
                <a:cs typeface="Arial MT"/>
              </a:rPr>
              <a:t>app</a:t>
            </a:r>
            <a:r>
              <a:rPr dirty="0" sz="1900" spc="-24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900" spc="175">
                <a:latin typeface="Arial MT"/>
                <a:cs typeface="Arial MT"/>
              </a:rPr>
              <a:t>fication.</a:t>
            </a:r>
            <a:r>
              <a:rPr dirty="0" sz="1900" spc="-229">
                <a:latin typeface="Arial MT"/>
                <a:cs typeface="Arial MT"/>
              </a:rPr>
              <a:t> </a:t>
            </a:r>
            <a:r>
              <a:rPr dirty="0" sz="1900" spc="100">
                <a:latin typeface="Arial MT"/>
                <a:cs typeface="Arial MT"/>
              </a:rPr>
              <a:t>properties</a:t>
            </a:r>
            <a:r>
              <a:rPr dirty="0" sz="1900" spc="-10"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131313"/>
                </a:solidFill>
                <a:latin typeface="Arial MT"/>
                <a:cs typeface="Arial MT"/>
              </a:rPr>
              <a:t>file</a:t>
            </a:r>
            <a:r>
              <a:rPr dirty="0" sz="1900" spc="-114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1A1A1A"/>
                </a:solidFill>
                <a:latin typeface="Arial MT"/>
                <a:cs typeface="Arial MT"/>
              </a:rPr>
              <a:t>as </a:t>
            </a:r>
            <a:r>
              <a:rPr dirty="0" sz="1900" spc="-10">
                <a:latin typeface="Arial MT"/>
                <a:cs typeface="Arial MT"/>
              </a:rPr>
              <a:t>follows:</a:t>
            </a:r>
            <a:endParaRPr sz="1900">
              <a:latin typeface="Arial MT"/>
              <a:cs typeface="Arial MT"/>
            </a:endParaRPr>
          </a:p>
          <a:p>
            <a:pPr marL="122555">
              <a:lnSpc>
                <a:spcPts val="1480"/>
              </a:lnSpc>
              <a:spcBef>
                <a:spcPts val="2170"/>
              </a:spcBef>
            </a:pPr>
            <a:r>
              <a:rPr dirty="0" sz="1350" spc="-70">
                <a:solidFill>
                  <a:srgbClr val="161616"/>
                </a:solidFill>
                <a:latin typeface="Courier New"/>
                <a:cs typeface="Courier New"/>
              </a:rPr>
              <a:t>spring.ai.openai.api-</a:t>
            </a:r>
            <a:r>
              <a:rPr dirty="0" sz="1350" spc="-35">
                <a:solidFill>
                  <a:srgbClr val="161616"/>
                </a:solidFill>
                <a:latin typeface="Courier New"/>
                <a:cs typeface="Courier New"/>
              </a:rPr>
              <a:t>key=$(SPRING_AI_OPENAI_API_KEY}</a:t>
            </a:r>
            <a:endParaRPr sz="1350">
              <a:latin typeface="Courier New"/>
              <a:cs typeface="Courier New"/>
            </a:endParaRPr>
          </a:p>
          <a:p>
            <a:pPr marL="121285">
              <a:lnSpc>
                <a:spcPts val="1600"/>
              </a:lnSpc>
            </a:pPr>
            <a:r>
              <a:rPr dirty="0" sz="1450" spc="-135">
                <a:solidFill>
                  <a:srgbClr val="1A1A1A"/>
                </a:solidFill>
                <a:latin typeface="Courier New"/>
                <a:cs typeface="Courier New"/>
              </a:rPr>
              <a:t>spring.ai.openai.chat.options.model=gtp-4-</a:t>
            </a:r>
            <a:r>
              <a:rPr dirty="0" sz="1450" spc="-10">
                <a:solidFill>
                  <a:srgbClr val="1A1A1A"/>
                </a:solidFill>
                <a:latin typeface="Courier New"/>
                <a:cs typeface="Courier New"/>
              </a:rPr>
              <a:t>turbo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8254" y="5289588"/>
            <a:ext cx="21805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545454"/>
                </a:solidFill>
                <a:latin typeface="Arial MT"/>
                <a:cs typeface="Arial MT"/>
              </a:rPr>
              <a:t>Intelligent</a:t>
            </a:r>
            <a:r>
              <a:rPr dirty="0" sz="1100" spc="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25252"/>
                </a:solidFill>
                <a:latin typeface="Arial MT"/>
                <a:cs typeface="Arial MT"/>
              </a:rPr>
              <a:t>Applications</a:t>
            </a:r>
            <a:r>
              <a:rPr dirty="0" sz="1100" spc="-1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10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4F4F4F"/>
                </a:solidFill>
                <a:latin typeface="Arial MT"/>
                <a:cs typeface="Arial MT"/>
              </a:rPr>
              <a:t>Spring</a:t>
            </a:r>
            <a:r>
              <a:rPr dirty="0" sz="1100" spc="5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018" y="368977"/>
            <a:ext cx="4925060" cy="1041400"/>
          </a:xfrm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735"/>
              </a:spcBef>
            </a:pPr>
            <a:r>
              <a:rPr dirty="0" sz="3150" spc="95">
                <a:solidFill>
                  <a:srgbClr val="00A1BA"/>
                </a:solidFill>
                <a:latin typeface="Arial MT"/>
                <a:cs typeface="Arial MT"/>
              </a:rPr>
              <a:t>Prompt</a:t>
            </a:r>
            <a:r>
              <a:rPr dirty="0" sz="3150" spc="75">
                <a:solidFill>
                  <a:srgbClr val="00A1BA"/>
                </a:solidFill>
                <a:latin typeface="Arial MT"/>
                <a:cs typeface="Arial MT"/>
              </a:rPr>
              <a:t> </a:t>
            </a:r>
            <a:r>
              <a:rPr dirty="0" sz="3150" spc="-10">
                <a:solidFill>
                  <a:srgbClr val="00AFD6"/>
                </a:solidFill>
                <a:latin typeface="Arial MT"/>
                <a:cs typeface="Arial MT"/>
              </a:rPr>
              <a:t>Templates</a:t>
            </a:r>
            <a:endParaRPr sz="3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550" spc="10">
                <a:solidFill>
                  <a:srgbClr val="131313"/>
                </a:solidFill>
                <a:latin typeface="Arial MT"/>
                <a:cs typeface="Arial MT"/>
              </a:rPr>
              <a:t>Using</a:t>
            </a:r>
            <a:r>
              <a:rPr dirty="0" sz="2550" spc="17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550" spc="1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dirty="0" sz="2550" spc="509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550" spc="10">
                <a:solidFill>
                  <a:srgbClr val="131313"/>
                </a:solidFill>
                <a:latin typeface="Arial MT"/>
                <a:cs typeface="Arial MT"/>
              </a:rPr>
              <a:t>StringTemplate</a:t>
            </a:r>
            <a:r>
              <a:rPr dirty="0" sz="2550" spc="-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61616"/>
                </a:solidFill>
                <a:latin typeface="Arial MT"/>
                <a:cs typeface="Arial MT"/>
              </a:rPr>
              <a:t>Engine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9930" y="1880575"/>
            <a:ext cx="8011795" cy="1078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ts val="1315"/>
              </a:lnSpc>
              <a:spcBef>
                <a:spcPts val="100"/>
              </a:spcBef>
            </a:pPr>
            <a:r>
              <a:rPr dirty="0" sz="1200">
                <a:solidFill>
                  <a:srgbClr val="6B5936"/>
                </a:solidFill>
                <a:latin typeface="Arial MT"/>
                <a:cs typeface="Arial MT"/>
              </a:rPr>
              <a:t>5t</a:t>
            </a:r>
            <a:r>
              <a:rPr dirty="0" sz="1200" spc="170">
                <a:solidFill>
                  <a:srgbClr val="6B5936"/>
                </a:solidFill>
                <a:latin typeface="Arial MT"/>
                <a:cs typeface="Arial MT"/>
              </a:rPr>
              <a:t> </a:t>
            </a:r>
            <a:r>
              <a:rPr dirty="0" sz="1200" spc="75">
                <a:solidFill>
                  <a:srgbClr val="756923"/>
                </a:solidFill>
                <a:latin typeface="Arial MT"/>
                <a:cs typeface="Arial MT"/>
              </a:rPr>
              <a:t>r1ng</a:t>
            </a:r>
            <a:r>
              <a:rPr dirty="0" sz="1200" spc="365">
                <a:solidFill>
                  <a:srgbClr val="756923"/>
                </a:solidFill>
                <a:latin typeface="Arial MT"/>
                <a:cs typeface="Arial MT"/>
              </a:rPr>
              <a:t> </a:t>
            </a:r>
            <a:r>
              <a:rPr dirty="0" sz="1200" spc="75">
                <a:solidFill>
                  <a:srgbClr val="896B26"/>
                </a:solidFill>
                <a:latin typeface="Arial MT"/>
                <a:cs typeface="Arial MT"/>
              </a:rPr>
              <a:t>res</a:t>
            </a:r>
            <a:r>
              <a:rPr dirty="0" sz="1200" spc="35">
                <a:solidFill>
                  <a:srgbClr val="896B2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27242"/>
                </a:solidFill>
                <a:latin typeface="Arial MT"/>
                <a:cs typeface="Arial MT"/>
              </a:rPr>
              <a:t>sage</a:t>
            </a:r>
            <a:r>
              <a:rPr dirty="0" sz="1200" spc="90">
                <a:solidFill>
                  <a:srgbClr val="827242"/>
                </a:solidFill>
                <a:latin typeface="Arial MT"/>
                <a:cs typeface="Arial MT"/>
              </a:rPr>
              <a:t>  </a:t>
            </a:r>
            <a:r>
              <a:rPr dirty="0" sz="1200" spc="-50">
                <a:solidFill>
                  <a:srgbClr val="8090AA"/>
                </a:solidFill>
                <a:latin typeface="Arial MT"/>
                <a:cs typeface="Arial MT"/>
              </a:rPr>
              <a:t>-</a:t>
            </a:r>
            <a:endParaRPr sz="1200">
              <a:latin typeface="Arial MT"/>
              <a:cs typeface="Arial MT"/>
            </a:endParaRPr>
          </a:p>
          <a:p>
            <a:pPr marL="376555">
              <a:lnSpc>
                <a:spcPts val="1420"/>
              </a:lnSpc>
            </a:pPr>
            <a:r>
              <a:rPr dirty="0" sz="1350" spc="-145">
                <a:solidFill>
                  <a:srgbClr val="548759"/>
                </a:solidFill>
                <a:latin typeface="Courier New"/>
                <a:cs typeface="Courier New"/>
              </a:rPr>
              <a:t>List</a:t>
            </a:r>
            <a:r>
              <a:rPr dirty="0" sz="1350" spc="-60">
                <a:solidFill>
                  <a:srgbClr val="548759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777777"/>
                </a:solidFill>
                <a:latin typeface="Courier New"/>
                <a:cs typeface="Courier New"/>
              </a:rPr>
              <a:t>10</a:t>
            </a:r>
            <a:r>
              <a:rPr dirty="0" sz="1350" spc="-15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-95">
                <a:solidFill>
                  <a:srgbClr val="7C8574"/>
                </a:solidFill>
                <a:latin typeface="Courier New"/>
                <a:cs typeface="Courier New"/>
              </a:rPr>
              <a:t>of</a:t>
            </a:r>
            <a:r>
              <a:rPr dirty="0" sz="1350" spc="-110">
                <a:solidFill>
                  <a:srgbClr val="7C8574"/>
                </a:solidFill>
                <a:latin typeface="Courier New"/>
                <a:cs typeface="Courier New"/>
              </a:rPr>
              <a:t> </a:t>
            </a:r>
            <a:r>
              <a:rPr dirty="0" sz="1350" spc="-110">
                <a:solidFill>
                  <a:srgbClr val="59795E"/>
                </a:solidFill>
                <a:latin typeface="Courier New"/>
                <a:cs typeface="Courier New"/>
              </a:rPr>
              <a:t>the</a:t>
            </a:r>
            <a:r>
              <a:rPr dirty="0" sz="1350" spc="-90">
                <a:solidFill>
                  <a:srgbClr val="59795E"/>
                </a:solidFill>
                <a:latin typeface="Courier New"/>
                <a:cs typeface="Courier New"/>
              </a:rPr>
              <a:t> </a:t>
            </a:r>
            <a:r>
              <a:rPr dirty="0" sz="1350" spc="-130">
                <a:solidFill>
                  <a:srgbClr val="8AAA93"/>
                </a:solidFill>
                <a:latin typeface="Courier New"/>
                <a:cs typeface="Courier New"/>
              </a:rPr>
              <a:t>most</a:t>
            </a:r>
            <a:r>
              <a:rPr dirty="0" sz="1350" spc="-75">
                <a:solidFill>
                  <a:srgbClr val="8AAA93"/>
                </a:solidFill>
                <a:latin typeface="Courier New"/>
                <a:cs typeface="Courier New"/>
              </a:rPr>
              <a:t> </a:t>
            </a:r>
            <a:r>
              <a:rPr dirty="0" sz="1350" spc="-135">
                <a:solidFill>
                  <a:srgbClr val="628064"/>
                </a:solidFill>
                <a:latin typeface="Courier New"/>
                <a:cs typeface="Courier New"/>
              </a:rPr>
              <a:t>popular</a:t>
            </a:r>
            <a:r>
              <a:rPr dirty="0" sz="1350" spc="-60">
                <a:solidFill>
                  <a:srgbClr val="628064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777777"/>
                </a:solidFill>
                <a:latin typeface="Courier New"/>
                <a:cs typeface="Courier New"/>
              </a:rPr>
              <a:t>YouTubers</a:t>
            </a:r>
            <a:r>
              <a:rPr dirty="0" sz="1350" spc="-8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-130">
                <a:solidFill>
                  <a:srgbClr val="728972"/>
                </a:solidFill>
                <a:latin typeface="Courier New"/>
                <a:cs typeface="Courier New"/>
              </a:rPr>
              <a:t>in</a:t>
            </a:r>
            <a:r>
              <a:rPr dirty="0" sz="1350" spc="-320">
                <a:solidFill>
                  <a:srgbClr val="728972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solidFill>
                  <a:srgbClr val="5B8C5B"/>
                </a:solidFill>
                <a:latin typeface="Courier New"/>
                <a:cs typeface="Courier New"/>
              </a:rPr>
              <a:t>(genre},</a:t>
            </a:r>
            <a:r>
              <a:rPr dirty="0" sz="1350" spc="5">
                <a:solidFill>
                  <a:srgbClr val="5B8C5B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7E7E7E"/>
                </a:solidFill>
                <a:latin typeface="Courier New"/>
                <a:cs typeface="Courier New"/>
              </a:rPr>
              <a:t>along</a:t>
            </a:r>
            <a:r>
              <a:rPr dirty="0" sz="1350" spc="-7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1350" spc="-105">
                <a:solidFill>
                  <a:srgbClr val="757575"/>
                </a:solidFill>
                <a:latin typeface="Courier New"/>
                <a:cs typeface="Courier New"/>
              </a:rPr>
              <a:t>with</a:t>
            </a:r>
            <a:r>
              <a:rPr dirty="0" sz="1350" spc="-3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dirty="0" sz="1350" spc="-130">
                <a:solidFill>
                  <a:srgbClr val="6B8C77"/>
                </a:solidFill>
                <a:latin typeface="Courier New"/>
                <a:cs typeface="Courier New"/>
              </a:rPr>
              <a:t>their</a:t>
            </a:r>
            <a:r>
              <a:rPr dirty="0" sz="1350" spc="-70">
                <a:solidFill>
                  <a:srgbClr val="6B8C77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5D7C64"/>
                </a:solidFill>
                <a:latin typeface="Courier New"/>
                <a:cs typeface="Courier New"/>
              </a:rPr>
              <a:t>current</a:t>
            </a:r>
            <a:r>
              <a:rPr dirty="0" sz="1350" spc="-50">
                <a:solidFill>
                  <a:srgbClr val="5D7C64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798C79"/>
                </a:solidFill>
                <a:latin typeface="Courier New"/>
                <a:cs typeface="Courier New"/>
              </a:rPr>
              <a:t>subscriber</a:t>
            </a:r>
            <a:endParaRPr sz="1350">
              <a:latin typeface="Courier New"/>
              <a:cs typeface="Courier New"/>
            </a:endParaRPr>
          </a:p>
          <a:p>
            <a:pPr marL="374015">
              <a:lnSpc>
                <a:spcPts val="1425"/>
              </a:lnSpc>
              <a:tabLst>
                <a:tab pos="652780" algn="l"/>
                <a:tab pos="1551940" algn="l"/>
                <a:tab pos="3084830" algn="l"/>
                <a:tab pos="3893820" algn="l"/>
                <a:tab pos="4159250" algn="l"/>
                <a:tab pos="4703445" algn="l"/>
              </a:tabLst>
            </a:pPr>
            <a:r>
              <a:rPr dirty="0" sz="1250" spc="-25">
                <a:solidFill>
                  <a:srgbClr val="777777"/>
                </a:solidFill>
                <a:latin typeface="Calibri"/>
                <a:cs typeface="Calibri"/>
              </a:rPr>
              <a:t>If</a:t>
            </a:r>
            <a:r>
              <a:rPr dirty="0" sz="1250">
                <a:solidFill>
                  <a:srgbClr val="777777"/>
                </a:solidFill>
                <a:latin typeface="Calibri"/>
                <a:cs typeface="Calibri"/>
              </a:rPr>
              <a:t>	</a:t>
            </a:r>
            <a:r>
              <a:rPr dirty="0" sz="1250">
                <a:solidFill>
                  <a:srgbClr val="1D1D1D"/>
                </a:solidFill>
                <a:latin typeface="Calibri"/>
                <a:cs typeface="Calibri"/>
              </a:rPr>
              <a:t>you</a:t>
            </a:r>
            <a:r>
              <a:rPr dirty="0" sz="1250" spc="165">
                <a:solidFill>
                  <a:srgbClr val="1D1D1D"/>
                </a:solidFill>
                <a:latin typeface="Calibri"/>
                <a:cs typeface="Calibri"/>
              </a:rPr>
              <a:t>  </a:t>
            </a:r>
            <a:r>
              <a:rPr dirty="0" sz="1250">
                <a:solidFill>
                  <a:srgbClr val="728975"/>
                </a:solidFill>
                <a:latin typeface="Calibri"/>
                <a:cs typeface="Calibri"/>
              </a:rPr>
              <a:t>don</a:t>
            </a:r>
            <a:r>
              <a:rPr dirty="0" sz="1250" spc="-50">
                <a:solidFill>
                  <a:srgbClr val="72897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77E64"/>
                </a:solidFill>
                <a:latin typeface="Calibri"/>
                <a:cs typeface="Calibri"/>
              </a:rPr>
              <a:t>'</a:t>
            </a:r>
            <a:r>
              <a:rPr dirty="0" sz="1250" spc="30">
                <a:solidFill>
                  <a:srgbClr val="677E64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577C52"/>
                </a:solidFill>
                <a:latin typeface="Calibri"/>
                <a:cs typeface="Calibri"/>
              </a:rPr>
              <a:t>I</a:t>
            </a:r>
            <a:r>
              <a:rPr dirty="0" sz="1250">
                <a:solidFill>
                  <a:srgbClr val="577C52"/>
                </a:solidFill>
                <a:latin typeface="Calibri"/>
                <a:cs typeface="Calibri"/>
              </a:rPr>
              <a:t>	</a:t>
            </a:r>
            <a:r>
              <a:rPr dirty="0" sz="1250">
                <a:solidFill>
                  <a:srgbClr val="568C5B"/>
                </a:solidFill>
                <a:latin typeface="Calibri"/>
                <a:cs typeface="Calibri"/>
              </a:rPr>
              <a:t>know</a:t>
            </a:r>
            <a:r>
              <a:rPr dirty="0" sz="1250" spc="490">
                <a:solidFill>
                  <a:srgbClr val="568C5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7C9180"/>
                </a:solidFill>
                <a:latin typeface="Calibri"/>
                <a:cs typeface="Calibri"/>
              </a:rPr>
              <a:t>I</a:t>
            </a:r>
            <a:r>
              <a:rPr dirty="0" sz="1250" spc="150">
                <a:solidFill>
                  <a:srgbClr val="7C9180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B8E6E"/>
                </a:solidFill>
                <a:latin typeface="Calibri"/>
                <a:cs typeface="Calibri"/>
              </a:rPr>
              <a:t>he</a:t>
            </a:r>
            <a:r>
              <a:rPr dirty="0" sz="1250" spc="455">
                <a:solidFill>
                  <a:srgbClr val="6B8E6E"/>
                </a:solidFill>
                <a:latin typeface="Calibri"/>
                <a:cs typeface="Calibri"/>
              </a:rPr>
              <a:t> </a:t>
            </a:r>
            <a:r>
              <a:rPr dirty="0" sz="1250" spc="55">
                <a:solidFill>
                  <a:srgbClr val="859785"/>
                </a:solidFill>
                <a:latin typeface="Calibri"/>
                <a:cs typeface="Calibri"/>
              </a:rPr>
              <a:t>answer</a:t>
            </a:r>
            <a:r>
              <a:rPr dirty="0" sz="1250" spc="25">
                <a:solidFill>
                  <a:srgbClr val="859785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8E8E8E"/>
                </a:solidFill>
                <a:latin typeface="Calibri"/>
                <a:cs typeface="Calibri"/>
              </a:rPr>
              <a:t>,</a:t>
            </a:r>
            <a:r>
              <a:rPr dirty="0" sz="1250">
                <a:solidFill>
                  <a:srgbClr val="8E8E8E"/>
                </a:solidFill>
                <a:latin typeface="Calibri"/>
                <a:cs typeface="Calibri"/>
              </a:rPr>
              <a:t>	</a:t>
            </a:r>
            <a:r>
              <a:rPr dirty="0" sz="1250">
                <a:solidFill>
                  <a:srgbClr val="7B9577"/>
                </a:solidFill>
                <a:latin typeface="Calibri"/>
                <a:cs typeface="Calibri"/>
              </a:rPr>
              <a:t>j</a:t>
            </a:r>
            <a:r>
              <a:rPr dirty="0" sz="1250" spc="55">
                <a:solidFill>
                  <a:srgbClr val="7B9577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58585"/>
                </a:solidFill>
                <a:latin typeface="Calibri"/>
                <a:cs typeface="Calibri"/>
              </a:rPr>
              <a:t>us</a:t>
            </a:r>
            <a:r>
              <a:rPr dirty="0" sz="1250" spc="12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7749"/>
                </a:solidFill>
                <a:latin typeface="Calibri"/>
                <a:cs typeface="Calibri"/>
              </a:rPr>
              <a:t>t</a:t>
            </a:r>
            <a:r>
              <a:rPr dirty="0" sz="1250" spc="170">
                <a:solidFill>
                  <a:srgbClr val="497749"/>
                </a:solidFill>
                <a:latin typeface="Calibri"/>
                <a:cs typeface="Calibri"/>
              </a:rPr>
              <a:t>  </a:t>
            </a:r>
            <a:r>
              <a:rPr dirty="0" sz="1250" spc="-25">
                <a:solidFill>
                  <a:srgbClr val="898989"/>
                </a:solidFill>
                <a:latin typeface="Calibri"/>
                <a:cs typeface="Calibri"/>
              </a:rPr>
              <a:t>say</a:t>
            </a:r>
            <a:r>
              <a:rPr dirty="0" sz="1250">
                <a:solidFill>
                  <a:srgbClr val="898989"/>
                </a:solidFill>
                <a:latin typeface="Calibri"/>
                <a:cs typeface="Calibri"/>
              </a:rPr>
              <a:t>	</a:t>
            </a:r>
            <a:r>
              <a:rPr dirty="0" sz="1250" spc="-25">
                <a:solidFill>
                  <a:srgbClr val="697C67"/>
                </a:solidFill>
                <a:latin typeface="Calibri"/>
                <a:cs typeface="Calibri"/>
              </a:rPr>
              <a:t>"I</a:t>
            </a:r>
            <a:r>
              <a:rPr dirty="0" sz="1250">
                <a:solidFill>
                  <a:srgbClr val="697C67"/>
                </a:solidFill>
                <a:latin typeface="Calibri"/>
                <a:cs typeface="Calibri"/>
              </a:rPr>
              <a:t>	</a:t>
            </a:r>
            <a:r>
              <a:rPr dirty="0" sz="1250">
                <a:solidFill>
                  <a:srgbClr val="5E8262"/>
                </a:solidFill>
                <a:latin typeface="Calibri"/>
                <a:cs typeface="Calibri"/>
              </a:rPr>
              <a:t>don</a:t>
            </a:r>
            <a:r>
              <a:rPr dirty="0" sz="1250" spc="-25">
                <a:solidFill>
                  <a:srgbClr val="5E826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79937C"/>
                </a:solidFill>
                <a:latin typeface="Calibri"/>
                <a:cs typeface="Calibri"/>
              </a:rPr>
              <a:t>'</a:t>
            </a:r>
            <a:r>
              <a:rPr dirty="0" sz="1250" spc="5">
                <a:solidFill>
                  <a:srgbClr val="79937C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568754"/>
                </a:solidFill>
                <a:latin typeface="Calibri"/>
                <a:cs typeface="Calibri"/>
              </a:rPr>
              <a:t>I</a:t>
            </a:r>
            <a:r>
              <a:rPr dirty="0" sz="1250">
                <a:solidFill>
                  <a:srgbClr val="568754"/>
                </a:solidFill>
                <a:latin typeface="Calibri"/>
                <a:cs typeface="Calibri"/>
              </a:rPr>
              <a:t>	</a:t>
            </a:r>
            <a:r>
              <a:rPr dirty="0" sz="1250" spc="-40">
                <a:solidFill>
                  <a:srgbClr val="579762"/>
                </a:solidFill>
                <a:latin typeface="Calibri"/>
                <a:cs typeface="Calibri"/>
              </a:rPr>
              <a:t>k</a:t>
            </a:r>
            <a:r>
              <a:rPr dirty="0" sz="1250" spc="-145">
                <a:solidFill>
                  <a:srgbClr val="579762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708A6B"/>
                </a:solidFill>
                <a:latin typeface="Calibri"/>
                <a:cs typeface="Calibri"/>
              </a:rPr>
              <a:t>now"</a:t>
            </a:r>
            <a:r>
              <a:rPr dirty="0" sz="1250" spc="-50">
                <a:solidFill>
                  <a:srgbClr val="708A6B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959595"/>
                </a:solidFill>
                <a:latin typeface="Calibri"/>
                <a:cs typeface="Calibri"/>
              </a:rPr>
              <a:t>.</a:t>
            </a:r>
            <a:endParaRPr sz="1250">
              <a:latin typeface="Calibri"/>
              <a:cs typeface="Calibri"/>
            </a:endParaRPr>
          </a:p>
          <a:p>
            <a:pPr marL="12700" marR="2428240">
              <a:lnSpc>
                <a:spcPts val="1420"/>
              </a:lnSpc>
              <a:spcBef>
                <a:spcPts val="1300"/>
              </a:spcBef>
              <a:tabLst>
                <a:tab pos="1462405" algn="l"/>
              </a:tabLst>
            </a:pPr>
            <a:r>
              <a:rPr dirty="0" sz="1350" spc="-120">
                <a:solidFill>
                  <a:srgbClr val="7E6E13"/>
                </a:solidFill>
                <a:latin typeface="Courier New"/>
                <a:cs typeface="Courier New"/>
              </a:rPr>
              <a:t>PromptTemplate</a:t>
            </a:r>
            <a:r>
              <a:rPr dirty="0" sz="1350" spc="-75">
                <a:solidFill>
                  <a:srgbClr val="7E6E13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7E6B1F"/>
                </a:solidFill>
                <a:latin typeface="Courier New"/>
                <a:cs typeface="Courier New"/>
              </a:rPr>
              <a:t>promptTemplate</a:t>
            </a:r>
            <a:r>
              <a:rPr dirty="0" sz="1350" spc="-80">
                <a:solidFill>
                  <a:srgbClr val="7E6B1F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6B8EB1"/>
                </a:solidFill>
                <a:latin typeface="Courier New"/>
                <a:cs typeface="Courier New"/>
              </a:rPr>
              <a:t>=</a:t>
            </a:r>
            <a:r>
              <a:rPr dirty="0" sz="1350" spc="-85">
                <a:solidFill>
                  <a:srgbClr val="6B8EB1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solidFill>
                  <a:srgbClr val="8C2B85"/>
                </a:solidFill>
                <a:latin typeface="Courier New"/>
                <a:cs typeface="Courier New"/>
              </a:rPr>
              <a:t>new</a:t>
            </a:r>
            <a:r>
              <a:rPr dirty="0" sz="1350" spc="-70">
                <a:solidFill>
                  <a:srgbClr val="8C2B85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latin typeface="Courier New"/>
                <a:cs typeface="Courier New"/>
              </a:rPr>
              <a:t>PromptTemplate(message); </a:t>
            </a:r>
            <a:r>
              <a:rPr dirty="0" sz="1350" spc="-105">
                <a:solidFill>
                  <a:srgbClr val="67562B"/>
                </a:solidFill>
                <a:latin typeface="Courier New"/>
                <a:cs typeface="Courier New"/>
              </a:rPr>
              <a:t>Prompt</a:t>
            </a:r>
            <a:r>
              <a:rPr dirty="0" sz="1350" spc="-85">
                <a:solidFill>
                  <a:srgbClr val="67562B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746E46"/>
                </a:solidFill>
                <a:latin typeface="Courier New"/>
                <a:cs typeface="Courier New"/>
              </a:rPr>
              <a:t>prompt</a:t>
            </a:r>
            <a:r>
              <a:rPr dirty="0" sz="1350">
                <a:solidFill>
                  <a:srgbClr val="746E46"/>
                </a:solidFill>
                <a:latin typeface="Courier New"/>
                <a:cs typeface="Courier New"/>
              </a:rPr>
              <a:t>	</a:t>
            </a:r>
            <a:r>
              <a:rPr dirty="0" sz="1350" spc="-120">
                <a:solidFill>
                  <a:srgbClr val="0F0F0F"/>
                </a:solidFill>
                <a:latin typeface="Courier New"/>
                <a:cs typeface="Courier New"/>
              </a:rPr>
              <a:t>promptTemplate.create(Map.of(”genre”,</a:t>
            </a:r>
            <a:r>
              <a:rPr dirty="0" sz="1350" spc="4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latin typeface="Courier New"/>
                <a:cs typeface="Courier New"/>
              </a:rPr>
              <a:t>genre)};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17458" y="2032250"/>
            <a:ext cx="71691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5">
                <a:solidFill>
                  <a:srgbClr val="727272"/>
                </a:solidFill>
                <a:latin typeface="Courier New"/>
                <a:cs typeface="Courier New"/>
              </a:rPr>
              <a:t>numbers.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2186" y="3388437"/>
            <a:ext cx="6932930" cy="1108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35">
                <a:solidFill>
                  <a:srgbClr val="696021"/>
                </a:solidFill>
                <a:latin typeface="Courier New"/>
                <a:cs typeface="Courier New"/>
              </a:rPr>
              <a:t>String</a:t>
            </a:r>
            <a:r>
              <a:rPr dirty="0" sz="1450" spc="-70">
                <a:solidFill>
                  <a:srgbClr val="696021"/>
                </a:solidFill>
                <a:latin typeface="Courier New"/>
                <a:cs typeface="Courier New"/>
              </a:rPr>
              <a:t> </a:t>
            </a:r>
            <a:r>
              <a:rPr dirty="0" sz="1450" spc="-135">
                <a:solidFill>
                  <a:srgbClr val="7B6E34"/>
                </a:solidFill>
                <a:latin typeface="Courier New"/>
                <a:cs typeface="Courier New"/>
              </a:rPr>
              <a:t>answer</a:t>
            </a:r>
            <a:r>
              <a:rPr dirty="0" sz="1450" spc="-35">
                <a:solidFill>
                  <a:srgbClr val="7B6E34"/>
                </a:solidFill>
                <a:latin typeface="Courier New"/>
                <a:cs typeface="Courier New"/>
              </a:rPr>
              <a:t> </a:t>
            </a:r>
            <a:r>
              <a:rPr dirty="0" sz="1450" spc="-155">
                <a:solidFill>
                  <a:srgbClr val="1D4B7E"/>
                </a:solidFill>
                <a:latin typeface="Courier New"/>
                <a:cs typeface="Courier New"/>
              </a:rPr>
              <a:t>=</a:t>
            </a:r>
            <a:r>
              <a:rPr dirty="0" sz="1450" spc="-165">
                <a:solidFill>
                  <a:srgbClr val="1D4B7E"/>
                </a:solidFill>
                <a:latin typeface="Courier New"/>
                <a:cs typeface="Courier New"/>
              </a:rPr>
              <a:t> </a:t>
            </a:r>
            <a:r>
              <a:rPr dirty="0" sz="1450" spc="-105">
                <a:latin typeface="Courier New"/>
                <a:cs typeface="Courier New"/>
              </a:rPr>
              <a:t>chatClient.prompt(prompt).call().content();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50">
              <a:latin typeface="Courier New"/>
              <a:cs typeface="Courier New"/>
            </a:endParaRPr>
          </a:p>
          <a:p>
            <a:pPr marL="17145">
              <a:lnSpc>
                <a:spcPts val="1645"/>
              </a:lnSpc>
              <a:tabLst>
                <a:tab pos="2311400" algn="l"/>
              </a:tabLst>
            </a:pPr>
            <a:r>
              <a:rPr dirty="0" sz="1500" spc="-170">
                <a:solidFill>
                  <a:srgbClr val="67643B"/>
                </a:solidFill>
                <a:latin typeface="Courier New"/>
                <a:cs typeface="Courier New"/>
              </a:rPr>
              <a:t>ChatResponse</a:t>
            </a:r>
            <a:r>
              <a:rPr dirty="0" sz="1500" spc="25">
                <a:solidFill>
                  <a:srgbClr val="67643B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725E18"/>
                </a:solidFill>
                <a:latin typeface="Courier New"/>
                <a:cs typeface="Courier New"/>
              </a:rPr>
              <a:t>response</a:t>
            </a:r>
            <a:r>
              <a:rPr dirty="0" sz="1500">
                <a:solidFill>
                  <a:srgbClr val="725E18"/>
                </a:solidFill>
                <a:latin typeface="Courier New"/>
                <a:cs typeface="Courier New"/>
              </a:rPr>
              <a:t>	</a:t>
            </a:r>
            <a:r>
              <a:rPr dirty="0" sz="1500" spc="-150">
                <a:latin typeface="Courier New"/>
                <a:cs typeface="Courier New"/>
              </a:rPr>
              <a:t>chatClient.prompt(prompt).call().chatResponse();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ts val="1525"/>
              </a:lnSpc>
            </a:pPr>
            <a:r>
              <a:rPr dirty="0" sz="1400" spc="-80">
                <a:solidFill>
                  <a:srgbClr val="645E0E"/>
                </a:solidFill>
                <a:latin typeface="Courier New"/>
                <a:cs typeface="Courier New"/>
              </a:rPr>
              <a:t>String</a:t>
            </a:r>
            <a:r>
              <a:rPr dirty="0" sz="1400" spc="-110">
                <a:solidFill>
                  <a:srgbClr val="645E0E"/>
                </a:solidFill>
                <a:latin typeface="Courier New"/>
                <a:cs typeface="Courier New"/>
              </a:rPr>
              <a:t> </a:t>
            </a:r>
            <a:r>
              <a:rPr dirty="0" sz="1400" spc="-80">
                <a:solidFill>
                  <a:srgbClr val="72662F"/>
                </a:solidFill>
                <a:latin typeface="Courier New"/>
                <a:cs typeface="Courier New"/>
              </a:rPr>
              <a:t>answer</a:t>
            </a:r>
            <a:r>
              <a:rPr dirty="0" sz="1400" spc="-110">
                <a:solidFill>
                  <a:srgbClr val="72662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3A4B5D"/>
                </a:solidFill>
                <a:latin typeface="Courier New"/>
                <a:cs typeface="Courier New"/>
              </a:rPr>
              <a:t>=</a:t>
            </a:r>
            <a:r>
              <a:rPr dirty="0" sz="1400" spc="-160">
                <a:solidFill>
                  <a:srgbClr val="3A4B5D"/>
                </a:solidFill>
                <a:latin typeface="Courier New"/>
                <a:cs typeface="Courier New"/>
              </a:rPr>
              <a:t> </a:t>
            </a:r>
            <a:r>
              <a:rPr dirty="0" sz="1400" spc="-75">
                <a:latin typeface="Courier New"/>
                <a:cs typeface="Courier New"/>
              </a:rPr>
              <a:t>response.getResuIt().getOutput().getContent();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8254" y="5289588"/>
            <a:ext cx="21805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F4F4F"/>
                </a:solidFill>
                <a:latin typeface="Arial MT"/>
                <a:cs typeface="Arial MT"/>
              </a:rPr>
              <a:t>Intelligent</a:t>
            </a:r>
            <a:r>
              <a:rPr dirty="0" sz="1100" spc="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25252"/>
                </a:solidFill>
                <a:latin typeface="Arial MT"/>
                <a:cs typeface="Arial MT"/>
              </a:rPr>
              <a:t>Applications</a:t>
            </a:r>
            <a:r>
              <a:rPr dirty="0" sz="1100" spc="-2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100" spc="-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Arial MT"/>
                <a:cs typeface="Arial MT"/>
              </a:rPr>
              <a:t>Sprinp</a:t>
            </a:r>
            <a:r>
              <a:rPr dirty="0" sz="1100" spc="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75197" y="5289588"/>
            <a:ext cx="1898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F4F4F"/>
                </a:solidFill>
                <a:latin typeface="Courier New"/>
                <a:cs typeface="Courier New"/>
              </a:rPr>
              <a:t>46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50" spc="-20">
                <a:solidFill>
                  <a:srgbClr val="11A3CA"/>
                </a:solidFill>
                <a:latin typeface="Arial MT"/>
                <a:cs typeface="Arial MT"/>
              </a:rPr>
              <a:t>Chat</a:t>
            </a:r>
            <a:r>
              <a:rPr dirty="0" sz="3250" spc="-185">
                <a:solidFill>
                  <a:srgbClr val="11A3CA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07A3D4"/>
                </a:solidFill>
                <a:latin typeface="Arial MT"/>
                <a:cs typeface="Arial MT"/>
              </a:rPr>
              <a:t>Ciient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4307" y="1495416"/>
            <a:ext cx="3538854" cy="786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60"/>
              </a:lnSpc>
              <a:spcBef>
                <a:spcPts val="100"/>
              </a:spcBef>
            </a:pPr>
            <a:r>
              <a:rPr dirty="0" sz="1400" spc="75">
                <a:solidFill>
                  <a:srgbClr val="6E603A"/>
                </a:solidFill>
                <a:latin typeface="Calibri"/>
                <a:cs typeface="Calibri"/>
              </a:rPr>
              <a:t>Joke</a:t>
            </a:r>
            <a:r>
              <a:rPr dirty="0" sz="1400" spc="120">
                <a:solidFill>
                  <a:srgbClr val="6E603A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746028"/>
                </a:solidFill>
                <a:latin typeface="Calibri"/>
                <a:cs typeface="Calibri"/>
              </a:rPr>
              <a:t>j</a:t>
            </a:r>
            <a:r>
              <a:rPr dirty="0" sz="1400" spc="-10">
                <a:solidFill>
                  <a:srgbClr val="746028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solidFill>
                  <a:srgbClr val="726442"/>
                </a:solidFill>
                <a:latin typeface="Calibri"/>
                <a:cs typeface="Calibri"/>
              </a:rPr>
              <a:t>oke</a:t>
            </a:r>
            <a:r>
              <a:rPr dirty="0" sz="1400" spc="465">
                <a:solidFill>
                  <a:srgbClr val="726442"/>
                </a:solidFill>
                <a:latin typeface="Calibri"/>
                <a:cs typeface="Calibri"/>
              </a:rPr>
              <a:t> </a:t>
            </a:r>
            <a:r>
              <a:rPr dirty="0" sz="1400" spc="55">
                <a:solidFill>
                  <a:srgbClr val="163F54"/>
                </a:solidFill>
                <a:latin typeface="Calibri"/>
                <a:cs typeface="Calibri"/>
              </a:rPr>
              <a:t>=</a:t>
            </a:r>
            <a:r>
              <a:rPr dirty="0" sz="1400" spc="430">
                <a:solidFill>
                  <a:srgbClr val="163F54"/>
                </a:solidFill>
                <a:latin typeface="Calibri"/>
                <a:cs typeface="Calibri"/>
              </a:rPr>
              <a:t> </a:t>
            </a:r>
            <a:r>
              <a:rPr dirty="0" sz="1400" spc="85">
                <a:solidFill>
                  <a:srgbClr val="151515"/>
                </a:solidFill>
                <a:latin typeface="Calibri"/>
                <a:cs typeface="Calibri"/>
              </a:rPr>
              <a:t>chatC</a:t>
            </a:r>
            <a:r>
              <a:rPr dirty="0" sz="14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75">
                <a:solidFill>
                  <a:srgbClr val="0E0E0E"/>
                </a:solidFill>
                <a:latin typeface="Calibri"/>
                <a:cs typeface="Calibri"/>
              </a:rPr>
              <a:t>t1ent</a:t>
            </a:r>
            <a:r>
              <a:rPr dirty="0" sz="1400" spc="-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latin typeface="Calibri"/>
                <a:cs typeface="Calibri"/>
              </a:rPr>
              <a:t>.</a:t>
            </a:r>
            <a:r>
              <a:rPr dirty="0" sz="1400" spc="-140"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111111"/>
                </a:solidFill>
                <a:latin typeface="Calibri"/>
                <a:cs typeface="Calibri"/>
              </a:rPr>
              <a:t>prompt(</a:t>
            </a:r>
            <a:r>
              <a:rPr dirty="0" sz="1400" spc="-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212121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213995">
              <a:lnSpc>
                <a:spcPts val="1445"/>
              </a:lnSpc>
            </a:pPr>
            <a:r>
              <a:rPr dirty="0" sz="1350">
                <a:latin typeface="Calibri"/>
                <a:cs typeface="Calibri"/>
              </a:rPr>
              <a:t>.</a:t>
            </a:r>
            <a:r>
              <a:rPr dirty="0" sz="1350" spc="-100">
                <a:latin typeface="Calibri"/>
                <a:cs typeface="Calibri"/>
              </a:rPr>
              <a:t> </a:t>
            </a:r>
            <a:r>
              <a:rPr dirty="0" sz="1350" spc="125">
                <a:solidFill>
                  <a:srgbClr val="0C0C0C"/>
                </a:solidFill>
                <a:latin typeface="Calibri"/>
                <a:cs typeface="Calibri"/>
              </a:rPr>
              <a:t>user</a:t>
            </a:r>
            <a:r>
              <a:rPr dirty="0" sz="1350" spc="-1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350" spc="90">
                <a:solidFill>
                  <a:srgbClr val="282828"/>
                </a:solidFill>
                <a:latin typeface="Calibri"/>
                <a:cs typeface="Calibri"/>
              </a:rPr>
              <a:t>(</a:t>
            </a:r>
            <a:r>
              <a:rPr dirty="0" sz="1350" spc="-7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50" spc="225">
                <a:solidFill>
                  <a:srgbClr val="7C937C"/>
                </a:solidFill>
                <a:latin typeface="Calibri"/>
                <a:cs typeface="Calibri"/>
              </a:rPr>
              <a:t>”Tell</a:t>
            </a:r>
            <a:r>
              <a:rPr dirty="0" sz="1350" spc="300">
                <a:solidFill>
                  <a:srgbClr val="7C937C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627C60"/>
                </a:solidFill>
                <a:latin typeface="Calibri"/>
                <a:cs typeface="Calibri"/>
              </a:rPr>
              <a:t>me</a:t>
            </a:r>
            <a:r>
              <a:rPr dirty="0" sz="1350" spc="480">
                <a:solidFill>
                  <a:srgbClr val="627C60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799372"/>
                </a:solidFill>
                <a:latin typeface="Calibri"/>
                <a:cs typeface="Calibri"/>
              </a:rPr>
              <a:t>a</a:t>
            </a:r>
            <a:r>
              <a:rPr dirty="0" sz="1350" spc="135">
                <a:solidFill>
                  <a:srgbClr val="799372"/>
                </a:solidFill>
                <a:latin typeface="Calibri"/>
                <a:cs typeface="Calibri"/>
              </a:rPr>
              <a:t>  </a:t>
            </a:r>
            <a:r>
              <a:rPr dirty="0" sz="1350">
                <a:solidFill>
                  <a:srgbClr val="648E64"/>
                </a:solidFill>
                <a:latin typeface="Calibri"/>
                <a:cs typeface="Calibri"/>
              </a:rPr>
              <a:t>I</a:t>
            </a:r>
            <a:r>
              <a:rPr dirty="0" sz="1350" spc="260">
                <a:solidFill>
                  <a:srgbClr val="648E64"/>
                </a:solidFill>
                <a:latin typeface="Calibri"/>
                <a:cs typeface="Calibri"/>
              </a:rPr>
              <a:t> </a:t>
            </a:r>
            <a:r>
              <a:rPr dirty="0" sz="1350" spc="-35" i="1">
                <a:solidFill>
                  <a:srgbClr val="7C7C7C"/>
                </a:solidFill>
                <a:latin typeface="Calibri"/>
                <a:cs typeface="Calibri"/>
              </a:rPr>
              <a:t>r1</a:t>
            </a:r>
            <a:r>
              <a:rPr dirty="0" sz="1350" spc="130" i="1">
                <a:solidFill>
                  <a:srgbClr val="7C7C7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B704D"/>
                </a:solidFill>
                <a:latin typeface="Calibri"/>
                <a:cs typeface="Calibri"/>
              </a:rPr>
              <a:t>end</a:t>
            </a:r>
            <a:r>
              <a:rPr dirty="0" sz="1350">
                <a:solidFill>
                  <a:srgbClr val="70896D"/>
                </a:solidFill>
                <a:latin typeface="Calibri"/>
                <a:cs typeface="Calibri"/>
              </a:rPr>
              <a:t>1y</a:t>
            </a:r>
            <a:r>
              <a:rPr dirty="0" sz="1350" spc="475">
                <a:solidFill>
                  <a:srgbClr val="70896D"/>
                </a:solidFill>
                <a:latin typeface="Calibri"/>
                <a:cs typeface="Calibri"/>
              </a:rPr>
              <a:t> </a:t>
            </a:r>
            <a:r>
              <a:rPr dirty="0" sz="1350" spc="100">
                <a:solidFill>
                  <a:srgbClr val="80937E"/>
                </a:solidFill>
                <a:latin typeface="Calibri"/>
                <a:cs typeface="Calibri"/>
              </a:rPr>
              <a:t>deve</a:t>
            </a:r>
            <a:r>
              <a:rPr dirty="0" sz="1350" spc="100">
                <a:solidFill>
                  <a:srgbClr val="608362"/>
                </a:solidFill>
                <a:latin typeface="Calibri"/>
                <a:cs typeface="Calibri"/>
              </a:rPr>
              <a:t>loper</a:t>
            </a:r>
            <a:endParaRPr sz="1350">
              <a:latin typeface="Calibri"/>
              <a:cs typeface="Calibri"/>
            </a:endParaRPr>
          </a:p>
          <a:p>
            <a:pPr marL="213995">
              <a:lnSpc>
                <a:spcPts val="1465"/>
              </a:lnSpc>
            </a:pPr>
            <a:r>
              <a:rPr dirty="0" sz="135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r>
              <a:rPr dirty="0" sz="135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350" spc="280">
                <a:latin typeface="Calibri"/>
                <a:cs typeface="Calibri"/>
              </a:rPr>
              <a:t>call(</a:t>
            </a:r>
            <a:r>
              <a:rPr dirty="0" sz="1350" spc="-90">
                <a:latin typeface="Calibri"/>
                <a:cs typeface="Calibri"/>
              </a:rPr>
              <a:t> </a:t>
            </a:r>
            <a:r>
              <a:rPr dirty="0" sz="1350" spc="204">
                <a:solidFill>
                  <a:srgbClr val="1C1C1C"/>
                </a:solidFill>
                <a:latin typeface="Calibri"/>
                <a:cs typeface="Calibri"/>
              </a:rPr>
              <a:t>)</a:t>
            </a:r>
            <a:endParaRPr sz="1350">
              <a:latin typeface="Calibri"/>
              <a:cs typeface="Calibri"/>
            </a:endParaRPr>
          </a:p>
          <a:p>
            <a:pPr marL="213995">
              <a:lnSpc>
                <a:spcPts val="1520"/>
              </a:lnSpc>
            </a:pPr>
            <a:r>
              <a:rPr dirty="0" sz="1350" spc="145">
                <a:solidFill>
                  <a:srgbClr val="0C0C0C"/>
                </a:solidFill>
                <a:latin typeface="Calibri"/>
                <a:cs typeface="Calibri"/>
              </a:rPr>
              <a:t>.</a:t>
            </a:r>
            <a:r>
              <a:rPr dirty="0" sz="1350" spc="145">
                <a:latin typeface="Calibri"/>
                <a:cs typeface="Calibri"/>
              </a:rPr>
              <a:t>content(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95">
                <a:solidFill>
                  <a:srgbClr val="161616"/>
                </a:solidFill>
                <a:latin typeface="Calibri"/>
                <a:cs typeface="Calibri"/>
              </a:rPr>
              <a:t>)</a:t>
            </a:r>
            <a:r>
              <a:rPr dirty="0" sz="1350" spc="-1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161616"/>
                </a:solidFill>
                <a:latin typeface="Calibri"/>
                <a:cs typeface="Calibri"/>
              </a:rPr>
              <a:t>;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61732" y="1678595"/>
            <a:ext cx="17037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6B856E"/>
                </a:solidFill>
                <a:latin typeface="Calibri"/>
                <a:cs typeface="Calibri"/>
              </a:rPr>
              <a:t>j</a:t>
            </a:r>
            <a:r>
              <a:rPr dirty="0" sz="1350" spc="-70">
                <a:solidFill>
                  <a:srgbClr val="6B856E"/>
                </a:solidFill>
                <a:latin typeface="Calibri"/>
                <a:cs typeface="Calibri"/>
              </a:rPr>
              <a:t> </a:t>
            </a:r>
            <a:r>
              <a:rPr dirty="0" sz="1350" spc="160">
                <a:solidFill>
                  <a:srgbClr val="62905E"/>
                </a:solidFill>
                <a:latin typeface="Calibri"/>
                <a:cs typeface="Calibri"/>
              </a:rPr>
              <a:t>oke</a:t>
            </a:r>
            <a:r>
              <a:rPr dirty="0" sz="1350" spc="220">
                <a:solidFill>
                  <a:srgbClr val="62905E"/>
                </a:solidFill>
                <a:latin typeface="Calibri"/>
                <a:cs typeface="Calibri"/>
              </a:rPr>
              <a:t> </a:t>
            </a:r>
            <a:r>
              <a:rPr dirty="0" sz="1350" spc="70">
                <a:solidFill>
                  <a:srgbClr val="6E9577"/>
                </a:solidFill>
                <a:latin typeface="Calibri"/>
                <a:cs typeface="Calibri"/>
              </a:rPr>
              <a:t>about</a:t>
            </a:r>
            <a:r>
              <a:rPr dirty="0" sz="1350" spc="200">
                <a:solidFill>
                  <a:srgbClr val="6E9577"/>
                </a:solidFill>
                <a:latin typeface="Calibri"/>
                <a:cs typeface="Calibri"/>
              </a:rPr>
              <a:t>  </a:t>
            </a:r>
            <a:r>
              <a:rPr dirty="0" sz="1350">
                <a:solidFill>
                  <a:srgbClr val="6E6E6E"/>
                </a:solidFill>
                <a:latin typeface="Calibri"/>
                <a:cs typeface="Calibri"/>
              </a:rPr>
              <a:t>JAVA</a:t>
            </a:r>
            <a:r>
              <a:rPr dirty="0" sz="1350" spc="-4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77C67"/>
                </a:solidFill>
                <a:latin typeface="Calibri"/>
                <a:cs typeface="Calibri"/>
              </a:rPr>
              <a:t>. </a:t>
            </a:r>
            <a:r>
              <a:rPr dirty="0" sz="1350">
                <a:solidFill>
                  <a:srgbClr val="858585"/>
                </a:solidFill>
                <a:latin typeface="Calibri"/>
                <a:cs typeface="Calibri"/>
              </a:rPr>
              <a:t>"</a:t>
            </a:r>
            <a:r>
              <a:rPr dirty="0" sz="1350" spc="-6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212121"/>
                </a:solidFill>
                <a:latin typeface="Calibri"/>
                <a:cs typeface="Calibri"/>
              </a:rPr>
              <a:t>)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7793" y="2727112"/>
            <a:ext cx="8347075" cy="201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ts val="1560"/>
              </a:lnSpc>
              <a:spcBef>
                <a:spcPts val="100"/>
              </a:spcBef>
            </a:pPr>
            <a:r>
              <a:rPr dirty="0" sz="1400">
                <a:solidFill>
                  <a:srgbClr val="6B5E3D"/>
                </a:solidFill>
                <a:latin typeface="Consolas"/>
                <a:cs typeface="Consolas"/>
              </a:rPr>
              <a:t>Joke</a:t>
            </a:r>
            <a:r>
              <a:rPr dirty="0" sz="1400" spc="-130">
                <a:solidFill>
                  <a:srgbClr val="6B5E3D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6D5628"/>
                </a:solidFill>
                <a:latin typeface="Consolas"/>
                <a:cs typeface="Consolas"/>
              </a:rPr>
              <a:t>joke</a:t>
            </a:r>
            <a:r>
              <a:rPr dirty="0" sz="1400" spc="-114">
                <a:solidFill>
                  <a:srgbClr val="6D5628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283F7C"/>
                </a:solidFill>
                <a:latin typeface="Consolas"/>
                <a:cs typeface="Consolas"/>
              </a:rPr>
              <a:t>=</a:t>
            </a:r>
            <a:r>
              <a:rPr dirty="0" sz="1400" spc="-105">
                <a:solidFill>
                  <a:srgbClr val="283F7C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chatClient.prompt()</a:t>
            </a:r>
            <a:endParaRPr sz="1400">
              <a:latin typeface="Consolas"/>
              <a:cs typeface="Consolas"/>
            </a:endParaRPr>
          </a:p>
          <a:p>
            <a:pPr marL="204470">
              <a:lnSpc>
                <a:spcPts val="1410"/>
              </a:lnSpc>
            </a:pPr>
            <a:r>
              <a:rPr dirty="0" sz="1350" spc="-70">
                <a:solidFill>
                  <a:srgbClr val="111111"/>
                </a:solidFill>
                <a:latin typeface="Courier New"/>
                <a:cs typeface="Courier New"/>
              </a:rPr>
              <a:t>.system("You</a:t>
            </a:r>
            <a:r>
              <a:rPr dirty="0" sz="1350" spc="-13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568057"/>
                </a:solidFill>
                <a:latin typeface="Courier New"/>
                <a:cs typeface="Courier New"/>
              </a:rPr>
              <a:t>are</a:t>
            </a:r>
            <a:r>
              <a:rPr dirty="0" sz="1350" spc="-195">
                <a:solidFill>
                  <a:srgbClr val="568057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5B8C67"/>
                </a:solidFill>
                <a:latin typeface="Courier New"/>
                <a:cs typeface="Courier New"/>
              </a:rPr>
              <a:t>a</a:t>
            </a:r>
            <a:r>
              <a:rPr dirty="0" sz="1350" spc="-200">
                <a:solidFill>
                  <a:srgbClr val="5B8C67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69836B"/>
                </a:solidFill>
                <a:latin typeface="Courier New"/>
                <a:cs typeface="Courier New"/>
              </a:rPr>
              <a:t>friendly</a:t>
            </a:r>
            <a:r>
              <a:rPr dirty="0" sz="1350" spc="-140">
                <a:solidFill>
                  <a:srgbClr val="69836B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6D8777"/>
                </a:solidFill>
                <a:latin typeface="Courier New"/>
                <a:cs typeface="Courier New"/>
              </a:rPr>
              <a:t>chatbot</a:t>
            </a:r>
            <a:r>
              <a:rPr dirty="0" sz="1350" spc="-130">
                <a:solidFill>
                  <a:srgbClr val="6D8777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608A5D"/>
                </a:solidFill>
                <a:latin typeface="Courier New"/>
                <a:cs typeface="Courier New"/>
              </a:rPr>
              <a:t>and</a:t>
            </a:r>
            <a:r>
              <a:rPr dirty="0" sz="1350" spc="-114">
                <a:solidFill>
                  <a:srgbClr val="608A5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5E8560"/>
                </a:solidFill>
                <a:latin typeface="Courier New"/>
                <a:cs typeface="Courier New"/>
              </a:rPr>
              <a:t>you</a:t>
            </a:r>
            <a:r>
              <a:rPr dirty="0" sz="1350" spc="-120">
                <a:solidFill>
                  <a:srgbClr val="5E8560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648C62"/>
                </a:solidFill>
                <a:latin typeface="Courier New"/>
                <a:cs typeface="Courier New"/>
              </a:rPr>
              <a:t>like</a:t>
            </a:r>
            <a:r>
              <a:rPr dirty="0" sz="1350" spc="-114">
                <a:solidFill>
                  <a:srgbClr val="648C62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6B806B"/>
                </a:solidFill>
                <a:latin typeface="Courier New"/>
                <a:cs typeface="Courier New"/>
              </a:rPr>
              <a:t>to</a:t>
            </a:r>
            <a:r>
              <a:rPr dirty="0" sz="1350" spc="-140">
                <a:solidFill>
                  <a:srgbClr val="6B806B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7BA377"/>
                </a:solidFill>
                <a:latin typeface="Courier New"/>
                <a:cs typeface="Courier New"/>
              </a:rPr>
              <a:t>place</a:t>
            </a:r>
            <a:r>
              <a:rPr dirty="0" sz="1350" spc="-130">
                <a:solidFill>
                  <a:srgbClr val="7BA377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678C66"/>
                </a:solidFill>
                <a:latin typeface="Courier New"/>
                <a:cs typeface="Courier New"/>
              </a:rPr>
              <a:t>emojis</a:t>
            </a:r>
            <a:r>
              <a:rPr dirty="0" sz="1350" spc="-114">
                <a:solidFill>
                  <a:srgbClr val="678C66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ourier New"/>
                <a:cs typeface="Courier New"/>
              </a:rPr>
              <a:t>everywhere.”)</a:t>
            </a:r>
            <a:endParaRPr sz="1350">
              <a:latin typeface="Courier New"/>
              <a:cs typeface="Courier New"/>
            </a:endParaRPr>
          </a:p>
          <a:p>
            <a:pPr marL="236220">
              <a:lnSpc>
                <a:spcPts val="1470"/>
              </a:lnSpc>
            </a:pPr>
            <a:r>
              <a:rPr dirty="0" sz="1400" spc="-35" i="1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r>
              <a:rPr dirty="0" sz="1400" spc="-12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use</a:t>
            </a:r>
            <a:r>
              <a:rPr dirty="0" sz="1400" spc="185"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61616"/>
                </a:solidFill>
                <a:latin typeface="Calibri"/>
                <a:cs typeface="Calibri"/>
              </a:rPr>
              <a:t>r(</a:t>
            </a:r>
            <a:r>
              <a:rPr dirty="0" sz="1400" spc="375" i="1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400" spc="210">
                <a:solidFill>
                  <a:srgbClr val="698364"/>
                </a:solidFill>
                <a:latin typeface="Calibri"/>
                <a:cs typeface="Calibri"/>
              </a:rPr>
              <a:t>”Tell</a:t>
            </a:r>
            <a:r>
              <a:rPr dirty="0" sz="1400" spc="280">
                <a:solidFill>
                  <a:srgbClr val="69836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2805D"/>
                </a:solidFill>
                <a:latin typeface="Calibri"/>
                <a:cs typeface="Calibri"/>
              </a:rPr>
              <a:t>«ie</a:t>
            </a:r>
            <a:r>
              <a:rPr dirty="0" sz="1400" spc="480">
                <a:solidFill>
                  <a:srgbClr val="52805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7C9A7E"/>
                </a:solidFill>
                <a:latin typeface="Calibri"/>
                <a:cs typeface="Calibri"/>
              </a:rPr>
              <a:t>a</a:t>
            </a:r>
            <a:r>
              <a:rPr dirty="0" sz="1400" spc="120">
                <a:solidFill>
                  <a:srgbClr val="7C9A7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758777"/>
                </a:solidFill>
                <a:latin typeface="Calibri"/>
                <a:cs typeface="Calibri"/>
              </a:rPr>
              <a:t>I</a:t>
            </a:r>
            <a:r>
              <a:rPr dirty="0" sz="1400" spc="190">
                <a:solidFill>
                  <a:srgbClr val="758777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6E8769"/>
                </a:solidFill>
                <a:latin typeface="Calibri"/>
                <a:cs typeface="Calibri"/>
              </a:rPr>
              <a:t>r1end</a:t>
            </a:r>
            <a:r>
              <a:rPr dirty="0" sz="1400" spc="60">
                <a:solidFill>
                  <a:srgbClr val="678367"/>
                </a:solidFill>
                <a:latin typeface="Calibri"/>
                <a:cs typeface="Calibri"/>
              </a:rPr>
              <a:t>1y</a:t>
            </a:r>
            <a:r>
              <a:rPr dirty="0" sz="1400" spc="440">
                <a:solidFill>
                  <a:srgbClr val="678367"/>
                </a:solidFill>
                <a:latin typeface="Calibri"/>
                <a:cs typeface="Calibri"/>
              </a:rPr>
              <a:t> </a:t>
            </a:r>
            <a:r>
              <a:rPr dirty="0" sz="1400" spc="85">
                <a:solidFill>
                  <a:srgbClr val="70896D"/>
                </a:solidFill>
                <a:latin typeface="Calibri"/>
                <a:cs typeface="Calibri"/>
              </a:rPr>
              <a:t>deve</a:t>
            </a:r>
            <a:r>
              <a:rPr dirty="0" sz="1400" spc="85">
                <a:solidFill>
                  <a:srgbClr val="668264"/>
                </a:solidFill>
                <a:latin typeface="Calibri"/>
                <a:cs typeface="Calibri"/>
              </a:rPr>
              <a:t>loper</a:t>
            </a:r>
            <a:r>
              <a:rPr dirty="0" sz="1400" spc="140">
                <a:solidFill>
                  <a:srgbClr val="668264"/>
                </a:solidFill>
                <a:latin typeface="Calibri"/>
                <a:cs typeface="Calibri"/>
              </a:rPr>
              <a:t>  </a:t>
            </a:r>
            <a:r>
              <a:rPr dirty="0" sz="1400" spc="65">
                <a:solidFill>
                  <a:srgbClr val="5E8C5E"/>
                </a:solidFill>
                <a:latin typeface="Calibri"/>
                <a:cs typeface="Calibri"/>
              </a:rPr>
              <a:t>j</a:t>
            </a:r>
            <a:r>
              <a:rPr dirty="0" sz="1400" spc="-55">
                <a:solidFill>
                  <a:srgbClr val="5E8C5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6B9A6B"/>
                </a:solidFill>
                <a:latin typeface="Calibri"/>
                <a:cs typeface="Calibri"/>
              </a:rPr>
              <a:t>oke</a:t>
            </a:r>
            <a:r>
              <a:rPr dirty="0" sz="1400" spc="459">
                <a:solidFill>
                  <a:srgbClr val="6B9A6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E8257"/>
                </a:solidFill>
                <a:latin typeface="Calibri"/>
                <a:cs typeface="Calibri"/>
              </a:rPr>
              <a:t>about</a:t>
            </a:r>
            <a:r>
              <a:rPr dirty="0" sz="1400" spc="150">
                <a:solidFill>
                  <a:srgbClr val="5E8257"/>
                </a:solidFill>
                <a:latin typeface="Calibri"/>
                <a:cs typeface="Calibri"/>
              </a:rPr>
              <a:t>  </a:t>
            </a:r>
            <a:r>
              <a:rPr dirty="0" sz="1400" spc="-10">
                <a:solidFill>
                  <a:srgbClr val="70896D"/>
                </a:solidFill>
                <a:latin typeface="Calibri"/>
                <a:cs typeface="Calibri"/>
              </a:rPr>
              <a:t>JAVA</a:t>
            </a:r>
            <a:r>
              <a:rPr dirty="0" sz="1400" spc="-60">
                <a:solidFill>
                  <a:srgbClr val="70896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7E8C7C"/>
                </a:solidFill>
                <a:latin typeface="Calibri"/>
                <a:cs typeface="Calibri"/>
              </a:rPr>
              <a:t>.</a:t>
            </a:r>
            <a:r>
              <a:rPr dirty="0" sz="1400" spc="-35">
                <a:solidFill>
                  <a:srgbClr val="7E8C7C"/>
                </a:solidFill>
                <a:latin typeface="Calibri"/>
                <a:cs typeface="Calibri"/>
              </a:rPr>
              <a:t> </a:t>
            </a:r>
            <a:r>
              <a:rPr dirty="0" sz="1400" spc="-35">
                <a:solidFill>
                  <a:srgbClr val="6E8C69"/>
                </a:solidFill>
                <a:latin typeface="Calibri"/>
                <a:cs typeface="Calibri"/>
              </a:rPr>
              <a:t>"</a:t>
            </a:r>
            <a:r>
              <a:rPr dirty="0" sz="1400" spc="-80">
                <a:solidFill>
                  <a:srgbClr val="6E8C69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262626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229870">
              <a:lnSpc>
                <a:spcPts val="1440"/>
              </a:lnSpc>
            </a:pPr>
            <a:r>
              <a:rPr dirty="0" sz="1400" spc="-20">
                <a:solidFill>
                  <a:srgbClr val="181818"/>
                </a:solidFill>
                <a:latin typeface="Calibri"/>
                <a:cs typeface="Calibri"/>
              </a:rPr>
              <a:t>.</a:t>
            </a:r>
            <a:r>
              <a:rPr dirty="0" sz="1400" spc="-8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spc="265">
                <a:latin typeface="Calibri"/>
                <a:cs typeface="Calibri"/>
              </a:rPr>
              <a:t>call(</a:t>
            </a:r>
            <a:r>
              <a:rPr dirty="0" sz="1400" spc="-95">
                <a:latin typeface="Calibri"/>
                <a:cs typeface="Calibri"/>
              </a:rPr>
              <a:t> </a:t>
            </a:r>
            <a:r>
              <a:rPr dirty="0" sz="1400" spc="195">
                <a:solidFill>
                  <a:srgbClr val="1C1C1C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229870">
              <a:lnSpc>
                <a:spcPts val="1560"/>
              </a:lnSpc>
            </a:pPr>
            <a:r>
              <a:rPr dirty="0" sz="1400" spc="260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1400" spc="250">
                <a:latin typeface="Calibri"/>
                <a:cs typeface="Calibri"/>
              </a:rPr>
              <a:t>e</a:t>
            </a:r>
            <a:r>
              <a:rPr dirty="0" sz="1400" spc="235">
                <a:latin typeface="Calibri"/>
                <a:cs typeface="Calibri"/>
              </a:rPr>
              <a:t>n</a:t>
            </a:r>
            <a:r>
              <a:rPr dirty="0" sz="1400" spc="-445">
                <a:latin typeface="Calibri"/>
                <a:cs typeface="Calibri"/>
              </a:rPr>
              <a:t>1</a:t>
            </a:r>
            <a:r>
              <a:rPr dirty="0" sz="1400" spc="254">
                <a:latin typeface="Calibri"/>
                <a:cs typeface="Calibri"/>
              </a:rPr>
              <a:t>t</a:t>
            </a:r>
            <a:r>
              <a:rPr dirty="0" sz="1400" spc="-140">
                <a:latin typeface="Calibri"/>
                <a:cs typeface="Calibri"/>
              </a:rPr>
              <a:t> </a:t>
            </a:r>
            <a:r>
              <a:rPr dirty="0" sz="1400" spc="140">
                <a:latin typeface="Calibri"/>
                <a:cs typeface="Calibri"/>
              </a:rPr>
              <a:t>ty(</a:t>
            </a:r>
            <a:r>
              <a:rPr dirty="0" sz="1400" spc="-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3oke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D1D1D"/>
                </a:solidFill>
                <a:latin typeface="Calibri"/>
                <a:cs typeface="Calibri"/>
              </a:rPr>
              <a:t>.</a:t>
            </a:r>
            <a:r>
              <a:rPr dirty="0" sz="1400" spc="-9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400" spc="210">
                <a:solidFill>
                  <a:srgbClr val="131313"/>
                </a:solidFill>
                <a:latin typeface="Calibri"/>
                <a:cs typeface="Calibri"/>
              </a:rPr>
              <a:t>class)</a:t>
            </a:r>
            <a:r>
              <a:rPr dirty="0" sz="1400" spc="1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ts val="1560"/>
              </a:lnSpc>
              <a:spcBef>
                <a:spcPts val="5"/>
              </a:spcBef>
            </a:pPr>
            <a:r>
              <a:rPr dirty="0" sz="1400" spc="-95">
                <a:solidFill>
                  <a:srgbClr val="776424"/>
                </a:solidFill>
                <a:latin typeface="Courier New"/>
                <a:cs typeface="Courier New"/>
              </a:rPr>
              <a:t>Chatolient</a:t>
            </a:r>
            <a:r>
              <a:rPr dirty="0" sz="1400" spc="-30">
                <a:solidFill>
                  <a:srgbClr val="776424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796444"/>
                </a:solidFill>
                <a:latin typeface="Courier New"/>
                <a:cs typeface="Courier New"/>
              </a:rPr>
              <a:t>chatClient</a:t>
            </a:r>
            <a:r>
              <a:rPr dirty="0" sz="1400" spc="-45">
                <a:solidFill>
                  <a:srgbClr val="796444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164B7B"/>
                </a:solidFill>
                <a:latin typeface="Courier New"/>
                <a:cs typeface="Courier New"/>
              </a:rPr>
              <a:t>=</a:t>
            </a:r>
            <a:r>
              <a:rPr dirty="0" sz="1400" spc="-210">
                <a:solidFill>
                  <a:srgbClr val="164B7B"/>
                </a:solidFill>
                <a:latin typeface="Courier New"/>
                <a:cs typeface="Courier New"/>
              </a:rPr>
              <a:t> </a:t>
            </a:r>
            <a:r>
              <a:rPr dirty="0" sz="1400" spc="-35">
                <a:latin typeface="Courier New"/>
                <a:cs typeface="Courier New"/>
              </a:rPr>
              <a:t>chatDlientBuilder</a:t>
            </a:r>
            <a:endParaRPr sz="1400">
              <a:latin typeface="Courier New"/>
              <a:cs typeface="Courier New"/>
            </a:endParaRPr>
          </a:p>
          <a:p>
            <a:pPr marL="204470">
              <a:lnSpc>
                <a:spcPts val="1410"/>
              </a:lnSpc>
            </a:pPr>
            <a:r>
              <a:rPr dirty="0" sz="1350" spc="-70">
                <a:latin typeface="Courier New"/>
                <a:cs typeface="Courier New"/>
              </a:rPr>
              <a:t>.defauItSystem("You</a:t>
            </a:r>
            <a:r>
              <a:rPr dirty="0" sz="1350" spc="-135"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757575"/>
                </a:solidFill>
                <a:latin typeface="Courier New"/>
                <a:cs typeface="Courier New"/>
              </a:rPr>
              <a:t>are</a:t>
            </a:r>
            <a:r>
              <a:rPr dirty="0" sz="1350" spc="-155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709070"/>
                </a:solidFill>
                <a:latin typeface="Courier New"/>
                <a:cs typeface="Courier New"/>
              </a:rPr>
              <a:t>a</a:t>
            </a:r>
            <a:r>
              <a:rPr dirty="0" sz="1350" spc="-200">
                <a:solidFill>
                  <a:srgbClr val="709070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67796E"/>
                </a:solidFill>
                <a:latin typeface="Courier New"/>
                <a:cs typeface="Courier New"/>
              </a:rPr>
              <a:t>friendly</a:t>
            </a:r>
            <a:r>
              <a:rPr dirty="0" sz="1350" spc="-140">
                <a:solidFill>
                  <a:srgbClr val="67796E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759A77"/>
                </a:solidFill>
                <a:latin typeface="Courier New"/>
                <a:cs typeface="Courier New"/>
              </a:rPr>
              <a:t>chatbot</a:t>
            </a:r>
            <a:r>
              <a:rPr dirty="0" sz="1350" spc="-130">
                <a:solidFill>
                  <a:srgbClr val="759A77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6B8367"/>
                </a:solidFill>
                <a:latin typeface="Courier New"/>
                <a:cs typeface="Courier New"/>
              </a:rPr>
              <a:t>and</a:t>
            </a:r>
            <a:r>
              <a:rPr dirty="0" sz="1350" spc="-75">
                <a:solidFill>
                  <a:srgbClr val="6B8367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679164"/>
                </a:solidFill>
                <a:latin typeface="Courier New"/>
                <a:cs typeface="Courier New"/>
              </a:rPr>
              <a:t>you</a:t>
            </a:r>
            <a:r>
              <a:rPr dirty="0" sz="1350" spc="-75">
                <a:solidFill>
                  <a:srgbClr val="679164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8CAC8E"/>
                </a:solidFill>
                <a:latin typeface="Courier New"/>
                <a:cs typeface="Courier New"/>
              </a:rPr>
              <a:t>like</a:t>
            </a:r>
            <a:r>
              <a:rPr dirty="0" sz="1350" spc="-114">
                <a:solidFill>
                  <a:srgbClr val="8CAC8E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748972"/>
                </a:solidFill>
                <a:latin typeface="Courier New"/>
                <a:cs typeface="Courier New"/>
              </a:rPr>
              <a:t>to</a:t>
            </a:r>
            <a:r>
              <a:rPr dirty="0" sz="1350" spc="-100">
                <a:solidFill>
                  <a:srgbClr val="748972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70896E"/>
                </a:solidFill>
                <a:latin typeface="Courier New"/>
                <a:cs typeface="Courier New"/>
              </a:rPr>
              <a:t>place</a:t>
            </a:r>
            <a:r>
              <a:rPr dirty="0" sz="1350" spc="-110">
                <a:solidFill>
                  <a:srgbClr val="70896E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4F7754"/>
                </a:solidFill>
                <a:latin typeface="Courier New"/>
                <a:cs typeface="Courier New"/>
              </a:rPr>
              <a:t>emojis</a:t>
            </a:r>
            <a:r>
              <a:rPr dirty="0" sz="1350" spc="-120">
                <a:solidFill>
                  <a:srgbClr val="4F7754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31313"/>
                </a:solidFill>
                <a:latin typeface="Courier New"/>
                <a:cs typeface="Courier New"/>
              </a:rPr>
              <a:t>everywhere.")</a:t>
            </a:r>
            <a:endParaRPr sz="1350">
              <a:latin typeface="Courier New"/>
              <a:cs typeface="Courier New"/>
            </a:endParaRPr>
          </a:p>
          <a:p>
            <a:pPr marL="202565">
              <a:lnSpc>
                <a:spcPts val="1590"/>
              </a:lnSpc>
            </a:pPr>
            <a:r>
              <a:rPr dirty="0" sz="1400" spc="-10">
                <a:latin typeface="Courier New"/>
                <a:cs typeface="Courier New"/>
              </a:rPr>
              <a:t>.build();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9551" y="5289588"/>
            <a:ext cx="2179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45454"/>
                </a:solidFill>
                <a:latin typeface="Calibri"/>
                <a:cs typeface="Calibri"/>
              </a:rPr>
              <a:t>Intelligent</a:t>
            </a:r>
            <a:r>
              <a:rPr dirty="0" sz="1100" spc="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25252"/>
                </a:solidFill>
                <a:latin typeface="Calibri"/>
                <a:cs typeface="Calibri"/>
              </a:rPr>
              <a:t>Applications</a:t>
            </a:r>
            <a:r>
              <a:rPr dirty="0" sz="1100" spc="-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100" spc="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100" spc="8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Calibri"/>
                <a:cs typeface="Calibri"/>
              </a:rPr>
              <a:t>AI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99054" y="5289588"/>
            <a:ext cx="1606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696969"/>
                </a:solidFill>
                <a:latin typeface="Consolas"/>
                <a:cs typeface="Consolas"/>
              </a:rPr>
              <a:t>47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6716" y="481706"/>
            <a:ext cx="3607435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3564" algn="l"/>
              </a:tabLst>
            </a:pPr>
            <a:r>
              <a:rPr dirty="0" sz="2900" spc="75">
                <a:solidFill>
                  <a:srgbClr val="03AACF"/>
                </a:solidFill>
                <a:latin typeface="Arial MT"/>
                <a:cs typeface="Arial MT"/>
              </a:rPr>
              <a:t>Request</a:t>
            </a:r>
            <a:r>
              <a:rPr dirty="0" sz="2900">
                <a:solidFill>
                  <a:srgbClr val="03AACF"/>
                </a:solidFill>
                <a:latin typeface="Arial MT"/>
                <a:cs typeface="Arial MT"/>
              </a:rPr>
              <a:t>	</a:t>
            </a:r>
            <a:r>
              <a:rPr dirty="0" sz="2900" spc="50">
                <a:solidFill>
                  <a:srgbClr val="0FACBD"/>
                </a:solidFill>
                <a:latin typeface="Arial MT"/>
                <a:cs typeface="Arial MT"/>
              </a:rPr>
              <a:t>Response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1610" y="1296992"/>
            <a:ext cx="6082665" cy="3379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75">
                <a:latin typeface="Calibri"/>
                <a:cs typeface="Calibri"/>
              </a:rPr>
              <a:t>Based</a:t>
            </a:r>
            <a:r>
              <a:rPr dirty="0" sz="2050" spc="95">
                <a:latin typeface="Calibri"/>
                <a:cs typeface="Calibri"/>
              </a:rPr>
              <a:t> </a:t>
            </a:r>
            <a:r>
              <a:rPr dirty="0" sz="2050" spc="80">
                <a:solidFill>
                  <a:srgbClr val="1A1A1A"/>
                </a:solidFill>
                <a:latin typeface="Calibri"/>
                <a:cs typeface="Calibri"/>
              </a:rPr>
              <a:t>on</a:t>
            </a:r>
            <a:r>
              <a:rPr dirty="0" sz="205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050" spc="75">
                <a:solidFill>
                  <a:srgbClr val="111111"/>
                </a:solidFill>
                <a:latin typeface="Calibri"/>
                <a:cs typeface="Calibri"/>
              </a:rPr>
              <a:t>OpenAl</a:t>
            </a:r>
            <a:r>
              <a:rPr dirty="0" sz="2050" spc="17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050" spc="55">
                <a:solidFill>
                  <a:srgbClr val="111111"/>
                </a:solidFill>
                <a:latin typeface="Calibri"/>
                <a:cs typeface="Calibri"/>
              </a:rPr>
              <a:t>chat</a:t>
            </a:r>
            <a:r>
              <a:rPr dirty="0" sz="2050" spc="10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model:</a:t>
            </a:r>
            <a:endParaRPr sz="2050">
              <a:latin typeface="Calibri"/>
              <a:cs typeface="Calibri"/>
            </a:endParaRPr>
          </a:p>
          <a:p>
            <a:pPr marL="466090" indent="-207645">
              <a:lnSpc>
                <a:spcPct val="100000"/>
              </a:lnSpc>
              <a:spcBef>
                <a:spcPts val="1689"/>
              </a:spcBef>
              <a:buClr>
                <a:srgbClr val="1A1A1A"/>
              </a:buClr>
              <a:buChar char="•"/>
              <a:tabLst>
                <a:tab pos="466090" algn="l"/>
              </a:tabLst>
            </a:pPr>
            <a:r>
              <a:rPr dirty="0" sz="2050" spc="-10">
                <a:solidFill>
                  <a:srgbClr val="131313"/>
                </a:solidFill>
                <a:latin typeface="Arial MT"/>
                <a:cs typeface="Arial MT"/>
              </a:rPr>
              <a:t>Request</a:t>
            </a:r>
            <a:endParaRPr sz="2050">
              <a:latin typeface="Arial MT"/>
              <a:cs typeface="Arial MT"/>
            </a:endParaRPr>
          </a:p>
          <a:p>
            <a:pPr marL="677545">
              <a:lnSpc>
                <a:spcPct val="100000"/>
              </a:lnSpc>
              <a:spcBef>
                <a:spcPts val="740"/>
              </a:spcBef>
              <a:tabLst>
                <a:tab pos="926465" algn="l"/>
              </a:tabLst>
            </a:pPr>
            <a:r>
              <a:rPr dirty="0" sz="1950" spc="-50">
                <a:solidFill>
                  <a:srgbClr val="3B3B3B"/>
                </a:solidFill>
                <a:latin typeface="Arial MT"/>
                <a:cs typeface="Arial MT"/>
              </a:rPr>
              <a:t>°</a:t>
            </a:r>
            <a:r>
              <a:rPr dirty="0" sz="1950">
                <a:solidFill>
                  <a:srgbClr val="3B3B3B"/>
                </a:solidFill>
                <a:latin typeface="Arial MT"/>
                <a:cs typeface="Arial MT"/>
              </a:rPr>
              <a:t>	</a:t>
            </a:r>
            <a:r>
              <a:rPr dirty="0" sz="1950" spc="-10">
                <a:solidFill>
                  <a:srgbClr val="0F0F0F"/>
                </a:solidFill>
                <a:latin typeface="Arial MT"/>
                <a:cs typeface="Arial MT"/>
              </a:rPr>
              <a:t>model</a:t>
            </a:r>
            <a:endParaRPr sz="1950">
              <a:latin typeface="Arial MT"/>
              <a:cs typeface="Arial MT"/>
            </a:endParaRPr>
          </a:p>
          <a:p>
            <a:pPr marL="675005">
              <a:lnSpc>
                <a:spcPct val="100000"/>
              </a:lnSpc>
              <a:spcBef>
                <a:spcPts val="150"/>
              </a:spcBef>
              <a:tabLst>
                <a:tab pos="925830" algn="l"/>
              </a:tabLst>
            </a:pPr>
            <a:r>
              <a:rPr dirty="0" sz="2050" spc="20">
                <a:solidFill>
                  <a:srgbClr val="282828"/>
                </a:solidFill>
                <a:latin typeface="Arial MT"/>
                <a:cs typeface="Arial MT"/>
              </a:rPr>
              <a:t>°</a:t>
            </a:r>
            <a:r>
              <a:rPr dirty="0" sz="2050">
                <a:solidFill>
                  <a:srgbClr val="282828"/>
                </a:solidFill>
                <a:latin typeface="Arial MT"/>
                <a:cs typeface="Arial MT"/>
              </a:rPr>
              <a:t>	</a:t>
            </a:r>
            <a:r>
              <a:rPr dirty="0" sz="2050">
                <a:latin typeface="Arial MT"/>
                <a:cs typeface="Arial MT"/>
              </a:rPr>
              <a:t>list</a:t>
            </a:r>
            <a:r>
              <a:rPr dirty="0" sz="2050" spc="-8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2050" spc="-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latin typeface="Arial MT"/>
                <a:cs typeface="Arial MT"/>
              </a:rPr>
              <a:t>messages,</a:t>
            </a:r>
            <a:r>
              <a:rPr dirty="0" sz="2050" spc="-55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each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0F0F0F"/>
                </a:solidFill>
                <a:latin typeface="Arial MT"/>
                <a:cs typeface="Arial MT"/>
              </a:rPr>
              <a:t>with</a:t>
            </a:r>
            <a:r>
              <a:rPr dirty="0" sz="2050" spc="-8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r>
              <a:rPr dirty="0" sz="20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role</a:t>
            </a:r>
            <a:r>
              <a:rPr dirty="0" sz="2050" spc="-8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dirty="0" sz="2050" spc="-114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content</a:t>
            </a:r>
            <a:endParaRPr sz="2050">
              <a:latin typeface="Arial MT"/>
              <a:cs typeface="Arial MT"/>
            </a:endParaRPr>
          </a:p>
          <a:p>
            <a:pPr marL="462915" indent="-205740">
              <a:lnSpc>
                <a:spcPct val="100000"/>
              </a:lnSpc>
              <a:spcBef>
                <a:spcPts val="610"/>
              </a:spcBef>
              <a:buClr>
                <a:srgbClr val="232323"/>
              </a:buClr>
              <a:buChar char="•"/>
              <a:tabLst>
                <a:tab pos="462915" algn="l"/>
              </a:tabLst>
            </a:pPr>
            <a:r>
              <a:rPr dirty="0" sz="2150" spc="-40">
                <a:solidFill>
                  <a:srgbClr val="151515"/>
                </a:solidFill>
                <a:latin typeface="Arial MT"/>
                <a:cs typeface="Arial MT"/>
              </a:rPr>
              <a:t>Response</a:t>
            </a:r>
            <a:endParaRPr sz="2150">
              <a:latin typeface="Arial MT"/>
              <a:cs typeface="Arial MT"/>
            </a:endParaRPr>
          </a:p>
          <a:p>
            <a:pPr marL="715010">
              <a:lnSpc>
                <a:spcPct val="100000"/>
              </a:lnSpc>
              <a:spcBef>
                <a:spcPts val="670"/>
              </a:spcBef>
            </a:pPr>
            <a:r>
              <a:rPr dirty="0" sz="1950" spc="-405">
                <a:solidFill>
                  <a:srgbClr val="494949"/>
                </a:solidFill>
                <a:latin typeface="Arial MT"/>
                <a:cs typeface="Arial MT"/>
              </a:rPr>
              <a:t>o</a:t>
            </a:r>
            <a:r>
              <a:rPr dirty="0" sz="1950" spc="4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131313"/>
                </a:solidFill>
                <a:latin typeface="Arial MT"/>
                <a:cs typeface="Arial MT"/>
              </a:rPr>
              <a:t>model</a:t>
            </a:r>
            <a:endParaRPr sz="1950">
              <a:latin typeface="Arial MT"/>
              <a:cs typeface="Arial MT"/>
            </a:endParaRPr>
          </a:p>
          <a:p>
            <a:pPr marL="676275">
              <a:lnSpc>
                <a:spcPct val="100000"/>
              </a:lnSpc>
              <a:spcBef>
                <a:spcPts val="320"/>
              </a:spcBef>
              <a:tabLst>
                <a:tab pos="926465" algn="l"/>
              </a:tabLst>
            </a:pPr>
            <a:r>
              <a:rPr dirty="0" sz="2000" spc="-50">
                <a:solidFill>
                  <a:srgbClr val="313131"/>
                </a:solidFill>
                <a:latin typeface="Arial MT"/>
                <a:cs typeface="Arial MT"/>
              </a:rPr>
              <a:t>°</a:t>
            </a:r>
            <a:r>
              <a:rPr dirty="0" sz="2000">
                <a:solidFill>
                  <a:srgbClr val="313131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list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C1C1C"/>
                </a:solidFill>
                <a:latin typeface="Arial MT"/>
                <a:cs typeface="Arial MT"/>
              </a:rPr>
              <a:t>of</a:t>
            </a:r>
            <a:r>
              <a:rPr dirty="0" sz="2000" spc="-1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00" spc="-35">
                <a:latin typeface="Arial MT"/>
                <a:cs typeface="Arial MT"/>
              </a:rPr>
              <a:t>choices,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161616"/>
                </a:solidFill>
                <a:latin typeface="Arial MT"/>
                <a:cs typeface="Arial MT"/>
              </a:rPr>
              <a:t>each</a:t>
            </a:r>
            <a:r>
              <a:rPr dirty="0" sz="2000" spc="-8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 spc="85">
                <a:latin typeface="Arial MT"/>
                <a:cs typeface="Arial MT"/>
              </a:rPr>
              <a:t>with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dirty="0" sz="2000" spc="-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0F0F0F"/>
                </a:solidFill>
                <a:latin typeface="Arial MT"/>
                <a:cs typeface="Arial MT"/>
              </a:rPr>
              <a:t>message</a:t>
            </a:r>
            <a:endParaRPr sz="2000">
              <a:latin typeface="Arial MT"/>
              <a:cs typeface="Arial MT"/>
            </a:endParaRPr>
          </a:p>
          <a:p>
            <a:pPr marL="677545">
              <a:lnSpc>
                <a:spcPct val="100000"/>
              </a:lnSpc>
              <a:spcBef>
                <a:spcPts val="245"/>
              </a:spcBef>
              <a:tabLst>
                <a:tab pos="922019" algn="l"/>
              </a:tabLst>
            </a:pPr>
            <a:r>
              <a:rPr dirty="0" sz="1950" spc="-50">
                <a:solidFill>
                  <a:srgbClr val="7B7B7B"/>
                </a:solidFill>
                <a:latin typeface="Arial MT"/>
                <a:cs typeface="Arial MT"/>
              </a:rPr>
              <a:t>°</a:t>
            </a:r>
            <a:r>
              <a:rPr dirty="0" sz="1950">
                <a:solidFill>
                  <a:srgbClr val="7B7B7B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1C1C1C"/>
                </a:solidFill>
                <a:latin typeface="Arial MT"/>
                <a:cs typeface="Arial MT"/>
              </a:rPr>
              <a:t>finish</a:t>
            </a:r>
            <a:r>
              <a:rPr dirty="0" sz="1950" spc="19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F0F0F"/>
                </a:solidFill>
                <a:latin typeface="Arial MT"/>
                <a:cs typeface="Arial MT"/>
              </a:rPr>
              <a:t>reason</a:t>
            </a:r>
            <a:endParaRPr sz="1950">
              <a:latin typeface="Arial MT"/>
              <a:cs typeface="Arial MT"/>
            </a:endParaRPr>
          </a:p>
          <a:p>
            <a:pPr marL="669290">
              <a:lnSpc>
                <a:spcPct val="100000"/>
              </a:lnSpc>
              <a:spcBef>
                <a:spcPts val="200"/>
              </a:spcBef>
              <a:tabLst>
                <a:tab pos="926465" algn="l"/>
              </a:tabLst>
            </a:pPr>
            <a:r>
              <a:rPr dirty="0" sz="2000" spc="-360">
                <a:solidFill>
                  <a:srgbClr val="4F4F4F"/>
                </a:solidFill>
                <a:latin typeface="Arial MT"/>
                <a:cs typeface="Arial MT"/>
              </a:rPr>
              <a:t>t</a:t>
            </a:r>
            <a:r>
              <a:rPr dirty="0" sz="2000">
                <a:solidFill>
                  <a:srgbClr val="4F4F4F"/>
                </a:solidFill>
                <a:latin typeface="Arial MT"/>
                <a:cs typeface="Arial MT"/>
              </a:rPr>
              <a:t>	</a:t>
            </a:r>
            <a:r>
              <a:rPr dirty="0" sz="2000" spc="-45">
                <a:latin typeface="Arial MT"/>
                <a:cs typeface="Arial MT"/>
              </a:rPr>
              <a:t>usage,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65">
                <a:solidFill>
                  <a:srgbClr val="0F0F0F"/>
                </a:solidFill>
                <a:latin typeface="Arial MT"/>
                <a:cs typeface="Arial MT"/>
              </a:rPr>
              <a:t>with</a:t>
            </a:r>
            <a:r>
              <a:rPr dirty="0" sz="200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 spc="70">
                <a:latin typeface="Arial MT"/>
                <a:cs typeface="Arial MT"/>
              </a:rPr>
              <a:t>the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F0F0F"/>
                </a:solidFill>
                <a:latin typeface="Arial MT"/>
                <a:cs typeface="Arial MT"/>
              </a:rPr>
              <a:t>number</a:t>
            </a:r>
            <a:r>
              <a:rPr dirty="0" sz="2000" spc="2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51515"/>
                </a:solidFill>
                <a:latin typeface="Arial MT"/>
                <a:cs typeface="Arial MT"/>
              </a:rPr>
              <a:t>of</a:t>
            </a:r>
            <a:r>
              <a:rPr dirty="0" sz="2000" spc="2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tokens</a:t>
            </a:r>
            <a:r>
              <a:rPr dirty="0" sz="2000" spc="130"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448" y="4006061"/>
            <a:ext cx="268224" cy="40243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232" y="4371911"/>
            <a:ext cx="694944" cy="9756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7616" y="2426807"/>
            <a:ext cx="5315712" cy="52438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983" y="4810931"/>
            <a:ext cx="8802624" cy="64633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808" y="475354"/>
            <a:ext cx="3940175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8854" algn="l"/>
              </a:tabLst>
            </a:pPr>
            <a:r>
              <a:rPr dirty="0" sz="2950" spc="150">
                <a:solidFill>
                  <a:srgbClr val="01B1C3"/>
                </a:solidFill>
                <a:latin typeface="Arial MT"/>
                <a:cs typeface="Arial MT"/>
              </a:rPr>
              <a:t>Working</a:t>
            </a:r>
            <a:r>
              <a:rPr dirty="0" sz="2950" spc="315">
                <a:solidFill>
                  <a:srgbClr val="01B1C3"/>
                </a:solidFill>
                <a:latin typeface="Arial MT"/>
                <a:cs typeface="Arial MT"/>
              </a:rPr>
              <a:t> </a:t>
            </a:r>
            <a:r>
              <a:rPr dirty="0" sz="2950" spc="245">
                <a:solidFill>
                  <a:srgbClr val="00ACC4"/>
                </a:solidFill>
                <a:latin typeface="Arial MT"/>
                <a:cs typeface="Arial MT"/>
              </a:rPr>
              <a:t>with</a:t>
            </a:r>
            <a:r>
              <a:rPr dirty="0" sz="2950" spc="110">
                <a:solidFill>
                  <a:srgbClr val="00ACC4"/>
                </a:solidFill>
                <a:latin typeface="Arial MT"/>
                <a:cs typeface="Arial MT"/>
              </a:rPr>
              <a:t> </a:t>
            </a:r>
            <a:r>
              <a:rPr dirty="0" sz="2950" spc="-495">
                <a:solidFill>
                  <a:srgbClr val="2F9CBD"/>
                </a:solidFill>
                <a:latin typeface="Arial MT"/>
                <a:cs typeface="Arial MT"/>
              </a:rPr>
              <a:t>I</a:t>
            </a:r>
            <a:r>
              <a:rPr dirty="0" sz="2950" spc="-495">
                <a:solidFill>
                  <a:srgbClr val="13AFC8"/>
                </a:solidFill>
                <a:latin typeface="Arial MT"/>
                <a:cs typeface="Arial MT"/>
              </a:rPr>
              <a:t>mag</a:t>
            </a:r>
            <a:r>
              <a:rPr dirty="0" sz="2950">
                <a:solidFill>
                  <a:srgbClr val="13AFC8"/>
                </a:solidFill>
                <a:latin typeface="Arial MT"/>
                <a:cs typeface="Arial MT"/>
              </a:rPr>
              <a:t>	</a:t>
            </a:r>
            <a:r>
              <a:rPr dirty="0" sz="2950" spc="-25">
                <a:solidFill>
                  <a:srgbClr val="009AC1"/>
                </a:solidFill>
                <a:latin typeface="Arial MT"/>
                <a:cs typeface="Arial MT"/>
              </a:rPr>
              <a:t>es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6550" y="1495670"/>
            <a:ext cx="4612005" cy="41465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7940" marR="5080" indent="-15875">
              <a:lnSpc>
                <a:spcPts val="1440"/>
              </a:lnSpc>
              <a:spcBef>
                <a:spcPts val="295"/>
              </a:spcBef>
              <a:tabLst>
                <a:tab pos="2531110" algn="l"/>
              </a:tabLst>
            </a:pPr>
            <a:r>
              <a:rPr dirty="0" sz="1350">
                <a:solidFill>
                  <a:srgbClr val="707EA1"/>
                </a:solidFill>
                <a:latin typeface="Calibri"/>
                <a:cs typeface="Calibri"/>
              </a:rPr>
              <a:t>!</a:t>
            </a:r>
            <a:r>
              <a:rPr dirty="0" sz="1350" spc="130">
                <a:solidFill>
                  <a:srgbClr val="707EA1"/>
                </a:solidFill>
                <a:latin typeface="Calibri"/>
                <a:cs typeface="Calibri"/>
              </a:rPr>
              <a:t> </a:t>
            </a:r>
            <a:r>
              <a:rPr dirty="0" sz="1350" spc="50">
                <a:solidFill>
                  <a:srgbClr val="707EA1"/>
                </a:solidFill>
                <a:latin typeface="Calibri"/>
                <a:cs typeface="Calibri"/>
              </a:rPr>
              <a:t>Valk</a:t>
            </a:r>
            <a:r>
              <a:rPr dirty="0" sz="1350" spc="75">
                <a:solidFill>
                  <a:srgbClr val="707EA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707EA1"/>
                </a:solidFill>
                <a:latin typeface="Calibri"/>
                <a:cs typeface="Calibri"/>
              </a:rPr>
              <a:t>e</a:t>
            </a:r>
            <a:r>
              <a:rPr dirty="0" sz="1350" spc="-120">
                <a:solidFill>
                  <a:srgbClr val="707EA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47EB1"/>
                </a:solidFill>
                <a:latin typeface="Calibri"/>
                <a:cs typeface="Calibri"/>
              </a:rPr>
              <a:t>(</a:t>
            </a:r>
            <a:r>
              <a:rPr dirty="0" sz="1350" spc="-5">
                <a:solidFill>
                  <a:srgbClr val="647EB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7785C3"/>
                </a:solidFill>
                <a:latin typeface="Calibri"/>
                <a:cs typeface="Calibri"/>
              </a:rPr>
              <a:t>"c</a:t>
            </a:r>
            <a:r>
              <a:rPr dirty="0" sz="1350" spc="145">
                <a:solidFill>
                  <a:srgbClr val="7785C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989BF"/>
                </a:solidFill>
                <a:latin typeface="Calibri"/>
                <a:cs typeface="Calibri"/>
              </a:rPr>
              <a:t>tas</a:t>
            </a:r>
            <a:r>
              <a:rPr dirty="0" sz="1350" spc="250">
                <a:solidFill>
                  <a:srgbClr val="6989B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079B1"/>
                </a:solidFill>
                <a:latin typeface="Calibri"/>
                <a:cs typeface="Calibri"/>
              </a:rPr>
              <a:t>spa</a:t>
            </a:r>
            <a:r>
              <a:rPr dirty="0" sz="1350" spc="125">
                <a:solidFill>
                  <a:srgbClr val="6079B1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62809C"/>
                </a:solidFill>
                <a:latin typeface="Calibri"/>
                <a:cs typeface="Calibri"/>
              </a:rPr>
              <a:t>t</a:t>
            </a:r>
            <a:r>
              <a:rPr dirty="0" sz="1350" spc="-120">
                <a:solidFill>
                  <a:srgbClr val="62809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7097"/>
                </a:solidFill>
                <a:latin typeface="Calibri"/>
                <a:cs typeface="Calibri"/>
              </a:rPr>
              <a:t>I</a:t>
            </a:r>
            <a:r>
              <a:rPr dirty="0" sz="1350" spc="290">
                <a:solidFill>
                  <a:srgbClr val="49709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26999"/>
                </a:solidFill>
                <a:latin typeface="Calibri"/>
                <a:cs typeface="Calibri"/>
              </a:rPr>
              <a:t>:</a:t>
            </a:r>
            <a:r>
              <a:rPr dirty="0" sz="1350" spc="-114">
                <a:solidFill>
                  <a:srgbClr val="626999"/>
                </a:solidFill>
                <a:latin typeface="Calibri"/>
                <a:cs typeface="Calibri"/>
              </a:rPr>
              <a:t> </a:t>
            </a:r>
            <a:r>
              <a:rPr dirty="0" sz="1350" spc="175">
                <a:solidFill>
                  <a:srgbClr val="7587BF"/>
                </a:solidFill>
                <a:latin typeface="Calibri"/>
                <a:cs typeface="Calibri"/>
              </a:rPr>
              <a:t>iarges/</a:t>
            </a:r>
            <a:r>
              <a:rPr dirty="0" sz="1350">
                <a:solidFill>
                  <a:srgbClr val="7587BF"/>
                </a:solidFill>
                <a:latin typeface="Calibri"/>
                <a:cs typeface="Calibri"/>
              </a:rPr>
              <a:t>	</a:t>
            </a:r>
            <a:r>
              <a:rPr dirty="0" sz="1350">
                <a:solidFill>
                  <a:srgbClr val="728CBC"/>
                </a:solidFill>
                <a:latin typeface="Calibri"/>
                <a:cs typeface="Calibri"/>
              </a:rPr>
              <a:t>t</a:t>
            </a:r>
            <a:r>
              <a:rPr dirty="0" sz="1350" spc="-105">
                <a:solidFill>
                  <a:srgbClr val="728CB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B6485"/>
                </a:solidFill>
                <a:latin typeface="Calibri"/>
                <a:cs typeface="Calibri"/>
              </a:rPr>
              <a:t>cc</a:t>
            </a:r>
            <a:r>
              <a:rPr dirty="0" sz="1350" spc="-35">
                <a:solidFill>
                  <a:srgbClr val="4B648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577093"/>
                </a:solidFill>
                <a:latin typeface="Calibri"/>
                <a:cs typeface="Calibri"/>
              </a:rPr>
              <a:t>kl›o</a:t>
            </a:r>
            <a:r>
              <a:rPr dirty="0" sz="1350" spc="-35">
                <a:solidFill>
                  <a:srgbClr val="577093"/>
                </a:solidFill>
                <a:latin typeface="Calibri"/>
                <a:cs typeface="Calibri"/>
              </a:rPr>
              <a:t> </a:t>
            </a:r>
            <a:r>
              <a:rPr dirty="0" sz="1350" spc="-110">
                <a:solidFill>
                  <a:srgbClr val="7479B3"/>
                </a:solidFill>
                <a:latin typeface="Calibri"/>
                <a:cs typeface="Calibri"/>
              </a:rPr>
              <a:t>tm </a:t>
            </a:r>
            <a:r>
              <a:rPr dirty="0" sz="1350" spc="65">
                <a:solidFill>
                  <a:srgbClr val="4B6085"/>
                </a:solidFill>
                <a:latin typeface="Calibri"/>
                <a:cs typeface="Calibri"/>
              </a:rPr>
              <a:t>-</a:t>
            </a:r>
            <a:r>
              <a:rPr dirty="0" sz="1350" spc="100">
                <a:solidFill>
                  <a:srgbClr val="4B6085"/>
                </a:solidFill>
                <a:latin typeface="Calibri"/>
                <a:cs typeface="Calibri"/>
              </a:rPr>
              <a:t>bea</a:t>
            </a:r>
            <a:r>
              <a:rPr dirty="0" sz="1350" spc="100">
                <a:solidFill>
                  <a:srgbClr val="6B80C4"/>
                </a:solidFill>
                <a:latin typeface="Calibri"/>
                <a:cs typeface="Calibri"/>
              </a:rPr>
              <a:t>r</a:t>
            </a:r>
            <a:r>
              <a:rPr dirty="0" sz="1350" spc="-125">
                <a:solidFill>
                  <a:srgbClr val="6B80C4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626E8E"/>
                </a:solidFill>
                <a:latin typeface="Calibri"/>
                <a:cs typeface="Calibri"/>
              </a:rPr>
              <a:t>he</a:t>
            </a:r>
            <a:r>
              <a:rPr dirty="0" sz="1350" spc="-150">
                <a:solidFill>
                  <a:srgbClr val="626E8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596B9A"/>
                </a:solidFill>
                <a:latin typeface="Calibri"/>
                <a:cs typeface="Calibri"/>
              </a:rPr>
              <a:t>i</a:t>
            </a:r>
            <a:r>
              <a:rPr dirty="0" sz="1350" spc="265">
                <a:solidFill>
                  <a:srgbClr val="596B9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F66A5"/>
                </a:solidFill>
                <a:latin typeface="Calibri"/>
                <a:cs typeface="Calibri"/>
              </a:rPr>
              <a:t>.</a:t>
            </a:r>
            <a:r>
              <a:rPr dirty="0" sz="1350" spc="-55">
                <a:solidFill>
                  <a:srgbClr val="3F66A5"/>
                </a:solidFill>
                <a:latin typeface="Calibri"/>
                <a:cs typeface="Calibri"/>
              </a:rPr>
              <a:t> </a:t>
            </a:r>
            <a:r>
              <a:rPr dirty="0" sz="1350" spc="-155">
                <a:solidFill>
                  <a:srgbClr val="647CA5"/>
                </a:solidFill>
                <a:latin typeface="Calibri"/>
                <a:cs typeface="Calibri"/>
              </a:rPr>
              <a:t>pncg</a:t>
            </a:r>
            <a:r>
              <a:rPr dirty="0" sz="1350" spc="5">
                <a:solidFill>
                  <a:srgbClr val="647CA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7593A8"/>
                </a:solidFill>
                <a:latin typeface="Calibri"/>
                <a:cs typeface="Calibri"/>
              </a:rPr>
              <a:t>"</a:t>
            </a:r>
            <a:r>
              <a:rPr dirty="0" sz="1350" spc="30">
                <a:solidFill>
                  <a:srgbClr val="7593A8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647CAC"/>
                </a:solidFill>
                <a:latin typeface="Calibri"/>
                <a:cs typeface="Calibri"/>
              </a:rPr>
              <a:t>) </a:t>
            </a:r>
            <a:r>
              <a:rPr dirty="0" sz="1350" spc="190">
                <a:solidFill>
                  <a:srgbClr val="7B2A69"/>
                </a:solidFill>
                <a:latin typeface="Calibri"/>
                <a:cs typeface="Calibri"/>
              </a:rPr>
              <a:t>private</a:t>
            </a:r>
            <a:r>
              <a:rPr dirty="0" sz="1350" spc="445">
                <a:solidFill>
                  <a:srgbClr val="7B2A69"/>
                </a:solidFill>
                <a:latin typeface="Calibri"/>
                <a:cs typeface="Calibri"/>
              </a:rPr>
              <a:t> </a:t>
            </a:r>
            <a:r>
              <a:rPr dirty="0" sz="1350" spc="100">
                <a:latin typeface="Calibri"/>
                <a:cs typeface="Calibri"/>
              </a:rPr>
              <a:t>Resource</a:t>
            </a:r>
            <a:r>
              <a:rPr dirty="0" sz="1350" spc="114">
                <a:latin typeface="Calibri"/>
                <a:cs typeface="Calibri"/>
              </a:rPr>
              <a:t>  </a:t>
            </a:r>
            <a:r>
              <a:rPr dirty="0" sz="1350" spc="125">
                <a:latin typeface="Calibri"/>
                <a:cs typeface="Calibri"/>
              </a:rPr>
              <a:t>izageResour</a:t>
            </a:r>
            <a:r>
              <a:rPr dirty="0" sz="1350" spc="-100">
                <a:latin typeface="Calibri"/>
                <a:cs typeface="Calibri"/>
              </a:rPr>
              <a:t> </a:t>
            </a:r>
            <a:r>
              <a:rPr dirty="0" sz="1350" spc="60">
                <a:solidFill>
                  <a:srgbClr val="0F0F0F"/>
                </a:solidFill>
                <a:latin typeface="Calibri"/>
                <a:cs typeface="Calibri"/>
              </a:rPr>
              <a:t>ceUeat</a:t>
            </a:r>
            <a:r>
              <a:rPr dirty="0" sz="1350" spc="-8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latin typeface="Calibri"/>
                <a:cs typeface="Calibri"/>
              </a:rPr>
              <a:t>her </a:t>
            </a:r>
            <a:r>
              <a:rPr dirty="0" sz="1350" spc="-50">
                <a:solidFill>
                  <a:srgbClr val="131313"/>
                </a:solidFill>
                <a:latin typeface="Calibri"/>
                <a:cs typeface="Calibri"/>
              </a:rPr>
              <a:t>;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45076" y="2919691"/>
            <a:ext cx="23317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latin typeface="Courier New"/>
                <a:cs typeface="Courier New"/>
              </a:rPr>
              <a:t>s.imageResourceWeather))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03399" y="2919691"/>
            <a:ext cx="3230245" cy="40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5104">
              <a:lnSpc>
                <a:spcPts val="1465"/>
              </a:lnSpc>
              <a:spcBef>
                <a:spcPts val="100"/>
              </a:spcBef>
            </a:pPr>
            <a:r>
              <a:rPr dirty="0" sz="1300" spc="-35">
                <a:solidFill>
                  <a:srgbClr val="111111"/>
                </a:solidFill>
                <a:latin typeface="Courier New"/>
                <a:cs typeface="Courier New"/>
              </a:rPr>
              <a:t>.media(MimeTypeUtils.IMAGE</a:t>
            </a:r>
            <a:r>
              <a:rPr dirty="0" sz="1300" spc="1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baseline="2136" sz="1950" spc="-30">
                <a:latin typeface="Courier New"/>
                <a:cs typeface="Courier New"/>
              </a:rPr>
              <a:t>PNG</a:t>
            </a:r>
            <a:r>
              <a:rPr dirty="0" baseline="-6410" sz="1950" spc="-30">
                <a:latin typeface="Courier New"/>
                <a:cs typeface="Courier New"/>
              </a:rPr>
              <a:t>f</a:t>
            </a:r>
            <a:endParaRPr baseline="-6410" sz="1950">
              <a:latin typeface="Courier New"/>
              <a:cs typeface="Courier New"/>
            </a:endParaRPr>
          </a:p>
          <a:p>
            <a:pPr marL="38100">
              <a:lnSpc>
                <a:spcPts val="1525"/>
              </a:lnSpc>
            </a:pPr>
            <a:r>
              <a:rPr dirty="0" sz="1350">
                <a:solidFill>
                  <a:srgbClr val="181818"/>
                </a:solidFill>
                <a:latin typeface="Arial MT"/>
                <a:cs typeface="Arial MT"/>
              </a:rPr>
              <a:t>.</a:t>
            </a:r>
            <a:r>
              <a:rPr dirty="0" sz="1350" spc="-17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350" spc="210">
                <a:latin typeface="Arial MT"/>
                <a:cs typeface="Arial MT"/>
              </a:rPr>
              <a:t>call(</a:t>
            </a:r>
            <a:r>
              <a:rPr dirty="0" sz="1350" spc="-95"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61616"/>
                </a:solidFill>
                <a:latin typeface="Arial MT"/>
                <a:cs typeface="Arial MT"/>
              </a:rPr>
              <a:t>)</a:t>
            </a:r>
            <a:r>
              <a:rPr dirty="0" sz="1350" spc="-8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r>
              <a:rPr dirty="0" sz="1350" spc="-16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350" spc="90">
                <a:solidFill>
                  <a:srgbClr val="0C0C0C"/>
                </a:solidFill>
                <a:latin typeface="Arial MT"/>
                <a:cs typeface="Arial MT"/>
              </a:rPr>
              <a:t>content</a:t>
            </a:r>
            <a:r>
              <a:rPr dirty="0" sz="1350" spc="-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350">
                <a:latin typeface="Arial MT"/>
                <a:cs typeface="Arial MT"/>
              </a:rPr>
              <a:t>(</a:t>
            </a:r>
            <a:r>
              <a:rPr dirty="0" sz="1350" spc="-20">
                <a:latin typeface="Arial MT"/>
                <a:cs typeface="Arial MT"/>
              </a:rPr>
              <a:t> </a:t>
            </a:r>
            <a:r>
              <a:rPr dirty="0" sz="1350">
                <a:latin typeface="Arial MT"/>
                <a:cs typeface="Arial MT"/>
              </a:rPr>
              <a:t>)</a:t>
            </a:r>
            <a:r>
              <a:rPr dirty="0" sz="1350" spc="-45">
                <a:latin typeface="Arial MT"/>
                <a:cs typeface="Arial MT"/>
              </a:rPr>
              <a:t> </a:t>
            </a:r>
            <a:r>
              <a:rPr dirty="0" sz="1350" spc="-50">
                <a:solidFill>
                  <a:srgbClr val="181818"/>
                </a:solidFill>
                <a:latin typeface="Arial MT"/>
                <a:cs typeface="Arial MT"/>
              </a:rPr>
              <a:t>;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09285" y="3983706"/>
            <a:ext cx="1562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5">
                <a:solidFill>
                  <a:srgbClr val="1F1F1F"/>
                </a:solidFill>
                <a:latin typeface="Arial MT"/>
                <a:cs typeface="Arial MT"/>
              </a:rPr>
              <a:t>°c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676493" y="3915930"/>
            <a:ext cx="1385570" cy="40703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r>
              <a:rPr dirty="0" baseline="-19230" sz="1950">
                <a:solidFill>
                  <a:srgbClr val="696969"/>
                </a:solidFill>
                <a:latin typeface="Arial MT"/>
                <a:cs typeface="Arial MT"/>
              </a:rPr>
              <a:t>°</a:t>
            </a:r>
            <a:r>
              <a:rPr dirty="0" baseline="-19230" sz="1950">
                <a:solidFill>
                  <a:srgbClr val="545454"/>
                </a:solidFill>
                <a:latin typeface="Arial MT"/>
                <a:cs typeface="Arial MT"/>
              </a:rPr>
              <a:t>F</a:t>
            </a:r>
            <a:r>
              <a:rPr dirty="0" baseline="-19230" sz="1950" spc="60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300" spc="-130">
                <a:solidFill>
                  <a:srgbClr val="4F4F4F"/>
                </a:solidFill>
                <a:latin typeface="Arial MT"/>
                <a:cs typeface="Arial MT"/>
              </a:rPr>
              <a:t>Niederschlag:</a:t>
            </a:r>
            <a:r>
              <a:rPr dirty="0" sz="1300" spc="15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300" spc="-95">
                <a:solidFill>
                  <a:srgbClr val="696969"/>
                </a:solidFill>
                <a:latin typeface="Arial MT"/>
                <a:cs typeface="Arial MT"/>
              </a:rPr>
              <a:t>3Sf</a:t>
            </a:r>
            <a:endParaRPr sz="1300">
              <a:latin typeface="Arial MT"/>
              <a:cs typeface="Arial MT"/>
            </a:endParaRPr>
          </a:p>
          <a:p>
            <a:pPr marL="318770">
              <a:lnSpc>
                <a:spcPct val="100000"/>
              </a:lnSpc>
              <a:spcBef>
                <a:spcPts val="85"/>
              </a:spcBef>
            </a:pP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Lriftfetichte</a:t>
            </a:r>
            <a:r>
              <a:rPr dirty="0" sz="1050" spc="29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45454"/>
                </a:solidFill>
                <a:latin typeface="Arial MT"/>
                <a:cs typeface="Arial MT"/>
              </a:rPr>
              <a:t>82%L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13687" y="3857945"/>
            <a:ext cx="1276350" cy="78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50">
              <a:lnSpc>
                <a:spcPct val="100000"/>
              </a:lnSpc>
              <a:spcBef>
                <a:spcPts val="100"/>
              </a:spcBef>
            </a:pPr>
            <a:r>
              <a:rPr dirty="0" sz="2050" spc="-75">
                <a:solidFill>
                  <a:srgbClr val="151515"/>
                </a:solidFill>
                <a:latin typeface="Arial MT"/>
                <a:cs typeface="Arial MT"/>
              </a:rPr>
              <a:t>Wetter</a:t>
            </a:r>
            <a:endParaRPr sz="2050">
              <a:latin typeface="Arial MT"/>
              <a:cs typeface="Arial MT"/>
            </a:endParaRPr>
          </a:p>
          <a:p>
            <a:pPr marL="194310" marR="5080" indent="-182245">
              <a:lnSpc>
                <a:spcPts val="1780"/>
              </a:lnSpc>
              <a:spcBef>
                <a:spcPts val="35"/>
              </a:spcBef>
            </a:pPr>
            <a:r>
              <a:rPr dirty="0" sz="1400">
                <a:solidFill>
                  <a:srgbClr val="444444"/>
                </a:solidFill>
                <a:latin typeface="Arial MT"/>
                <a:cs typeface="Arial MT"/>
              </a:rPr>
              <a:t>Mittwoch,</a:t>
            </a:r>
            <a:r>
              <a:rPr dirty="0" sz="1400" spc="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44444"/>
                </a:solidFill>
                <a:latin typeface="Arial MT"/>
                <a:cs typeface="Arial MT"/>
              </a:rPr>
              <a:t>05:00 </a:t>
            </a:r>
            <a:r>
              <a:rPr dirty="0" sz="1400">
                <a:solidFill>
                  <a:srgbClr val="494949"/>
                </a:solidFill>
                <a:latin typeface="Arial MT"/>
                <a:cs typeface="Arial MT"/>
              </a:rPr>
              <a:t>Stark</a:t>
            </a:r>
            <a:r>
              <a:rPr dirty="0" sz="1400" spc="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4F4F4F"/>
                </a:solidFill>
                <a:latin typeface="Arial MT"/>
                <a:cs typeface="Arial MT"/>
              </a:rPr>
              <a:t>bewöl&lt;t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6479" y="456300"/>
            <a:ext cx="7579359" cy="498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7954" algn="l"/>
              </a:tabLst>
            </a:pPr>
            <a:r>
              <a:rPr dirty="0" sz="3100" spc="60">
                <a:solidFill>
                  <a:srgbClr val="01B1C3"/>
                </a:solidFill>
                <a:latin typeface="Arial MT"/>
                <a:cs typeface="Arial MT"/>
              </a:rPr>
              <a:t>Working</a:t>
            </a:r>
            <a:r>
              <a:rPr dirty="0" sz="3100" spc="290">
                <a:solidFill>
                  <a:srgbClr val="01B1C3"/>
                </a:solidFill>
                <a:latin typeface="Arial MT"/>
                <a:cs typeface="Arial MT"/>
              </a:rPr>
              <a:t> </a:t>
            </a:r>
            <a:r>
              <a:rPr dirty="0" sz="3100" spc="160">
                <a:solidFill>
                  <a:srgbClr val="009ED8"/>
                </a:solidFill>
                <a:latin typeface="Arial MT"/>
                <a:cs typeface="Arial MT"/>
              </a:rPr>
              <a:t>with</a:t>
            </a:r>
            <a:r>
              <a:rPr dirty="0" sz="3100" spc="30">
                <a:solidFill>
                  <a:srgbClr val="009ED8"/>
                </a:solidFill>
                <a:latin typeface="Arial MT"/>
                <a:cs typeface="Arial MT"/>
              </a:rPr>
              <a:t> </a:t>
            </a:r>
            <a:r>
              <a:rPr dirty="0" sz="3100" spc="65">
                <a:solidFill>
                  <a:srgbClr val="00B5E9"/>
                </a:solidFill>
                <a:latin typeface="Arial MT"/>
                <a:cs typeface="Arial MT"/>
              </a:rPr>
              <a:t>Audio</a:t>
            </a:r>
            <a:r>
              <a:rPr dirty="0" sz="3100">
                <a:solidFill>
                  <a:srgbClr val="00B5E9"/>
                </a:solidFill>
                <a:latin typeface="Arial MT"/>
                <a:cs typeface="Arial MT"/>
              </a:rPr>
              <a:t>	</a:t>
            </a:r>
            <a:r>
              <a:rPr dirty="0" sz="3100">
                <a:solidFill>
                  <a:srgbClr val="00A3E1"/>
                </a:solidFill>
                <a:latin typeface="Arial MT"/>
                <a:cs typeface="Arial MT"/>
              </a:rPr>
              <a:t>Transcription</a:t>
            </a:r>
            <a:r>
              <a:rPr dirty="0" sz="3100" spc="695">
                <a:solidFill>
                  <a:srgbClr val="00A3E1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0FA8D6"/>
                </a:solidFill>
                <a:latin typeface="Arial MT"/>
                <a:cs typeface="Arial MT"/>
              </a:rPr>
              <a:t>Model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2692" y="1501767"/>
            <a:ext cx="8731250" cy="1280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0">
                <a:latin typeface="Courier New"/>
                <a:cs typeface="Courier New"/>
              </a:rPr>
              <a:t>transcriptionModel.call(new</a:t>
            </a:r>
            <a:r>
              <a:rPr dirty="0" sz="1350" spc="-40"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AudioTranscriptionPrompt(audioFile)).getResult().get0utput();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350">
              <a:latin typeface="Courier New"/>
              <a:cs typeface="Courier New"/>
            </a:endParaRPr>
          </a:p>
          <a:p>
            <a:pPr marL="13335">
              <a:lnSpc>
                <a:spcPts val="1520"/>
              </a:lnSpc>
              <a:tabLst>
                <a:tab pos="2688590" algn="l"/>
              </a:tabLst>
            </a:pPr>
            <a:r>
              <a:rPr dirty="0" sz="1350" spc="-35">
                <a:solidFill>
                  <a:srgbClr val="8E6E3D"/>
                </a:solidFill>
                <a:latin typeface="Courier New"/>
                <a:cs typeface="Courier New"/>
              </a:rPr>
              <a:t>var</a:t>
            </a:r>
            <a:r>
              <a:rPr dirty="0" sz="1350" spc="-160">
                <a:solidFill>
                  <a:srgbClr val="8E6E3D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6E663D"/>
                </a:solidFill>
                <a:latin typeface="Courier New"/>
                <a:cs typeface="Courier New"/>
              </a:rPr>
              <a:t>transcriptionResponse</a:t>
            </a:r>
            <a:r>
              <a:rPr dirty="0" sz="1350">
                <a:solidFill>
                  <a:srgbClr val="6E663D"/>
                </a:solidFill>
                <a:latin typeface="Courier New"/>
                <a:cs typeface="Courier New"/>
              </a:rPr>
              <a:t>	</a:t>
            </a:r>
            <a:r>
              <a:rPr dirty="0" sz="1350" spc="-70">
                <a:latin typeface="Courier New"/>
                <a:cs typeface="Courier New"/>
              </a:rPr>
              <a:t>transcriptionModel.call(new</a:t>
            </a:r>
            <a:r>
              <a:rPr dirty="0" sz="1350" spc="-40"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AudioTranscriptionPrompt(audiorile,</a:t>
            </a:r>
            <a:endParaRPr sz="1350">
              <a:latin typeface="Courier New"/>
              <a:cs typeface="Courier New"/>
            </a:endParaRPr>
          </a:p>
          <a:p>
            <a:pPr marL="206375">
              <a:lnSpc>
                <a:spcPts val="1450"/>
              </a:lnSpc>
            </a:pPr>
            <a:r>
              <a:rPr dirty="0" sz="1350" spc="-60">
                <a:solidFill>
                  <a:srgbClr val="111111"/>
                </a:solidFill>
                <a:latin typeface="Arial MT"/>
                <a:cs typeface="Arial MT"/>
              </a:rPr>
              <a:t>0penA1Aud1oT</a:t>
            </a:r>
            <a:r>
              <a:rPr dirty="0" sz="135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61616"/>
                </a:solidFill>
                <a:latin typeface="Arial MT"/>
                <a:cs typeface="Arial MT"/>
              </a:rPr>
              <a:t>ransc</a:t>
            </a:r>
            <a:r>
              <a:rPr dirty="0" sz="1350" spc="-1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350" spc="70">
                <a:solidFill>
                  <a:srgbClr val="1A1A1A"/>
                </a:solidFill>
                <a:latin typeface="Arial MT"/>
                <a:cs typeface="Arial MT"/>
              </a:rPr>
              <a:t>r1pt</a:t>
            </a:r>
            <a:r>
              <a:rPr dirty="0" sz="1350" spc="70">
                <a:latin typeface="Arial MT"/>
                <a:cs typeface="Arial MT"/>
              </a:rPr>
              <a:t>1on0pt</a:t>
            </a:r>
            <a:r>
              <a:rPr dirty="0" sz="1350" spc="70">
                <a:solidFill>
                  <a:srgbClr val="0E0E0E"/>
                </a:solidFill>
                <a:latin typeface="Arial MT"/>
                <a:cs typeface="Arial MT"/>
              </a:rPr>
              <a:t>1ons</a:t>
            </a:r>
            <a:r>
              <a:rPr dirty="0" sz="1350" spc="-5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82828"/>
                </a:solidFill>
                <a:latin typeface="Arial MT"/>
                <a:cs typeface="Arial MT"/>
              </a:rPr>
              <a:t>.</a:t>
            </a:r>
            <a:r>
              <a:rPr dirty="0" sz="1350" spc="-17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350" spc="85">
                <a:solidFill>
                  <a:srgbClr val="0F0F0F"/>
                </a:solidFill>
                <a:latin typeface="Arial MT"/>
                <a:cs typeface="Arial MT"/>
              </a:rPr>
              <a:t>bu1</a:t>
            </a:r>
            <a:r>
              <a:rPr dirty="0" sz="1350" spc="85">
                <a:solidFill>
                  <a:srgbClr val="0A0A0A"/>
                </a:solidFill>
                <a:latin typeface="Arial MT"/>
                <a:cs typeface="Arial MT"/>
              </a:rPr>
              <a:t>lder</a:t>
            </a:r>
            <a:r>
              <a:rPr dirty="0" sz="135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350" spc="-65">
                <a:solidFill>
                  <a:srgbClr val="181818"/>
                </a:solidFill>
                <a:latin typeface="Arial MT"/>
                <a:cs typeface="Arial MT"/>
              </a:rPr>
              <a:t>(</a:t>
            </a:r>
            <a:r>
              <a:rPr dirty="0" sz="1350" spc="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350" spc="-50">
                <a:solidFill>
                  <a:srgbClr val="262626"/>
                </a:solidFill>
                <a:latin typeface="Arial MT"/>
                <a:cs typeface="Arial MT"/>
              </a:rPr>
              <a:t>)</a:t>
            </a:r>
            <a:endParaRPr sz="1350">
              <a:latin typeface="Arial MT"/>
              <a:cs typeface="Arial MT"/>
            </a:endParaRPr>
          </a:p>
          <a:p>
            <a:pPr marL="417195">
              <a:lnSpc>
                <a:spcPts val="1555"/>
              </a:lnSpc>
            </a:pPr>
            <a:r>
              <a:rPr dirty="0" sz="1350" spc="10">
                <a:solidFill>
                  <a:srgbClr val="1D1D1D"/>
                </a:solidFill>
                <a:latin typeface="Arial MT"/>
                <a:cs typeface="Arial MT"/>
              </a:rPr>
              <a:t>.</a:t>
            </a:r>
            <a:r>
              <a:rPr dirty="0" sz="1350" spc="-8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350" spc="10">
                <a:latin typeface="Arial MT"/>
                <a:cs typeface="Arial MT"/>
              </a:rPr>
              <a:t>language(</a:t>
            </a:r>
            <a:r>
              <a:rPr dirty="0" sz="1350" spc="125">
                <a:latin typeface="Arial MT"/>
                <a:cs typeface="Arial MT"/>
              </a:rPr>
              <a:t> </a:t>
            </a:r>
            <a:r>
              <a:rPr dirty="0" sz="1350" spc="60">
                <a:solidFill>
                  <a:srgbClr val="708970"/>
                </a:solidFill>
                <a:latin typeface="Arial MT"/>
                <a:cs typeface="Arial MT"/>
              </a:rPr>
              <a:t>"en"</a:t>
            </a:r>
            <a:r>
              <a:rPr dirty="0" sz="1350" spc="85">
                <a:solidFill>
                  <a:srgbClr val="708970"/>
                </a:solidFill>
                <a:latin typeface="Arial MT"/>
                <a:cs typeface="Arial MT"/>
              </a:rPr>
              <a:t> </a:t>
            </a:r>
            <a:r>
              <a:rPr dirty="0" sz="1350" spc="-50">
                <a:solidFill>
                  <a:srgbClr val="1F1F1F"/>
                </a:solidFill>
                <a:latin typeface="Arial MT"/>
                <a:cs typeface="Arial MT"/>
              </a:rPr>
              <a:t>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85117" y="2733463"/>
            <a:ext cx="5994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0">
                <a:solidFill>
                  <a:srgbClr val="212121"/>
                </a:solidFill>
                <a:latin typeface="Courier New"/>
                <a:cs typeface="Courier New"/>
              </a:rPr>
              <a:t>bag.”)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94755" y="2733463"/>
            <a:ext cx="6891020" cy="597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05"/>
              </a:lnSpc>
              <a:spcBef>
                <a:spcPts val="100"/>
              </a:spcBef>
            </a:pPr>
            <a:r>
              <a:rPr dirty="0" sz="1350" spc="-70">
                <a:latin typeface="Courier New"/>
                <a:cs typeface="Courier New"/>
              </a:rPr>
              <a:t>.prompt(”Transcribe</a:t>
            </a:r>
            <a:r>
              <a:rPr dirty="0" sz="1350" spc="-135"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547E56"/>
                </a:solidFill>
                <a:latin typeface="Courier New"/>
                <a:cs typeface="Courier New"/>
              </a:rPr>
              <a:t>the</a:t>
            </a:r>
            <a:r>
              <a:rPr dirty="0" sz="1350" spc="-155">
                <a:solidFill>
                  <a:srgbClr val="547E56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858585"/>
                </a:solidFill>
                <a:latin typeface="Courier New"/>
                <a:cs typeface="Courier New"/>
              </a:rPr>
              <a:t>audio</a:t>
            </a:r>
            <a:r>
              <a:rPr dirty="0" sz="1350" spc="-130">
                <a:solidFill>
                  <a:srgbClr val="858585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548C52"/>
                </a:solidFill>
                <a:latin typeface="Courier New"/>
                <a:cs typeface="Courier New"/>
              </a:rPr>
              <a:t>file</a:t>
            </a:r>
            <a:r>
              <a:rPr dirty="0" sz="1350" spc="-160">
                <a:solidFill>
                  <a:srgbClr val="548C52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679072"/>
                </a:solidFill>
                <a:latin typeface="Courier New"/>
                <a:cs typeface="Courier New"/>
              </a:rPr>
              <a:t>about</a:t>
            </a:r>
            <a:r>
              <a:rPr dirty="0" sz="1350" spc="-150">
                <a:solidFill>
                  <a:srgbClr val="679072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758970"/>
                </a:solidFill>
                <a:latin typeface="Courier New"/>
                <a:cs typeface="Courier New"/>
              </a:rPr>
              <a:t>Philipp</a:t>
            </a:r>
            <a:r>
              <a:rPr dirty="0" sz="1350" spc="-140">
                <a:solidFill>
                  <a:srgbClr val="758970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6B9370"/>
                </a:solidFill>
                <a:latin typeface="Courier New"/>
                <a:cs typeface="Courier New"/>
              </a:rPr>
              <a:t>Maloney</a:t>
            </a:r>
            <a:r>
              <a:rPr dirty="0" sz="1350" spc="-55">
                <a:solidFill>
                  <a:srgbClr val="6B9370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75A377"/>
                </a:solidFill>
                <a:latin typeface="Courier New"/>
                <a:cs typeface="Courier New"/>
              </a:rPr>
              <a:t>and</a:t>
            </a:r>
            <a:r>
              <a:rPr dirty="0" sz="1350" spc="-65">
                <a:solidFill>
                  <a:srgbClr val="75A377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697C69"/>
                </a:solidFill>
                <a:latin typeface="Courier New"/>
                <a:cs typeface="Courier New"/>
              </a:rPr>
              <a:t>the</a:t>
            </a:r>
            <a:r>
              <a:rPr dirty="0" sz="1350" spc="-120">
                <a:solidFill>
                  <a:srgbClr val="697C69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679C6B"/>
                </a:solidFill>
                <a:latin typeface="Courier New"/>
                <a:cs typeface="Courier New"/>
              </a:rPr>
              <a:t>missing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440"/>
              </a:lnSpc>
            </a:pPr>
            <a:r>
              <a:rPr dirty="0" sz="1350" spc="-10">
                <a:latin typeface="Courier New"/>
                <a:cs typeface="Courier New"/>
              </a:rPr>
              <a:t>.temperature(0f)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55"/>
              </a:lnSpc>
            </a:pPr>
            <a:r>
              <a:rPr dirty="0" sz="1350" spc="-55">
                <a:latin typeface="Courier New"/>
                <a:cs typeface="Courier New"/>
              </a:rPr>
              <a:t>.responseFormat(0penAiAudioApi.TranscriptResponseFormat.VTT)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9649" y="3282239"/>
            <a:ext cx="8758555" cy="2289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7670">
              <a:lnSpc>
                <a:spcPts val="1480"/>
              </a:lnSpc>
              <a:spcBef>
                <a:spcPts val="100"/>
              </a:spcBef>
            </a:pPr>
            <a:r>
              <a:rPr dirty="0" sz="1350" spc="-10">
                <a:solidFill>
                  <a:srgbClr val="161616"/>
                </a:solidFill>
                <a:latin typeface="Courier New"/>
                <a:cs typeface="Courier New"/>
              </a:rPr>
              <a:t>.build()));</a:t>
            </a:r>
            <a:endParaRPr sz="1350">
              <a:latin typeface="Courier New"/>
              <a:cs typeface="Courier New"/>
            </a:endParaRPr>
          </a:p>
          <a:p>
            <a:pPr marL="28575">
              <a:lnSpc>
                <a:spcPts val="1600"/>
              </a:lnSpc>
            </a:pPr>
            <a:r>
              <a:rPr dirty="0" sz="1450" spc="-145">
                <a:solidFill>
                  <a:srgbClr val="664860"/>
                </a:solidFill>
                <a:latin typeface="Courier New"/>
                <a:cs typeface="Courier New"/>
              </a:rPr>
              <a:t>return</a:t>
            </a:r>
            <a:r>
              <a:rPr dirty="0" sz="1450" spc="-55">
                <a:solidFill>
                  <a:srgbClr val="664860"/>
                </a:solidFill>
                <a:latin typeface="Courier New"/>
                <a:cs typeface="Courier New"/>
              </a:rPr>
              <a:t> </a:t>
            </a:r>
            <a:r>
              <a:rPr dirty="0" sz="1450" spc="-120">
                <a:latin typeface="Courier New"/>
                <a:cs typeface="Courier New"/>
              </a:rPr>
              <a:t>transcriptionResponse.getResu1t().getoutput();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50">
              <a:latin typeface="Courier New"/>
              <a:cs typeface="Courier New"/>
            </a:endParaRPr>
          </a:p>
          <a:p>
            <a:pPr marL="12700" marR="2152650" indent="4445">
              <a:lnSpc>
                <a:spcPct val="87700"/>
              </a:lnSpc>
            </a:pPr>
            <a:r>
              <a:rPr dirty="0" sz="1250" spc="-35">
                <a:solidFill>
                  <a:srgbClr val="0F0F0F"/>
                </a:solidFill>
                <a:latin typeface="Courier New"/>
                <a:cs typeface="Courier New"/>
              </a:rPr>
              <a:t>HEBVTT</a:t>
            </a:r>
            <a:r>
              <a:rPr dirty="0" sz="1250" spc="-16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250" spc="-40">
                <a:latin typeface="Courier New"/>
                <a:cs typeface="Courier New"/>
              </a:rPr>
              <a:t>00:00:01.000</a:t>
            </a:r>
            <a:r>
              <a:rPr dirty="0" sz="1250" spc="-145">
                <a:latin typeface="Courier New"/>
                <a:cs typeface="Courier New"/>
              </a:rPr>
              <a:t> </a:t>
            </a:r>
            <a:r>
              <a:rPr dirty="0" sz="1250" spc="-110">
                <a:solidFill>
                  <a:srgbClr val="131313"/>
                </a:solidFill>
                <a:latin typeface="Courier New"/>
                <a:cs typeface="Courier New"/>
              </a:rPr>
              <a:t>--</a:t>
            </a:r>
            <a:r>
              <a:rPr dirty="0" sz="1250">
                <a:solidFill>
                  <a:srgbClr val="131313"/>
                </a:solidFill>
                <a:latin typeface="Courier New"/>
                <a:cs typeface="Courier New"/>
              </a:rPr>
              <a:t>&gt;</a:t>
            </a:r>
            <a:r>
              <a:rPr dirty="0" sz="1250" spc="-19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250" spc="-40">
                <a:latin typeface="Courier New"/>
                <a:cs typeface="Courier New"/>
              </a:rPr>
              <a:t>00:00:04.000</a:t>
            </a:r>
            <a:r>
              <a:rPr dirty="0" sz="1250" spc="-145">
                <a:latin typeface="Courier New"/>
                <a:cs typeface="Courier New"/>
              </a:rPr>
              <a:t> </a:t>
            </a:r>
            <a:r>
              <a:rPr dirty="0" sz="1250" spc="-30">
                <a:solidFill>
                  <a:srgbClr val="161616"/>
                </a:solidFill>
                <a:latin typeface="Courier New"/>
                <a:cs typeface="Courier New"/>
              </a:rPr>
              <a:t>Philipp</a:t>
            </a:r>
            <a:r>
              <a:rPr dirty="0" sz="1250" spc="-80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250" spc="-45">
                <a:latin typeface="Courier New"/>
                <a:cs typeface="Courier New"/>
              </a:rPr>
              <a:t>Maloney's</a:t>
            </a:r>
            <a:r>
              <a:rPr dirty="0" sz="1250" spc="-95">
                <a:latin typeface="Courier New"/>
                <a:cs typeface="Courier New"/>
              </a:rPr>
              <a:t> </a:t>
            </a:r>
            <a:r>
              <a:rPr dirty="0" sz="1250" spc="-80">
                <a:latin typeface="Courier New"/>
                <a:cs typeface="Courier New"/>
              </a:rPr>
              <a:t>hair-</a:t>
            </a:r>
            <a:r>
              <a:rPr dirty="0" sz="1250" spc="-40">
                <a:latin typeface="Courier New"/>
                <a:cs typeface="Courier New"/>
              </a:rPr>
              <a:t>raising</a:t>
            </a:r>
            <a:r>
              <a:rPr dirty="0" sz="1250">
                <a:latin typeface="Courier New"/>
                <a:cs typeface="Courier New"/>
              </a:rPr>
              <a:t> </a:t>
            </a:r>
            <a:r>
              <a:rPr dirty="0" sz="1250" spc="-10">
                <a:latin typeface="Courier New"/>
                <a:cs typeface="Courier New"/>
              </a:rPr>
              <a:t>cases </a:t>
            </a:r>
            <a:r>
              <a:rPr dirty="0" sz="1350" spc="-105">
                <a:latin typeface="Courier New"/>
                <a:cs typeface="Courier New"/>
              </a:rPr>
              <a:t>00:00:05.000</a:t>
            </a:r>
            <a:r>
              <a:rPr dirty="0" sz="1350" spc="-100">
                <a:latin typeface="Courier New"/>
                <a:cs typeface="Courier New"/>
              </a:rPr>
              <a:t> </a:t>
            </a:r>
            <a:r>
              <a:rPr dirty="0" sz="1350" spc="-150">
                <a:latin typeface="Courier New"/>
                <a:cs typeface="Courier New"/>
              </a:rPr>
              <a:t>--</a:t>
            </a:r>
            <a:r>
              <a:rPr dirty="0" sz="1350" spc="-145">
                <a:latin typeface="Courier New"/>
                <a:cs typeface="Courier New"/>
              </a:rPr>
              <a:t>&gt; </a:t>
            </a:r>
            <a:r>
              <a:rPr dirty="0" sz="1350" spc="-114">
                <a:latin typeface="Courier New"/>
                <a:cs typeface="Courier New"/>
              </a:rPr>
              <a:t>00:00:08.000</a:t>
            </a:r>
            <a:r>
              <a:rPr dirty="0" sz="1350" spc="-90"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181818"/>
                </a:solidFill>
                <a:latin typeface="Courier New"/>
                <a:cs typeface="Courier New"/>
              </a:rPr>
              <a:t>The</a:t>
            </a:r>
            <a:r>
              <a:rPr dirty="0" sz="1350" spc="-14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150">
                <a:solidFill>
                  <a:srgbClr val="131313"/>
                </a:solidFill>
                <a:latin typeface="Courier New"/>
                <a:cs typeface="Courier New"/>
              </a:rPr>
              <a:t>hair-</a:t>
            </a:r>
            <a:r>
              <a:rPr dirty="0" sz="1350" spc="-114">
                <a:solidFill>
                  <a:srgbClr val="131313"/>
                </a:solidFill>
                <a:latin typeface="Courier New"/>
                <a:cs typeface="Courier New"/>
              </a:rPr>
              <a:t>raising</a:t>
            </a:r>
            <a:r>
              <a:rPr dirty="0" sz="1350" spc="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110">
                <a:solidFill>
                  <a:srgbClr val="131313"/>
                </a:solidFill>
                <a:latin typeface="Courier New"/>
                <a:cs typeface="Courier New"/>
              </a:rPr>
              <a:t>cases</a:t>
            </a:r>
            <a:r>
              <a:rPr dirty="0" sz="1350" spc="-9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114">
                <a:solidFill>
                  <a:srgbClr val="161616"/>
                </a:solidFill>
                <a:latin typeface="Courier New"/>
                <a:cs typeface="Courier New"/>
              </a:rPr>
              <a:t>of</a:t>
            </a:r>
            <a:r>
              <a:rPr dirty="0" sz="1350" spc="-8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114">
                <a:latin typeface="Courier New"/>
                <a:cs typeface="Courier New"/>
              </a:rPr>
              <a:t>Philipp</a:t>
            </a:r>
            <a:r>
              <a:rPr dirty="0" sz="1350" spc="-40"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51515"/>
                </a:solidFill>
                <a:latin typeface="Courier New"/>
                <a:cs typeface="Courier New"/>
              </a:rPr>
              <a:t>Mahoney. </a:t>
            </a:r>
            <a:r>
              <a:rPr dirty="0" sz="1250" spc="-40">
                <a:latin typeface="Courier New"/>
                <a:cs typeface="Courier New"/>
              </a:rPr>
              <a:t>00:00:09.000</a:t>
            </a:r>
            <a:r>
              <a:rPr dirty="0" sz="1250" spc="-125">
                <a:latin typeface="Courier New"/>
                <a:cs typeface="Courier New"/>
              </a:rPr>
              <a:t> </a:t>
            </a:r>
            <a:r>
              <a:rPr dirty="0" sz="1250" spc="-95">
                <a:solidFill>
                  <a:srgbClr val="0F0F0F"/>
                </a:solidFill>
                <a:latin typeface="Courier New"/>
                <a:cs typeface="Courier New"/>
              </a:rPr>
              <a:t>--</a:t>
            </a:r>
            <a:r>
              <a:rPr dirty="0" sz="1250">
                <a:solidFill>
                  <a:srgbClr val="0F0F0F"/>
                </a:solidFill>
                <a:latin typeface="Courier New"/>
                <a:cs typeface="Courier New"/>
              </a:rPr>
              <a:t>&gt;</a:t>
            </a:r>
            <a:r>
              <a:rPr dirty="0" sz="1250" spc="-19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250" spc="-50">
                <a:latin typeface="Courier New"/>
                <a:cs typeface="Courier New"/>
              </a:rPr>
              <a:t>00:00:11.000</a:t>
            </a:r>
            <a:r>
              <a:rPr dirty="0" sz="1250" spc="-135">
                <a:latin typeface="Courier New"/>
                <a:cs typeface="Courier New"/>
              </a:rPr>
              <a:t> </a:t>
            </a:r>
            <a:r>
              <a:rPr dirty="0" sz="1250" spc="-10">
                <a:latin typeface="Courier New"/>
                <a:cs typeface="Courier New"/>
              </a:rPr>
              <a:t>Today,</a:t>
            </a:r>
            <a:r>
              <a:rPr dirty="0" sz="1250" spc="-85">
                <a:latin typeface="Courier New"/>
                <a:cs typeface="Courier New"/>
              </a:rPr>
              <a:t> </a:t>
            </a:r>
            <a:r>
              <a:rPr dirty="0" sz="1250" spc="-20">
                <a:solidFill>
                  <a:srgbClr val="0A0A0A"/>
                </a:solidFill>
                <a:latin typeface="Courier New"/>
                <a:cs typeface="Courier New"/>
              </a:rPr>
              <a:t>the</a:t>
            </a:r>
            <a:r>
              <a:rPr dirty="0" sz="1250" spc="-16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250" spc="-40">
                <a:latin typeface="Courier New"/>
                <a:cs typeface="Courier New"/>
              </a:rPr>
              <a:t>missing</a:t>
            </a:r>
            <a:r>
              <a:rPr dirty="0" sz="1250">
                <a:latin typeface="Courier New"/>
                <a:cs typeface="Courier New"/>
              </a:rPr>
              <a:t> </a:t>
            </a:r>
            <a:r>
              <a:rPr dirty="0" sz="1250" spc="-20">
                <a:solidFill>
                  <a:srgbClr val="131313"/>
                </a:solidFill>
                <a:latin typeface="Courier New"/>
                <a:cs typeface="Courier New"/>
              </a:rPr>
              <a:t>bag.</a:t>
            </a:r>
            <a:endParaRPr sz="125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dirty="0" sz="1350" spc="-105">
                <a:solidFill>
                  <a:srgbClr val="111111"/>
                </a:solidFill>
                <a:latin typeface="Courier New"/>
                <a:cs typeface="Courier New"/>
              </a:rPr>
              <a:t>00:00:24.000</a:t>
            </a:r>
            <a:r>
              <a:rPr dirty="0" sz="1350" spc="-10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150">
                <a:solidFill>
                  <a:srgbClr val="181818"/>
                </a:solidFill>
                <a:latin typeface="Courier New"/>
                <a:cs typeface="Courier New"/>
              </a:rPr>
              <a:t>--</a:t>
            </a:r>
            <a:r>
              <a:rPr dirty="0" sz="1350" spc="-145">
                <a:solidFill>
                  <a:srgbClr val="181818"/>
                </a:solidFill>
                <a:latin typeface="Courier New"/>
                <a:cs typeface="Courier New"/>
              </a:rPr>
              <a:t>&gt; </a:t>
            </a:r>
            <a:r>
              <a:rPr dirty="0" sz="1350" spc="-114">
                <a:solidFill>
                  <a:srgbClr val="0E0E0E"/>
                </a:solidFill>
                <a:latin typeface="Courier New"/>
                <a:cs typeface="Courier New"/>
              </a:rPr>
              <a:t>00:00:28.000</a:t>
            </a:r>
            <a:r>
              <a:rPr dirty="0" sz="1350" spc="-9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1C1C1C"/>
                </a:solidFill>
                <a:latin typeface="Courier New"/>
                <a:cs typeface="Courier New"/>
              </a:rPr>
              <a:t>The</a:t>
            </a:r>
            <a:r>
              <a:rPr dirty="0" sz="1350" spc="-140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150">
                <a:solidFill>
                  <a:srgbClr val="1A1A1A"/>
                </a:solidFill>
                <a:latin typeface="Courier New"/>
                <a:cs typeface="Courier New"/>
              </a:rPr>
              <a:t>man</a:t>
            </a:r>
            <a:r>
              <a:rPr dirty="0" sz="1350" spc="-9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0C0C0C"/>
                </a:solidFill>
                <a:latin typeface="Courier New"/>
                <a:cs typeface="Courier New"/>
              </a:rPr>
              <a:t>sounded</a:t>
            </a:r>
            <a:r>
              <a:rPr dirty="0" sz="1350" spc="-8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0E0E0E"/>
                </a:solidFill>
                <a:latin typeface="Courier New"/>
                <a:cs typeface="Courier New"/>
              </a:rPr>
              <a:t>confused</a:t>
            </a:r>
            <a:r>
              <a:rPr dirty="0" sz="1350" spc="1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 spc="-120">
                <a:solidFill>
                  <a:srgbClr val="1A1A1A"/>
                </a:solidFill>
                <a:latin typeface="Courier New"/>
                <a:cs typeface="Courier New"/>
              </a:rPr>
              <a:t>and</a:t>
            </a:r>
            <a:r>
              <a:rPr dirty="0" sz="1350" spc="-5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125">
                <a:latin typeface="Courier New"/>
                <a:cs typeface="Courier New"/>
              </a:rPr>
              <a:t>excited</a:t>
            </a:r>
            <a:r>
              <a:rPr dirty="0" sz="1350" spc="5">
                <a:latin typeface="Courier New"/>
                <a:cs typeface="Courier New"/>
              </a:rPr>
              <a:t> </a:t>
            </a:r>
            <a:r>
              <a:rPr dirty="0" sz="1350" spc="-95">
                <a:solidFill>
                  <a:srgbClr val="161616"/>
                </a:solidFill>
                <a:latin typeface="Courier New"/>
                <a:cs typeface="Courier New"/>
              </a:rPr>
              <a:t>at </a:t>
            </a:r>
            <a:r>
              <a:rPr dirty="0" sz="1350" spc="-130">
                <a:solidFill>
                  <a:srgbClr val="1D1D1D"/>
                </a:solidFill>
                <a:latin typeface="Courier New"/>
                <a:cs typeface="Courier New"/>
              </a:rPr>
              <a:t>the</a:t>
            </a:r>
            <a:r>
              <a:rPr dirty="0" sz="1350" spc="-11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 sz="1350" spc="-110">
                <a:solidFill>
                  <a:srgbClr val="131313"/>
                </a:solidFill>
                <a:latin typeface="Courier New"/>
                <a:cs typeface="Courier New"/>
              </a:rPr>
              <a:t>same</a:t>
            </a:r>
            <a:r>
              <a:rPr dirty="0" sz="1350" spc="-9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140">
                <a:solidFill>
                  <a:srgbClr val="151515"/>
                </a:solidFill>
                <a:latin typeface="Courier New"/>
                <a:cs typeface="Courier New"/>
              </a:rPr>
              <a:t>time</a:t>
            </a:r>
            <a:r>
              <a:rPr dirty="0" sz="1350" spc="-6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50" spc="-95">
                <a:solidFill>
                  <a:srgbClr val="161616"/>
                </a:solidFill>
                <a:latin typeface="Courier New"/>
                <a:cs typeface="Courier New"/>
              </a:rPr>
              <a:t>on</a:t>
            </a:r>
            <a:r>
              <a:rPr dirty="0" sz="1350" spc="-8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95">
                <a:solidFill>
                  <a:srgbClr val="0F0F0F"/>
                </a:solidFill>
                <a:latin typeface="Courier New"/>
                <a:cs typeface="Courier New"/>
              </a:rPr>
              <a:t>the</a:t>
            </a:r>
            <a:r>
              <a:rPr dirty="0" sz="1350" spc="-7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51515"/>
                </a:solidFill>
                <a:latin typeface="Courier New"/>
                <a:cs typeface="Courier New"/>
              </a:rPr>
              <a:t>phone.</a:t>
            </a:r>
            <a:endParaRPr sz="1350">
              <a:latin typeface="Courier New"/>
              <a:cs typeface="Courier New"/>
            </a:endParaRPr>
          </a:p>
          <a:p>
            <a:pPr marL="13970">
              <a:lnSpc>
                <a:spcPts val="1335"/>
              </a:lnSpc>
            </a:pPr>
            <a:r>
              <a:rPr dirty="0" sz="1250" spc="-40">
                <a:latin typeface="Courier New"/>
                <a:cs typeface="Courier New"/>
              </a:rPr>
              <a:t>00:00:28.000</a:t>
            </a:r>
            <a:r>
              <a:rPr dirty="0" sz="1250" spc="-90">
                <a:latin typeface="Courier New"/>
                <a:cs typeface="Courier New"/>
              </a:rPr>
              <a:t> </a:t>
            </a:r>
            <a:r>
              <a:rPr dirty="0" sz="1250" spc="-95">
                <a:latin typeface="Courier New"/>
                <a:cs typeface="Courier New"/>
              </a:rPr>
              <a:t>--</a:t>
            </a:r>
            <a:r>
              <a:rPr dirty="0" sz="1250">
                <a:latin typeface="Courier New"/>
                <a:cs typeface="Courier New"/>
              </a:rPr>
              <a:t>&gt;</a:t>
            </a:r>
            <a:r>
              <a:rPr dirty="0" sz="1250" spc="-190">
                <a:latin typeface="Courier New"/>
                <a:cs typeface="Courier New"/>
              </a:rPr>
              <a:t> </a:t>
            </a:r>
            <a:r>
              <a:rPr dirty="0" sz="1250" spc="-40">
                <a:solidFill>
                  <a:srgbClr val="0E0E0E"/>
                </a:solidFill>
                <a:latin typeface="Courier New"/>
                <a:cs typeface="Courier New"/>
              </a:rPr>
              <a:t>00:00:33.000 </a:t>
            </a:r>
            <a:r>
              <a:rPr dirty="0" sz="1250" spc="-20">
                <a:latin typeface="Courier New"/>
                <a:cs typeface="Courier New"/>
              </a:rPr>
              <a:t>His</a:t>
            </a:r>
            <a:r>
              <a:rPr dirty="0" sz="1250" spc="-130">
                <a:latin typeface="Courier New"/>
                <a:cs typeface="Courier New"/>
              </a:rPr>
              <a:t> </a:t>
            </a:r>
            <a:r>
              <a:rPr dirty="0" sz="1250" spc="-45">
                <a:latin typeface="Courier New"/>
                <a:cs typeface="Courier New"/>
              </a:rPr>
              <a:t>voice</a:t>
            </a:r>
            <a:r>
              <a:rPr dirty="0" sz="1250" spc="-125">
                <a:latin typeface="Courier New"/>
                <a:cs typeface="Courier New"/>
              </a:rPr>
              <a:t> </a:t>
            </a:r>
            <a:r>
              <a:rPr dirty="0" sz="1250" spc="-50">
                <a:solidFill>
                  <a:srgbClr val="0E0E0E"/>
                </a:solidFill>
                <a:latin typeface="Courier New"/>
                <a:cs typeface="Courier New"/>
              </a:rPr>
              <a:t>sounded</a:t>
            </a:r>
            <a:r>
              <a:rPr dirty="0" sz="1250" spc="-8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250" spc="-35">
                <a:solidFill>
                  <a:srgbClr val="151515"/>
                </a:solidFill>
                <a:latin typeface="Courier New"/>
                <a:cs typeface="Courier New"/>
              </a:rPr>
              <a:t>familiar,</a:t>
            </a:r>
            <a:r>
              <a:rPr dirty="0" sz="1250" spc="4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250" spc="-65">
                <a:solidFill>
                  <a:srgbClr val="1A1A1A"/>
                </a:solidFill>
                <a:latin typeface="Courier New"/>
                <a:cs typeface="Courier New"/>
              </a:rPr>
              <a:t>but</a:t>
            </a:r>
            <a:r>
              <a:rPr dirty="0" sz="1250" spc="-12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3A3A3A"/>
                </a:solidFill>
                <a:latin typeface="Courier New"/>
                <a:cs typeface="Courier New"/>
              </a:rPr>
              <a:t>I</a:t>
            </a:r>
            <a:r>
              <a:rPr dirty="0" sz="1250" spc="-185">
                <a:solidFill>
                  <a:srgbClr val="3A3A3A"/>
                </a:solidFill>
                <a:latin typeface="Courier New"/>
                <a:cs typeface="Courier New"/>
              </a:rPr>
              <a:t> </a:t>
            </a:r>
            <a:r>
              <a:rPr dirty="0" sz="1250" spc="-50">
                <a:latin typeface="Courier New"/>
                <a:cs typeface="Courier New"/>
              </a:rPr>
              <a:t>couldn't</a:t>
            </a:r>
            <a:r>
              <a:rPr dirty="0" sz="1250" spc="-90">
                <a:latin typeface="Courier New"/>
                <a:cs typeface="Courier New"/>
              </a:rPr>
              <a:t> </a:t>
            </a:r>
            <a:r>
              <a:rPr dirty="0" sz="1250" spc="-45">
                <a:latin typeface="Courier New"/>
                <a:cs typeface="Courier New"/>
              </a:rPr>
              <a:t>classify</a:t>
            </a:r>
            <a:r>
              <a:rPr dirty="0" sz="1250" spc="-145">
                <a:latin typeface="Courier New"/>
                <a:cs typeface="Courier New"/>
              </a:rPr>
              <a:t> </a:t>
            </a:r>
            <a:r>
              <a:rPr dirty="0" sz="1250" spc="-25">
                <a:solidFill>
                  <a:srgbClr val="151515"/>
                </a:solidFill>
                <a:latin typeface="Courier New"/>
                <a:cs typeface="Courier New"/>
              </a:rPr>
              <a:t>it.</a:t>
            </a:r>
            <a:endParaRPr sz="1250">
              <a:latin typeface="Courier New"/>
              <a:cs typeface="Courier New"/>
            </a:endParaRPr>
          </a:p>
          <a:p>
            <a:pPr marL="13335" marR="2433320">
              <a:lnSpc>
                <a:spcPts val="1300"/>
              </a:lnSpc>
              <a:spcBef>
                <a:spcPts val="204"/>
              </a:spcBef>
            </a:pPr>
            <a:r>
              <a:rPr dirty="0" sz="1300" spc="-60">
                <a:latin typeface="Courier New"/>
                <a:cs typeface="Courier New"/>
              </a:rPr>
              <a:t>00:00:33.000</a:t>
            </a:r>
            <a:r>
              <a:rPr dirty="0" sz="1300" spc="-135">
                <a:latin typeface="Courier New"/>
                <a:cs typeface="Courier New"/>
              </a:rPr>
              <a:t> </a:t>
            </a:r>
            <a:r>
              <a:rPr dirty="0" sz="1300" spc="-114">
                <a:latin typeface="Courier New"/>
                <a:cs typeface="Courier New"/>
              </a:rPr>
              <a:t>--</a:t>
            </a:r>
            <a:r>
              <a:rPr dirty="0" sz="1300" spc="-110">
                <a:latin typeface="Courier New"/>
                <a:cs typeface="Courier New"/>
              </a:rPr>
              <a:t>&gt; </a:t>
            </a:r>
            <a:r>
              <a:rPr dirty="0" sz="1300" spc="-75">
                <a:latin typeface="Courier New"/>
                <a:cs typeface="Courier New"/>
              </a:rPr>
              <a:t>00:00:36.000</a:t>
            </a:r>
            <a:r>
              <a:rPr dirty="0" sz="1300" spc="-120">
                <a:latin typeface="Courier New"/>
                <a:cs typeface="Courier New"/>
              </a:rPr>
              <a:t> </a:t>
            </a:r>
            <a:r>
              <a:rPr dirty="0" sz="1300" spc="-45">
                <a:solidFill>
                  <a:srgbClr val="0E0E0E"/>
                </a:solidFill>
                <a:latin typeface="Courier New"/>
                <a:cs typeface="Courier New"/>
              </a:rPr>
              <a:t>0nIy</a:t>
            </a:r>
            <a:r>
              <a:rPr dirty="0" sz="1300" spc="-14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00" spc="-65">
                <a:latin typeface="Courier New"/>
                <a:cs typeface="Courier New"/>
              </a:rPr>
              <a:t>when</a:t>
            </a:r>
            <a:r>
              <a:rPr dirty="0" sz="1300" spc="-110"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1A1A1A"/>
                </a:solidFill>
                <a:latin typeface="Courier New"/>
                <a:cs typeface="Courier New"/>
              </a:rPr>
              <a:t>I</a:t>
            </a:r>
            <a:r>
              <a:rPr dirty="0" sz="1300" spc="-19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1F1F1F"/>
                </a:solidFill>
                <a:latin typeface="Courier New"/>
                <a:cs typeface="Courier New"/>
              </a:rPr>
              <a:t>saw</a:t>
            </a:r>
            <a:r>
              <a:rPr dirty="0" sz="1300" spc="-9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300" spc="-65">
                <a:solidFill>
                  <a:srgbClr val="181818"/>
                </a:solidFill>
                <a:latin typeface="Courier New"/>
                <a:cs typeface="Courier New"/>
              </a:rPr>
              <a:t>him</a:t>
            </a:r>
            <a:r>
              <a:rPr dirty="0" sz="1300" spc="-3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00" spc="-90">
                <a:solidFill>
                  <a:srgbClr val="111111"/>
                </a:solidFill>
                <a:latin typeface="Courier New"/>
                <a:cs typeface="Courier New"/>
              </a:rPr>
              <a:t>did</a:t>
            </a:r>
            <a:r>
              <a:rPr dirty="0" sz="1300" spc="-7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161616"/>
                </a:solidFill>
                <a:latin typeface="Courier New"/>
                <a:cs typeface="Courier New"/>
              </a:rPr>
              <a:t>I</a:t>
            </a:r>
            <a:r>
              <a:rPr dirty="0" sz="1300" spc="-16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00" spc="-80">
                <a:solidFill>
                  <a:srgbClr val="111111"/>
                </a:solidFill>
                <a:latin typeface="Courier New"/>
                <a:cs typeface="Courier New"/>
              </a:rPr>
              <a:t>recognize</a:t>
            </a:r>
            <a:r>
              <a:rPr dirty="0" sz="130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solidFill>
                  <a:srgbClr val="1C1C1C"/>
                </a:solidFill>
                <a:latin typeface="Courier New"/>
                <a:cs typeface="Courier New"/>
              </a:rPr>
              <a:t>him. </a:t>
            </a:r>
            <a:r>
              <a:rPr dirty="0" sz="1300" spc="-60">
                <a:solidFill>
                  <a:srgbClr val="0C0C0C"/>
                </a:solidFill>
                <a:latin typeface="Courier New"/>
                <a:cs typeface="Courier New"/>
              </a:rPr>
              <a:t>00:00:36.000</a:t>
            </a:r>
            <a:r>
              <a:rPr dirty="0" sz="1300" spc="-13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00" spc="-114">
                <a:solidFill>
                  <a:srgbClr val="111111"/>
                </a:solidFill>
                <a:latin typeface="Courier New"/>
                <a:cs typeface="Courier New"/>
              </a:rPr>
              <a:t>--</a:t>
            </a:r>
            <a:r>
              <a:rPr dirty="0" sz="1300" spc="-110">
                <a:solidFill>
                  <a:srgbClr val="111111"/>
                </a:solidFill>
                <a:latin typeface="Courier New"/>
                <a:cs typeface="Courier New"/>
              </a:rPr>
              <a:t>&gt; </a:t>
            </a:r>
            <a:r>
              <a:rPr dirty="0" sz="1300" spc="-65">
                <a:solidFill>
                  <a:srgbClr val="0C0C0C"/>
                </a:solidFill>
                <a:latin typeface="Courier New"/>
                <a:cs typeface="Courier New"/>
              </a:rPr>
              <a:t>00:00:40.000</a:t>
            </a:r>
            <a:r>
              <a:rPr dirty="0" sz="1300" spc="-13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00" spc="-50">
                <a:solidFill>
                  <a:srgbClr val="1C1C1C"/>
                </a:solidFill>
                <a:latin typeface="Courier New"/>
                <a:cs typeface="Courier New"/>
              </a:rPr>
              <a:t>And</a:t>
            </a:r>
            <a:r>
              <a:rPr dirty="0" sz="1300" spc="-145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00" spc="-85">
                <a:solidFill>
                  <a:srgbClr val="131313"/>
                </a:solidFill>
                <a:latin typeface="Courier New"/>
                <a:cs typeface="Courier New"/>
              </a:rPr>
              <a:t>then</a:t>
            </a:r>
            <a:r>
              <a:rPr dirty="0" sz="1300" spc="-10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151515"/>
                </a:solidFill>
                <a:latin typeface="Courier New"/>
                <a:cs typeface="Courier New"/>
              </a:rPr>
              <a:t>it</a:t>
            </a:r>
            <a:r>
              <a:rPr dirty="0" sz="1300" spc="-13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00" spc="-65">
                <a:solidFill>
                  <a:srgbClr val="131313"/>
                </a:solidFill>
                <a:latin typeface="Courier New"/>
                <a:cs typeface="Courier New"/>
              </a:rPr>
              <a:t>was</a:t>
            </a:r>
            <a:r>
              <a:rPr dirty="0" sz="1300" spc="-13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00" spc="-45">
                <a:latin typeface="Courier New"/>
                <a:cs typeface="Courier New"/>
              </a:rPr>
              <a:t>too</a:t>
            </a:r>
            <a:r>
              <a:rPr dirty="0" sz="1300" spc="-120">
                <a:latin typeface="Courier New"/>
                <a:cs typeface="Courier New"/>
              </a:rPr>
              <a:t> </a:t>
            </a:r>
            <a:r>
              <a:rPr dirty="0" sz="1300" spc="-65">
                <a:solidFill>
                  <a:srgbClr val="181818"/>
                </a:solidFill>
                <a:latin typeface="Courier New"/>
                <a:cs typeface="Courier New"/>
              </a:rPr>
              <a:t>late</a:t>
            </a:r>
            <a:r>
              <a:rPr dirty="0" sz="1300" spc="-13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131313"/>
                </a:solidFill>
                <a:latin typeface="Courier New"/>
                <a:cs typeface="Courier New"/>
              </a:rPr>
              <a:t>to</a:t>
            </a:r>
            <a:r>
              <a:rPr dirty="0" sz="1300" spc="-9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00" spc="-100">
                <a:solidFill>
                  <a:srgbClr val="0E0E0E"/>
                </a:solidFill>
                <a:latin typeface="Courier New"/>
                <a:cs typeface="Courier New"/>
              </a:rPr>
              <a:t>run</a:t>
            </a:r>
            <a:r>
              <a:rPr dirty="0" sz="1300" spc="-9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solidFill>
                  <a:srgbClr val="0A0A0A"/>
                </a:solidFill>
                <a:latin typeface="Courier New"/>
                <a:cs typeface="Courier New"/>
              </a:rPr>
              <a:t>away.</a:t>
            </a:r>
            <a:endParaRPr sz="1300">
              <a:latin typeface="Courier New"/>
              <a:cs typeface="Courier New"/>
            </a:endParaRPr>
          </a:p>
          <a:p>
            <a:pPr marL="13970">
              <a:lnSpc>
                <a:spcPts val="1330"/>
              </a:lnSpc>
            </a:pPr>
            <a:r>
              <a:rPr dirty="0" sz="1250" spc="-40">
                <a:latin typeface="Courier New"/>
                <a:cs typeface="Courier New"/>
              </a:rPr>
              <a:t>00:00:40.000</a:t>
            </a:r>
            <a:r>
              <a:rPr dirty="0" sz="1250" spc="-130">
                <a:latin typeface="Courier New"/>
                <a:cs typeface="Courier New"/>
              </a:rPr>
              <a:t> </a:t>
            </a:r>
            <a:r>
              <a:rPr dirty="0" sz="1250" spc="-95">
                <a:solidFill>
                  <a:srgbClr val="151515"/>
                </a:solidFill>
                <a:latin typeface="Courier New"/>
                <a:cs typeface="Courier New"/>
              </a:rPr>
              <a:t>--</a:t>
            </a:r>
            <a:r>
              <a:rPr dirty="0" sz="1250">
                <a:solidFill>
                  <a:srgbClr val="151515"/>
                </a:solidFill>
                <a:latin typeface="Courier New"/>
                <a:cs typeface="Courier New"/>
              </a:rPr>
              <a:t>&gt;</a:t>
            </a:r>
            <a:r>
              <a:rPr dirty="0" sz="1250" spc="-19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250" spc="-40">
                <a:latin typeface="Courier New"/>
                <a:cs typeface="Courier New"/>
              </a:rPr>
              <a:t>00:00:42.000</a:t>
            </a:r>
            <a:r>
              <a:rPr dirty="0" sz="1250" spc="-80">
                <a:latin typeface="Courier New"/>
                <a:cs typeface="Courier New"/>
              </a:rPr>
              <a:t> </a:t>
            </a:r>
            <a:r>
              <a:rPr dirty="0" sz="1250" spc="-20">
                <a:solidFill>
                  <a:srgbClr val="151515"/>
                </a:solidFill>
                <a:latin typeface="Courier New"/>
                <a:cs typeface="Courier New"/>
              </a:rPr>
              <a:t>Do</a:t>
            </a:r>
            <a:r>
              <a:rPr dirty="0" sz="1250" spc="-165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131313"/>
                </a:solidFill>
                <a:latin typeface="Courier New"/>
                <a:cs typeface="Courier New"/>
              </a:rPr>
              <a:t>you</a:t>
            </a:r>
            <a:r>
              <a:rPr dirty="0" sz="1250" spc="-13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250" spc="-45">
                <a:solidFill>
                  <a:srgbClr val="131313"/>
                </a:solidFill>
                <a:latin typeface="Courier New"/>
                <a:cs typeface="Courier New"/>
              </a:rPr>
              <a:t>remember</a:t>
            </a:r>
            <a:r>
              <a:rPr dirty="0" sz="1250" spc="-2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250" spc="-25">
                <a:solidFill>
                  <a:srgbClr val="111111"/>
                </a:solidFill>
                <a:latin typeface="Courier New"/>
                <a:cs typeface="Courier New"/>
              </a:rPr>
              <a:t>me?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1" y="4682883"/>
            <a:ext cx="8833104" cy="97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6992" y="4353618"/>
            <a:ext cx="176783" cy="12804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363968" y="4480142"/>
            <a:ext cx="149860" cy="0"/>
          </a:xfrm>
          <a:custGeom>
            <a:avLst/>
            <a:gdLst/>
            <a:ahLst/>
            <a:cxnLst/>
            <a:rect l="l" t="t" r="r" b="b"/>
            <a:pathLst>
              <a:path w="149859" h="0">
                <a:moveTo>
                  <a:pt x="0" y="0"/>
                </a:moveTo>
                <a:lnTo>
                  <a:pt x="149352" y="0"/>
                </a:lnTo>
              </a:path>
            </a:pathLst>
          </a:custGeom>
          <a:ln w="15243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363968" y="4338374"/>
            <a:ext cx="149860" cy="149860"/>
            <a:chOff x="7363968" y="4338374"/>
            <a:chExt cx="149860" cy="149860"/>
          </a:xfrm>
        </p:grpSpPr>
        <p:sp>
          <p:nvSpPr>
            <p:cNvPr id="6" name="object 6" descr=""/>
            <p:cNvSpPr/>
            <p:nvPr/>
          </p:nvSpPr>
          <p:spPr>
            <a:xfrm>
              <a:off x="7363968" y="433837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620"/>
                  </a:moveTo>
                  <a:lnTo>
                    <a:pt x="149352" y="7620"/>
                  </a:lnTo>
                </a:path>
                <a:path w="149859" h="149860">
                  <a:moveTo>
                    <a:pt x="7620" y="149352"/>
                  </a:moveTo>
                  <a:lnTo>
                    <a:pt x="7620" y="0"/>
                  </a:lnTo>
                </a:path>
              </a:pathLst>
            </a:custGeom>
            <a:ln w="15241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05700" y="4338374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w="0" h="149860">
                  <a:moveTo>
                    <a:pt x="0" y="149388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1765" algn="l"/>
              </a:tabLst>
            </a:pPr>
            <a:r>
              <a:rPr dirty="0" sz="3050" spc="90">
                <a:solidFill>
                  <a:srgbClr val="01B1C3"/>
                </a:solidFill>
                <a:latin typeface="Arial MT"/>
                <a:cs typeface="Arial MT"/>
              </a:rPr>
              <a:t>Working</a:t>
            </a:r>
            <a:r>
              <a:rPr dirty="0" sz="3050" spc="229">
                <a:solidFill>
                  <a:srgbClr val="01B1C3"/>
                </a:solidFill>
                <a:latin typeface="Arial MT"/>
                <a:cs typeface="Arial MT"/>
              </a:rPr>
              <a:t> </a:t>
            </a:r>
            <a:r>
              <a:rPr dirty="0" sz="3050" spc="185">
                <a:solidFill>
                  <a:srgbClr val="00ACC4"/>
                </a:solidFill>
                <a:latin typeface="Arial MT"/>
                <a:cs typeface="Arial MT"/>
              </a:rPr>
              <a:t>with</a:t>
            </a:r>
            <a:r>
              <a:rPr dirty="0" sz="3050" spc="85">
                <a:solidFill>
                  <a:srgbClr val="00ACC4"/>
                </a:solidFill>
                <a:latin typeface="Arial MT"/>
                <a:cs typeface="Arial MT"/>
              </a:rPr>
              <a:t> </a:t>
            </a:r>
            <a:r>
              <a:rPr dirty="0" sz="3050" spc="45">
                <a:solidFill>
                  <a:srgbClr val="00B5E9"/>
                </a:solidFill>
                <a:latin typeface="Arial MT"/>
                <a:cs typeface="Arial MT"/>
              </a:rPr>
              <a:t>Audio</a:t>
            </a:r>
            <a:r>
              <a:rPr dirty="0" sz="3050">
                <a:solidFill>
                  <a:srgbClr val="00B5E9"/>
                </a:solidFill>
                <a:latin typeface="Arial MT"/>
                <a:cs typeface="Arial MT"/>
              </a:rPr>
              <a:t>	</a:t>
            </a:r>
            <a:r>
              <a:rPr dirty="0" sz="3050">
                <a:solidFill>
                  <a:srgbClr val="1CA8BA"/>
                </a:solidFill>
                <a:latin typeface="Arial MT"/>
                <a:cs typeface="Arial MT"/>
              </a:rPr>
              <a:t>Speech</a:t>
            </a:r>
            <a:r>
              <a:rPr dirty="0" sz="3050" spc="254">
                <a:solidFill>
                  <a:srgbClr val="1CA8BA"/>
                </a:solidFill>
                <a:latin typeface="Arial MT"/>
                <a:cs typeface="Arial MT"/>
              </a:rPr>
              <a:t> </a:t>
            </a:r>
            <a:r>
              <a:rPr dirty="0" sz="3050" spc="-20">
                <a:solidFill>
                  <a:srgbClr val="00A3D8"/>
                </a:solidFill>
                <a:latin typeface="Arial MT"/>
                <a:cs typeface="Arial MT"/>
              </a:rPr>
              <a:t>Model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10795" y="1503038"/>
            <a:ext cx="88188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ourier New"/>
                <a:cs typeface="Courier New"/>
              </a:rPr>
              <a:t>speechModel.cam(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ew</a:t>
            </a:r>
            <a:r>
              <a:rPr dirty="0" sz="1100" spc="-110">
                <a:latin typeface="Courier New"/>
                <a:cs typeface="Courier New"/>
              </a:rPr>
              <a:t> </a:t>
            </a:r>
            <a:r>
              <a:rPr dirty="0" sz="1100" spc="-65">
                <a:latin typeface="Courier New"/>
                <a:cs typeface="Courier New"/>
              </a:rPr>
              <a:t>Spe‹ichPromg:(resource.getContentAsString(Charset.defau{tCharset()))).getResu{t().getoutput();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16499" y="2161568"/>
            <a:ext cx="330707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8455" algn="l"/>
                <a:tab pos="1697989" algn="l"/>
              </a:tabLst>
            </a:pPr>
            <a:r>
              <a:rPr dirty="0" sz="1100">
                <a:solidFill>
                  <a:srgbClr val="A19154"/>
                </a:solidFill>
                <a:latin typeface="Calibri"/>
                <a:cs typeface="Calibri"/>
              </a:rPr>
              <a:t>va</a:t>
            </a:r>
            <a:r>
              <a:rPr dirty="0" sz="1100" spc="5">
                <a:solidFill>
                  <a:srgbClr val="A19154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705B36"/>
                </a:solidFill>
                <a:latin typeface="Calibri"/>
                <a:cs typeface="Calibri"/>
              </a:rPr>
              <a:t>i</a:t>
            </a:r>
            <a:r>
              <a:rPr dirty="0" sz="1100">
                <a:solidFill>
                  <a:srgbClr val="705B36"/>
                </a:solidFill>
                <a:latin typeface="Calibri"/>
                <a:cs typeface="Calibri"/>
              </a:rPr>
              <a:t>	</a:t>
            </a:r>
            <a:r>
              <a:rPr dirty="0" sz="1100" spc="75">
                <a:solidFill>
                  <a:srgbClr val="95825B"/>
                </a:solidFill>
                <a:latin typeface="Calibri"/>
                <a:cs typeface="Calibri"/>
              </a:rPr>
              <a:t>speec</a:t>
            </a:r>
            <a:r>
              <a:rPr dirty="0" sz="1100" spc="-85">
                <a:solidFill>
                  <a:srgbClr val="95825B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77694F"/>
                </a:solidFill>
                <a:latin typeface="Calibri"/>
                <a:cs typeface="Calibri"/>
              </a:rPr>
              <a:t>lake</a:t>
            </a:r>
            <a:r>
              <a:rPr dirty="0" sz="1100" spc="-100">
                <a:solidFill>
                  <a:srgbClr val="77694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27E3F"/>
                </a:solidFill>
                <a:latin typeface="Calibri"/>
                <a:cs typeface="Calibri"/>
              </a:rPr>
              <a:t>s</a:t>
            </a:r>
            <a:r>
              <a:rPr dirty="0" sz="1100" spc="90">
                <a:solidFill>
                  <a:srgbClr val="827E3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827E3F"/>
                </a:solidFill>
                <a:latin typeface="Calibri"/>
                <a:cs typeface="Calibri"/>
              </a:rPr>
              <a:t>hon</a:t>
            </a:r>
            <a:r>
              <a:rPr dirty="0" sz="1100" spc="-90">
                <a:solidFill>
                  <a:srgbClr val="827E3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8E8544"/>
                </a:solidFill>
                <a:latin typeface="Calibri"/>
                <a:cs typeface="Calibri"/>
              </a:rPr>
              <a:t>se</a:t>
            </a:r>
            <a:r>
              <a:rPr dirty="0" sz="1100">
                <a:solidFill>
                  <a:srgbClr val="8E8544"/>
                </a:solidFill>
                <a:latin typeface="Calibri"/>
                <a:cs typeface="Calibri"/>
              </a:rPr>
              <a:t>	</a:t>
            </a:r>
            <a:r>
              <a:rPr dirty="0" sz="1100" spc="65">
                <a:latin typeface="Calibri"/>
                <a:cs typeface="Calibri"/>
              </a:rPr>
              <a:t>speechXode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81818"/>
                </a:solidFill>
                <a:latin typeface="Calibri"/>
                <a:cs typeface="Calibri"/>
              </a:rPr>
              <a:t>1.</a:t>
            </a:r>
            <a:r>
              <a:rPr dirty="0" sz="1100" spc="8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111111"/>
                </a:solidFill>
                <a:latin typeface="Calibri"/>
                <a:cs typeface="Calibri"/>
              </a:rPr>
              <a:t>cat</a:t>
            </a:r>
            <a:r>
              <a:rPr dirty="0" sz="1100" spc="18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81818"/>
                </a:solidFill>
                <a:latin typeface="Calibri"/>
                <a:cs typeface="Calibri"/>
              </a:rPr>
              <a:t>I(</a:t>
            </a:r>
            <a:r>
              <a:rPr dirty="0" sz="1100" spc="33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855E7C"/>
                </a:solidFill>
                <a:latin typeface="Calibri"/>
                <a:cs typeface="Calibri"/>
              </a:rPr>
              <a:t>new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39416" y="2161568"/>
            <a:ext cx="53397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66875" algn="l"/>
              </a:tabLst>
            </a:pPr>
            <a:r>
              <a:rPr dirty="0" baseline="-10101" sz="1650" spc="225">
                <a:solidFill>
                  <a:srgbClr val="69779E"/>
                </a:solidFill>
                <a:latin typeface="Calibri"/>
                <a:cs typeface="Calibri"/>
              </a:rPr>
              <a:t>r</a:t>
            </a:r>
            <a:r>
              <a:rPr dirty="0" sz="650" spc="150">
                <a:solidFill>
                  <a:srgbClr val="69779E"/>
                </a:solidFill>
                <a:latin typeface="Calibri"/>
                <a:cs typeface="Calibri"/>
              </a:rPr>
              <a:t>e</a:t>
            </a:r>
            <a:r>
              <a:rPr dirty="0" sz="650" spc="320">
                <a:solidFill>
                  <a:srgbClr val="69779E"/>
                </a:solidFill>
                <a:latin typeface="Calibri"/>
                <a:cs typeface="Calibri"/>
              </a:rPr>
              <a:t>  </a:t>
            </a:r>
            <a:r>
              <a:rPr dirty="0" sz="800" spc="185">
                <a:solidFill>
                  <a:srgbClr val="6080CD"/>
                </a:solidFill>
                <a:latin typeface="Calibri"/>
                <a:cs typeface="Calibri"/>
              </a:rPr>
              <a:t>C</a:t>
            </a:r>
            <a:r>
              <a:rPr dirty="0" sz="800" spc="450">
                <a:solidFill>
                  <a:srgbClr val="6080CD"/>
                </a:solidFill>
                <a:latin typeface="Calibri"/>
                <a:cs typeface="Calibri"/>
              </a:rPr>
              <a:t> </a:t>
            </a:r>
            <a:r>
              <a:rPr dirty="0" baseline="-10101" sz="1650">
                <a:solidFill>
                  <a:srgbClr val="7077AA"/>
                </a:solidFill>
                <a:latin typeface="Calibri"/>
                <a:cs typeface="Calibri"/>
              </a:rPr>
              <a:t>P</a:t>
            </a:r>
            <a:r>
              <a:rPr dirty="0" baseline="-10101" sz="1650" spc="37">
                <a:solidFill>
                  <a:srgbClr val="7077AA"/>
                </a:solidFill>
                <a:latin typeface="Calibri"/>
                <a:cs typeface="Calibri"/>
              </a:rPr>
              <a:t> </a:t>
            </a:r>
            <a:r>
              <a:rPr dirty="0" baseline="-5050" sz="1650" spc="-52">
                <a:solidFill>
                  <a:srgbClr val="5977AF"/>
                </a:solidFill>
                <a:latin typeface="Calibri"/>
                <a:cs typeface="Calibri"/>
              </a:rPr>
              <a:t>“</a:t>
            </a:r>
            <a:r>
              <a:rPr dirty="0" baseline="-13071" sz="1275" spc="-52">
                <a:solidFill>
                  <a:srgbClr val="878CA1"/>
                </a:solidFill>
                <a:latin typeface="Calibri"/>
                <a:cs typeface="Calibri"/>
              </a:rPr>
              <a:t>C</a:t>
            </a:r>
            <a:r>
              <a:rPr dirty="0" baseline="-17094" sz="975" spc="-52">
                <a:solidFill>
                  <a:srgbClr val="878CA1"/>
                </a:solidFill>
                <a:latin typeface="Calibri"/>
                <a:cs typeface="Calibri"/>
              </a:rPr>
              <a:t>’</a:t>
            </a:r>
            <a:r>
              <a:rPr dirty="0" sz="1100" spc="-35">
                <a:solidFill>
                  <a:srgbClr val="878CA1"/>
                </a:solidFill>
                <a:latin typeface="Calibri"/>
                <a:cs typeface="Calibri"/>
              </a:rPr>
              <a:t>i»g</a:t>
            </a:r>
            <a:r>
              <a:rPr dirty="0" sz="1100" spc="-114">
                <a:solidFill>
                  <a:srgbClr val="878CA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475B5"/>
                </a:solidFill>
                <a:latin typeface="Calibri"/>
                <a:cs typeface="Calibri"/>
              </a:rPr>
              <a:t>t</a:t>
            </a:r>
            <a:r>
              <a:rPr dirty="0" sz="1100" spc="-5">
                <a:solidFill>
                  <a:srgbClr val="6475B5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11111"/>
                </a:solidFill>
                <a:latin typeface="Calibri"/>
                <a:cs typeface="Calibri"/>
              </a:rPr>
              <a:t>(</a:t>
            </a:r>
            <a:r>
              <a:rPr dirty="0" sz="1100" spc="-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resource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1A1A1A"/>
                </a:solidFill>
                <a:latin typeface="Calibri"/>
                <a:cs typeface="Calibri"/>
              </a:rPr>
              <a:t>,</a:t>
            </a:r>
            <a:r>
              <a:rPr dirty="0" sz="110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61616"/>
                </a:solidFill>
                <a:latin typeface="Calibri"/>
                <a:cs typeface="Calibri"/>
              </a:rPr>
              <a:t>get</a:t>
            </a:r>
            <a:r>
              <a:rPr dirty="0" sz="1100" spc="45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0E0E0E"/>
                </a:solidFill>
                <a:latin typeface="Calibri"/>
                <a:cs typeface="Calibri"/>
              </a:rPr>
              <a:t>Cont</a:t>
            </a:r>
            <a:r>
              <a:rPr dirty="0" sz="1100" spc="80">
                <a:solidFill>
                  <a:srgbClr val="1A1A1A"/>
                </a:solidFill>
                <a:latin typeface="Calibri"/>
                <a:cs typeface="Calibri"/>
              </a:rPr>
              <a:t>ent</a:t>
            </a:r>
            <a:r>
              <a:rPr dirty="0" sz="1100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F2F2F"/>
                </a:solidFill>
                <a:latin typeface="Calibri"/>
                <a:cs typeface="Calibri"/>
              </a:rPr>
              <a:t>As</a:t>
            </a:r>
            <a:r>
              <a:rPr dirty="0" sz="1100" spc="90">
                <a:solidFill>
                  <a:srgbClr val="1C1C1C"/>
                </a:solidFill>
                <a:latin typeface="Calibri"/>
                <a:cs typeface="Calibri"/>
              </a:rPr>
              <a:t>S</a:t>
            </a:r>
            <a:r>
              <a:rPr dirty="0" sz="1100" spc="-13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t</a:t>
            </a:r>
            <a:r>
              <a:rPr dirty="0" sz="1100" spc="-65">
                <a:latin typeface="Calibri"/>
                <a:cs typeface="Calibri"/>
              </a:rPr>
              <a:t> </a:t>
            </a:r>
            <a:r>
              <a:rPr dirty="0" sz="1100" spc="80">
                <a:latin typeface="Calibri"/>
                <a:cs typeface="Calibri"/>
              </a:rPr>
              <a:t>r1ng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(</a:t>
            </a:r>
            <a:r>
              <a:rPr dirty="0" sz="1100" spc="-145"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111111"/>
                </a:solidFill>
                <a:latin typeface="Calibri"/>
                <a:cs typeface="Calibri"/>
              </a:rPr>
              <a:t>Char</a:t>
            </a:r>
            <a:r>
              <a:rPr dirty="0" sz="1100" spc="-9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latin typeface="Calibri"/>
                <a:cs typeface="Calibri"/>
              </a:rPr>
              <a:t>se</a:t>
            </a:r>
            <a:r>
              <a:rPr dirty="0" sz="1100" spc="-130"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2323"/>
                </a:solidFill>
                <a:latin typeface="Calibri"/>
                <a:cs typeface="Calibri"/>
              </a:rPr>
              <a:t>t </a:t>
            </a:r>
            <a:r>
              <a:rPr dirty="0" sz="1100" spc="-6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0F0F0F"/>
                </a:solidFill>
                <a:latin typeface="Calibri"/>
                <a:cs typeface="Calibri"/>
              </a:rPr>
              <a:t>defau</a:t>
            </a:r>
            <a:r>
              <a:rPr dirty="0" sz="1100" spc="-15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161616"/>
                </a:solidFill>
                <a:latin typeface="Calibri"/>
                <a:cs typeface="Calibri"/>
              </a:rPr>
              <a:t>It</a:t>
            </a:r>
            <a:r>
              <a:rPr dirty="0" sz="1100" spc="21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latin typeface="Calibri"/>
                <a:cs typeface="Calibri"/>
              </a:rPr>
              <a:t>Char</a:t>
            </a:r>
            <a:r>
              <a:rPr dirty="0" sz="1100" spc="-80"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111111"/>
                </a:solidFill>
                <a:latin typeface="Calibri"/>
                <a:cs typeface="Calibri"/>
              </a:rPr>
              <a:t>se</a:t>
            </a:r>
            <a:r>
              <a:rPr dirty="0" sz="1100" spc="-1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C1C1C"/>
                </a:solidFill>
                <a:latin typeface="Calibri"/>
                <a:cs typeface="Calibri"/>
              </a:rPr>
              <a:t>I</a:t>
            </a:r>
            <a:r>
              <a:rPr dirty="0" sz="1100" spc="12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61616"/>
                </a:solidFill>
                <a:latin typeface="Calibri"/>
                <a:cs typeface="Calibri"/>
              </a:rPr>
              <a:t>(</a:t>
            </a:r>
            <a:r>
              <a:rPr dirty="0" sz="1100" spc="4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D1D1D"/>
                </a:solidFill>
                <a:latin typeface="Calibri"/>
                <a:cs typeface="Calibri"/>
              </a:rPr>
              <a:t>)</a:t>
            </a:r>
            <a:r>
              <a:rPr dirty="0" sz="1100" spc="-1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)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181818"/>
                </a:solidFill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19347" y="2317309"/>
            <a:ext cx="5899785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735">
              <a:lnSpc>
                <a:spcPts val="1215"/>
              </a:lnSpc>
              <a:spcBef>
                <a:spcPts val="100"/>
              </a:spcBef>
            </a:pPr>
            <a:r>
              <a:rPr dirty="0" sz="1050" spc="85">
                <a:latin typeface="Calibri"/>
                <a:cs typeface="Calibri"/>
              </a:rPr>
              <a:t>0penA1Aud1oSpeec</a:t>
            </a:r>
            <a:r>
              <a:rPr dirty="0" sz="1050" spc="85">
                <a:solidFill>
                  <a:srgbClr val="0F0F0F"/>
                </a:solidFill>
                <a:latin typeface="Calibri"/>
                <a:cs typeface="Calibri"/>
              </a:rPr>
              <a:t>h0pt</a:t>
            </a:r>
            <a:r>
              <a:rPr dirty="0" sz="1050" spc="-13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050" spc="175">
                <a:solidFill>
                  <a:srgbClr val="111111"/>
                </a:solidFill>
                <a:latin typeface="Calibri"/>
                <a:cs typeface="Calibri"/>
              </a:rPr>
              <a:t>ions</a:t>
            </a:r>
            <a:r>
              <a:rPr dirty="0" sz="1050" spc="-6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050" spc="-40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1050" spc="-3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but</a:t>
            </a:r>
            <a:r>
              <a:rPr dirty="0" sz="1050" spc="360">
                <a:latin typeface="Calibri"/>
                <a:cs typeface="Calibri"/>
              </a:rPr>
              <a:t> </a:t>
            </a:r>
            <a:r>
              <a:rPr dirty="0" sz="1050" spc="-30">
                <a:solidFill>
                  <a:srgbClr val="1A1A1A"/>
                </a:solidFill>
                <a:latin typeface="Calibri"/>
                <a:cs typeface="Calibri"/>
              </a:rPr>
              <a:t>Tde</a:t>
            </a:r>
            <a:r>
              <a:rPr dirty="0" sz="1050" spc="17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F2F2F"/>
                </a:solidFill>
                <a:latin typeface="Calibri"/>
                <a:cs typeface="Calibri"/>
              </a:rPr>
              <a:t>r</a:t>
            </a:r>
            <a:r>
              <a:rPr dirty="0" sz="1050" spc="6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81818"/>
                </a:solidFill>
                <a:latin typeface="Calibri"/>
                <a:cs typeface="Calibri"/>
              </a:rPr>
              <a:t>(</a:t>
            </a:r>
            <a:r>
              <a:rPr dirty="0" sz="1050" spc="10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82828"/>
                </a:solidFill>
                <a:latin typeface="Calibri"/>
                <a:cs typeface="Calibri"/>
              </a:rPr>
              <a:t>)</a:t>
            </a:r>
            <a:endParaRPr sz="1050">
              <a:latin typeface="Calibri"/>
              <a:cs typeface="Calibri"/>
            </a:endParaRPr>
          </a:p>
          <a:p>
            <a:pPr marL="348615">
              <a:lnSpc>
                <a:spcPts val="1245"/>
              </a:lnSpc>
            </a:pPr>
            <a:r>
              <a:rPr dirty="0" sz="1150" spc="-65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1150" spc="-6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150" spc="80">
                <a:solidFill>
                  <a:srgbClr val="0F0F0F"/>
                </a:solidFill>
                <a:latin typeface="Calibri"/>
                <a:cs typeface="Calibri"/>
              </a:rPr>
              <a:t>nodet(</a:t>
            </a:r>
            <a:r>
              <a:rPr dirty="0" sz="1150" spc="-6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7E957B"/>
                </a:solidFill>
                <a:latin typeface="Calibri"/>
                <a:cs typeface="Calibri"/>
              </a:rPr>
              <a:t>"</a:t>
            </a:r>
            <a:r>
              <a:rPr dirty="0" sz="1150" spc="150">
                <a:solidFill>
                  <a:srgbClr val="7E957B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678A69"/>
                </a:solidFill>
                <a:latin typeface="Calibri"/>
                <a:cs typeface="Calibri"/>
              </a:rPr>
              <a:t>t</a:t>
            </a:r>
            <a:r>
              <a:rPr dirty="0" sz="1150" spc="-55">
                <a:solidFill>
                  <a:srgbClr val="678A6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798A77"/>
                </a:solidFill>
                <a:latin typeface="Calibri"/>
                <a:cs typeface="Calibri"/>
              </a:rPr>
              <a:t>s</a:t>
            </a:r>
            <a:r>
              <a:rPr dirty="0" sz="1150" spc="-65">
                <a:solidFill>
                  <a:srgbClr val="798A77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E7E6B"/>
                </a:solidFill>
                <a:latin typeface="Calibri"/>
                <a:cs typeface="Calibri"/>
              </a:rPr>
              <a:t>-</a:t>
            </a:r>
            <a:r>
              <a:rPr dirty="0" sz="1150" spc="35">
                <a:solidFill>
                  <a:srgbClr val="6E7E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48E67"/>
                </a:solidFill>
                <a:latin typeface="Calibri"/>
                <a:cs typeface="Calibri"/>
              </a:rPr>
              <a:t>J</a:t>
            </a:r>
            <a:r>
              <a:rPr dirty="0" sz="1150" spc="10">
                <a:solidFill>
                  <a:srgbClr val="648E67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7C8E7C"/>
                </a:solidFill>
                <a:latin typeface="Calibri"/>
                <a:cs typeface="Calibri"/>
              </a:rPr>
              <a:t>"</a:t>
            </a:r>
            <a:r>
              <a:rPr dirty="0" sz="1150" spc="-30">
                <a:solidFill>
                  <a:srgbClr val="7C8E7C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C0C0C"/>
                </a:solidFill>
                <a:latin typeface="Calibri"/>
                <a:cs typeface="Calibri"/>
              </a:rPr>
              <a:t>)</a:t>
            </a:r>
            <a:endParaRPr sz="1150">
              <a:latin typeface="Calibri"/>
              <a:cs typeface="Calibri"/>
            </a:endParaRPr>
          </a:p>
          <a:p>
            <a:pPr marL="414655" marR="5080" indent="-86995">
              <a:lnSpc>
                <a:spcPts val="1200"/>
              </a:lnSpc>
              <a:spcBef>
                <a:spcPts val="50"/>
              </a:spcBef>
            </a:pPr>
            <a:r>
              <a:rPr dirty="0" sz="1100" spc="-20">
                <a:latin typeface="Courier New"/>
                <a:cs typeface="Courier New"/>
              </a:rPr>
              <a:t>.voice(openAiAudioApi.SpeechRequest.Voice.SHIMMER) </a:t>
            </a:r>
            <a:r>
              <a:rPr dirty="0" sz="1100" spc="-35">
                <a:latin typeface="Courier New"/>
                <a:cs typeface="Courier New"/>
              </a:rPr>
              <a:t>responseFormat(0penAiAudioApi.SpeechRequest.AudioResponseFormat.MP3)</a:t>
            </a:r>
            <a:endParaRPr sz="1100">
              <a:latin typeface="Courier New"/>
              <a:cs typeface="Courier New"/>
            </a:endParaRPr>
          </a:p>
          <a:p>
            <a:pPr marL="327660">
              <a:lnSpc>
                <a:spcPts val="1170"/>
              </a:lnSpc>
            </a:pPr>
            <a:r>
              <a:rPr dirty="0" sz="1100" spc="-10">
                <a:solidFill>
                  <a:srgbClr val="131313"/>
                </a:solidFill>
                <a:latin typeface="Courier New"/>
                <a:cs typeface="Courier New"/>
              </a:rPr>
              <a:t>.speed(1.3f)</a:t>
            </a:r>
            <a:endParaRPr sz="1100">
              <a:latin typeface="Courier New"/>
              <a:cs typeface="Courier New"/>
            </a:endParaRPr>
          </a:p>
          <a:p>
            <a:pPr marL="417195">
              <a:lnSpc>
                <a:spcPts val="1200"/>
              </a:lnSpc>
            </a:pPr>
            <a:r>
              <a:rPr dirty="0" sz="1100" spc="-10">
                <a:latin typeface="Courier New"/>
                <a:cs typeface="Courier New"/>
              </a:rPr>
              <a:t>build()));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60"/>
              </a:lnSpc>
            </a:pPr>
            <a:r>
              <a:rPr dirty="0" sz="1100" spc="-45">
                <a:solidFill>
                  <a:srgbClr val="8E7290"/>
                </a:solidFill>
                <a:latin typeface="Courier New"/>
                <a:cs typeface="Courier New"/>
              </a:rPr>
              <a:t>return</a:t>
            </a:r>
            <a:r>
              <a:rPr dirty="0" sz="1100" spc="-75">
                <a:solidFill>
                  <a:srgbClr val="8E729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speechResponse.getResuit().get0utput();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7650" y="4211854"/>
            <a:ext cx="173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>
                <a:solidFill>
                  <a:srgbClr val="444444"/>
                </a:solidFill>
                <a:latin typeface="Consolas"/>
                <a:cs typeface="Consolas"/>
              </a:rPr>
              <a:t>+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51934" y="3862771"/>
            <a:ext cx="16046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145" algn="l"/>
              </a:tabLst>
            </a:pPr>
            <a:r>
              <a:rPr dirty="0" sz="1100" spc="-50">
                <a:solidFill>
                  <a:srgbClr val="545454"/>
                </a:solidFill>
                <a:latin typeface="Arial MT"/>
                <a:cs typeface="Arial MT"/>
              </a:rPr>
              <a:t>0</a:t>
            </a:r>
            <a:r>
              <a:rPr dirty="0" sz="1100">
                <a:solidFill>
                  <a:srgbClr val="545454"/>
                </a:solidFill>
                <a:latin typeface="Arial MT"/>
                <a:cs typeface="Arial MT"/>
              </a:rPr>
              <a:t>	</a:t>
            </a:r>
            <a:r>
              <a:rPr dirty="0" sz="1100" spc="-30">
                <a:solidFill>
                  <a:srgbClr val="1A1A1A"/>
                </a:solidFill>
                <a:latin typeface="Arial MT"/>
                <a:cs typeface="Arial MT"/>
              </a:rPr>
              <a:t>localhost:8080/original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752128" y="3780709"/>
            <a:ext cx="15240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30">
                <a:solidFill>
                  <a:srgbClr val="384959"/>
                </a:solidFill>
                <a:latin typeface="Consolas"/>
                <a:cs typeface="Consolas"/>
              </a:rPr>
              <a:t>+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82747" y="4326182"/>
            <a:ext cx="5537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590" algn="l"/>
              </a:tabLst>
            </a:pPr>
            <a:r>
              <a:rPr dirty="0" sz="1100" spc="-50">
                <a:solidFill>
                  <a:srgbClr val="424242"/>
                </a:solidFill>
                <a:latin typeface="Arial MT"/>
                <a:cs typeface="Arial MT"/>
              </a:rPr>
              <a:t>W</a:t>
            </a:r>
            <a:r>
              <a:rPr dirty="0" sz="1100">
                <a:solidFill>
                  <a:srgbClr val="424242"/>
                </a:solidFill>
                <a:latin typeface="Arial MT"/>
                <a:cs typeface="Arial MT"/>
              </a:rPr>
              <a:t>	</a:t>
            </a:r>
            <a:r>
              <a:rPr dirty="0" sz="1100" spc="-50">
                <a:solidFill>
                  <a:srgbClr val="383838"/>
                </a:solidFill>
                <a:latin typeface="Arial MT"/>
                <a:cs typeface="Arial MT"/>
              </a:rPr>
              <a:t>@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33755" y="4326182"/>
            <a:ext cx="14592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</a:tabLst>
            </a:pPr>
            <a:r>
              <a:rPr dirty="0" sz="1100" spc="-10">
                <a:solidFill>
                  <a:srgbClr val="1C1C1C"/>
                </a:solidFill>
                <a:latin typeface="Arial MT"/>
                <a:cs typeface="Arial MT"/>
              </a:rPr>
              <a:t>localhost:8080...</a:t>
            </a:r>
            <a:r>
              <a:rPr dirty="0" sz="1100">
                <a:solidFill>
                  <a:srgbClr val="1C1C1C"/>
                </a:solidFill>
                <a:latin typeface="Arial MT"/>
                <a:cs typeface="Arial MT"/>
              </a:rPr>
              <a:t>	</a:t>
            </a:r>
            <a:r>
              <a:rPr dirty="0" sz="1100" spc="25">
                <a:solidFill>
                  <a:srgbClr val="3F3F3F"/>
                </a:solidFill>
                <a:latin typeface="Arial MT"/>
                <a:cs typeface="Arial MT"/>
              </a:rPr>
              <a:t>@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62496" y="4326182"/>
            <a:ext cx="5676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590" algn="l"/>
              </a:tabLst>
            </a:pPr>
            <a:r>
              <a:rPr dirty="0" sz="1100" spc="25">
                <a:solidFill>
                  <a:srgbClr val="181818"/>
                </a:solidFill>
                <a:latin typeface="Arial MT"/>
                <a:cs typeface="Arial MT"/>
              </a:rPr>
              <a:t>@</a:t>
            </a:r>
            <a:r>
              <a:rPr dirty="0" sz="110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dirty="0" sz="1100" spc="25">
                <a:solidFill>
                  <a:srgbClr val="898989"/>
                </a:solidFill>
                <a:latin typeface="Arial MT"/>
                <a:cs typeface="Arial MT"/>
              </a:rPr>
              <a:t>@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558470" y="4326182"/>
            <a:ext cx="78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Arial MT"/>
                <a:cs typeface="Arial MT"/>
              </a:rPr>
              <a:t>"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42809" y="4326182"/>
            <a:ext cx="590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3B3B3B"/>
                </a:solid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75665" y="5227343"/>
            <a:ext cx="74803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80">
                <a:solidFill>
                  <a:srgbClr val="131313"/>
                </a:solidFill>
                <a:latin typeface="Courier New"/>
                <a:cs typeface="Courier New"/>
              </a:rPr>
              <a:t>0:02/0:42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119698" y="3824916"/>
            <a:ext cx="64198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dirty="0" sz="1350" spc="-50">
                <a:solidFill>
                  <a:srgbClr val="384857"/>
                </a:solidFill>
                <a:latin typeface="Consolas"/>
                <a:cs typeface="Consolas"/>
              </a:rPr>
              <a:t>—</a:t>
            </a:r>
            <a:r>
              <a:rPr dirty="0" sz="1350">
                <a:solidFill>
                  <a:srgbClr val="384857"/>
                </a:solidFill>
                <a:latin typeface="Consolas"/>
                <a:cs typeface="Consolas"/>
              </a:rPr>
              <a:t>	</a:t>
            </a:r>
            <a:r>
              <a:rPr dirty="0" sz="1350" spc="-185">
                <a:solidFill>
                  <a:srgbClr val="161616"/>
                </a:solidFill>
                <a:latin typeface="Consolas"/>
                <a:cs typeface="Consolas"/>
              </a:rPr>
              <a:t>EJ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117600" y="3824916"/>
            <a:ext cx="9271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65">
                <a:latin typeface="Consolas"/>
                <a:cs typeface="Consolas"/>
              </a:rPr>
              <a:t>X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96512" y="4249964"/>
            <a:ext cx="6407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0525" algn="l"/>
              </a:tabLst>
            </a:pPr>
            <a:r>
              <a:rPr dirty="0" sz="1700" spc="-25">
                <a:solidFill>
                  <a:srgbClr val="3F3F3F"/>
                </a:solidFill>
                <a:latin typeface="Arial MT"/>
                <a:cs typeface="Arial MT"/>
              </a:rPr>
              <a:t>,¿,</a:t>
            </a:r>
            <a:r>
              <a:rPr dirty="0" sz="1700">
                <a:solidFill>
                  <a:srgbClr val="3F3F3F"/>
                </a:solidFill>
                <a:latin typeface="Arial MT"/>
                <a:cs typeface="Arial MT"/>
              </a:rPr>
              <a:t>	</a:t>
            </a:r>
            <a:r>
              <a:rPr dirty="0" sz="1700" spc="85">
                <a:solidFill>
                  <a:srgbClr val="0F0F0F"/>
                </a:solidFill>
                <a:latin typeface="Arial MT"/>
                <a:cs typeface="Arial MT"/>
              </a:rPr>
              <a:t>@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3200" spc="55">
                <a:solidFill>
                  <a:srgbClr val="03AACF"/>
                </a:solidFill>
              </a:rPr>
              <a:t>Retrieval</a:t>
            </a:r>
            <a:r>
              <a:rPr dirty="0" sz="3200" spc="345">
                <a:solidFill>
                  <a:srgbClr val="03AACF"/>
                </a:solidFill>
              </a:rPr>
              <a:t> </a:t>
            </a:r>
            <a:r>
              <a:rPr dirty="0" sz="3200" spc="195">
                <a:solidFill>
                  <a:srgbClr val="13BDCA"/>
                </a:solidFill>
              </a:rPr>
              <a:t>Augmented</a:t>
            </a:r>
            <a:r>
              <a:rPr dirty="0" sz="3200" spc="335">
                <a:solidFill>
                  <a:srgbClr val="13BDCA"/>
                </a:solidFill>
              </a:rPr>
              <a:t> </a:t>
            </a:r>
            <a:r>
              <a:rPr dirty="0" sz="3200" spc="70">
                <a:solidFill>
                  <a:srgbClr val="1CA8DF"/>
                </a:solidFill>
              </a:rPr>
              <a:t>Generation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845489" y="1265081"/>
            <a:ext cx="4229735" cy="115316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635"/>
              </a:spcBef>
              <a:buClr>
                <a:srgbClr val="1D1D1D"/>
              </a:buClr>
              <a:buChar char="•"/>
              <a:tabLst>
                <a:tab pos="228600" algn="l"/>
              </a:tabLst>
            </a:pPr>
            <a:r>
              <a:rPr dirty="0" sz="2100" spc="55">
                <a:latin typeface="Calibri"/>
                <a:cs typeface="Calibri"/>
              </a:rPr>
              <a:t>Bring</a:t>
            </a:r>
            <a:r>
              <a:rPr dirty="0" sz="2100" spc="12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own</a:t>
            </a:r>
            <a:r>
              <a:rPr dirty="0" sz="2100" spc="7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 spc="55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dirty="0" sz="2100" spc="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dirty="0" sz="2100" spc="7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2100" spc="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100" spc="45">
                <a:solidFill>
                  <a:srgbClr val="131313"/>
                </a:solidFill>
                <a:latin typeface="Calibri"/>
                <a:cs typeface="Calibri"/>
              </a:rPr>
              <a:t>prompt</a:t>
            </a:r>
            <a:endParaRPr sz="2100">
              <a:latin typeface="Calibri"/>
              <a:cs typeface="Calibri"/>
            </a:endParaRPr>
          </a:p>
          <a:p>
            <a:pPr marL="226695" indent="-213995">
              <a:lnSpc>
                <a:spcPct val="100000"/>
              </a:lnSpc>
              <a:spcBef>
                <a:spcPts val="550"/>
              </a:spcBef>
              <a:buClr>
                <a:srgbClr val="161616"/>
              </a:buClr>
              <a:buChar char="•"/>
              <a:tabLst>
                <a:tab pos="226695" algn="l"/>
              </a:tabLst>
            </a:pPr>
            <a:r>
              <a:rPr dirty="0" sz="2150">
                <a:latin typeface="Calibri"/>
                <a:cs typeface="Calibri"/>
              </a:rPr>
              <a:t>Give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dirty="0" sz="2150" spc="-1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11111"/>
                </a:solidFill>
                <a:latin typeface="Calibri"/>
                <a:cs typeface="Calibri"/>
              </a:rPr>
              <a:t>lot</a:t>
            </a:r>
            <a:r>
              <a:rPr dirty="0" sz="215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F0F0F"/>
                </a:solidFill>
                <a:latin typeface="Calibri"/>
                <a:cs typeface="Calibri"/>
              </a:rPr>
              <a:t>context</a:t>
            </a:r>
            <a:r>
              <a:rPr dirty="0" sz="2150" spc="6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dirty="0" sz="2150" spc="-4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5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prompt</a:t>
            </a:r>
            <a:endParaRPr sz="2150">
              <a:latin typeface="Calibri"/>
              <a:cs typeface="Calibri"/>
            </a:endParaRPr>
          </a:p>
          <a:p>
            <a:pPr lvl="1" marL="681990" indent="-218440">
              <a:lnSpc>
                <a:spcPct val="100000"/>
              </a:lnSpc>
              <a:spcBef>
                <a:spcPts val="110"/>
              </a:spcBef>
              <a:buClr>
                <a:srgbClr val="444444"/>
              </a:buClr>
              <a:buChar char="•"/>
              <a:tabLst>
                <a:tab pos="681990" algn="l"/>
              </a:tabLst>
            </a:pPr>
            <a:r>
              <a:rPr dirty="0" sz="2150" spc="-20">
                <a:solidFill>
                  <a:srgbClr val="161616"/>
                </a:solidFill>
                <a:latin typeface="Calibri"/>
                <a:cs typeface="Calibri"/>
              </a:rPr>
              <a:t>Text</a:t>
            </a:r>
            <a:r>
              <a:rPr dirty="0" sz="2150" spc="-4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content,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vectors</a:t>
            </a:r>
            <a:r>
              <a:rPr dirty="0" sz="2150" spc="-20">
                <a:latin typeface="Calibri"/>
                <a:cs typeface="Calibri"/>
              </a:rPr>
              <a:t> etc.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dirty="0" sz="2950" spc="140">
                <a:solidFill>
                  <a:srgbClr val="00AFD8"/>
                </a:solidFill>
                <a:latin typeface="Arial MT"/>
                <a:cs typeface="Arial MT"/>
              </a:rPr>
              <a:t>Prom</a:t>
            </a:r>
            <a:r>
              <a:rPr dirty="0" sz="2950" spc="-555">
                <a:solidFill>
                  <a:srgbClr val="00AFD8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0A8EB"/>
                </a:solidFill>
                <a:latin typeface="Arial MT"/>
                <a:cs typeface="Arial MT"/>
              </a:rPr>
              <a:t>pt</a:t>
            </a:r>
            <a:r>
              <a:rPr dirty="0" sz="2950" spc="434">
                <a:solidFill>
                  <a:srgbClr val="00A8EB"/>
                </a:solidFill>
                <a:latin typeface="Arial MT"/>
                <a:cs typeface="Arial MT"/>
              </a:rPr>
              <a:t> </a:t>
            </a:r>
            <a:r>
              <a:rPr dirty="0" sz="2950" spc="70">
                <a:solidFill>
                  <a:srgbClr val="169CCA"/>
                </a:solidFill>
                <a:latin typeface="Arial MT"/>
                <a:cs typeface="Arial MT"/>
              </a:rPr>
              <a:t>Data</a:t>
            </a:r>
            <a:r>
              <a:rPr dirty="0" sz="2950" spc="165">
                <a:solidFill>
                  <a:srgbClr val="169CCA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18A7CD"/>
                </a:solidFill>
                <a:latin typeface="Arial MT"/>
                <a:cs typeface="Arial MT"/>
              </a:rPr>
              <a:t>Ta</a:t>
            </a:r>
            <a:r>
              <a:rPr dirty="0" sz="2950" spc="-490">
                <a:solidFill>
                  <a:srgbClr val="18A7CD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7B6CF"/>
                </a:solidFill>
                <a:latin typeface="Arial MT"/>
                <a:cs typeface="Arial MT"/>
              </a:rPr>
              <a:t>kes</a:t>
            </a:r>
            <a:r>
              <a:rPr dirty="0" sz="2950" spc="105">
                <a:solidFill>
                  <a:srgbClr val="07B6CF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00A1BA"/>
                </a:solidFill>
                <a:latin typeface="Arial MT"/>
                <a:cs typeface="Arial MT"/>
              </a:rPr>
              <a:t>Precedence</a:t>
            </a:r>
            <a:r>
              <a:rPr dirty="0" sz="2950" spc="434">
                <a:solidFill>
                  <a:srgbClr val="00A1BA"/>
                </a:solidFill>
                <a:latin typeface="Arial MT"/>
                <a:cs typeface="Arial MT"/>
              </a:rPr>
              <a:t> </a:t>
            </a:r>
            <a:r>
              <a:rPr dirty="0" sz="2950" spc="-434">
                <a:solidFill>
                  <a:srgbClr val="11A3BA"/>
                </a:solidFill>
                <a:latin typeface="Arial MT"/>
                <a:cs typeface="Arial MT"/>
              </a:rPr>
              <a:t>(1)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8187" y="1502022"/>
            <a:ext cx="8239759" cy="2005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61616"/>
                </a:solidFill>
                <a:latin typeface="Consolas"/>
                <a:cs typeface="Consolas"/>
              </a:rPr>
              <a:t>You</a:t>
            </a:r>
            <a:r>
              <a:rPr dirty="0" sz="1300" spc="85">
                <a:solidFill>
                  <a:srgbClr val="16161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said:</a:t>
            </a:r>
            <a:endParaRPr sz="1300">
              <a:latin typeface="Consolas"/>
              <a:cs typeface="Consolas"/>
            </a:endParaRPr>
          </a:p>
          <a:p>
            <a:pPr marL="20320">
              <a:lnSpc>
                <a:spcPct val="100000"/>
              </a:lnSpc>
              <a:spcBef>
                <a:spcPts val="1320"/>
              </a:spcBef>
            </a:pPr>
            <a:r>
              <a:rPr dirty="0" sz="1350" spc="-30">
                <a:solidFill>
                  <a:srgbClr val="111111"/>
                </a:solidFill>
                <a:latin typeface="Courier New"/>
                <a:cs typeface="Courier New"/>
              </a:rPr>
              <a:t>How</a:t>
            </a:r>
            <a:r>
              <a:rPr dirty="0" sz="1350" spc="-17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many</a:t>
            </a:r>
            <a:r>
              <a:rPr dirty="0" sz="1350" spc="-145">
                <a:latin typeface="Courier New"/>
                <a:cs typeface="Courier New"/>
              </a:rPr>
              <a:t> </a:t>
            </a:r>
            <a:r>
              <a:rPr dirty="0" sz="1350" spc="-70">
                <a:latin typeface="Courier New"/>
                <a:cs typeface="Courier New"/>
              </a:rPr>
              <a:t>sports</a:t>
            </a:r>
            <a:r>
              <a:rPr dirty="0" sz="1350" spc="-130"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0E0E0E"/>
                </a:solidFill>
                <a:latin typeface="Courier New"/>
                <a:cs typeface="Courier New"/>
              </a:rPr>
              <a:t>were</a:t>
            </a:r>
            <a:r>
              <a:rPr dirty="0" sz="1350" spc="-114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latin typeface="Courier New"/>
                <a:cs typeface="Courier New"/>
              </a:rPr>
              <a:t>there</a:t>
            </a:r>
            <a:r>
              <a:rPr dirty="0" sz="1350" spc="-130"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F1F1F"/>
                </a:solidFill>
                <a:latin typeface="Courier New"/>
                <a:cs typeface="Courier New"/>
              </a:rPr>
              <a:t>in</a:t>
            </a:r>
            <a:r>
              <a:rPr dirty="0" sz="1350" spc="-12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1A1A1A"/>
                </a:solidFill>
                <a:latin typeface="Courier New"/>
                <a:cs typeface="Courier New"/>
              </a:rPr>
              <a:t>the</a:t>
            </a:r>
            <a:r>
              <a:rPr dirty="0" sz="1350" spc="-13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40">
                <a:solidFill>
                  <a:srgbClr val="0F0F0F"/>
                </a:solidFill>
                <a:latin typeface="Courier New"/>
                <a:cs typeface="Courier New"/>
              </a:rPr>
              <a:t>Paris</a:t>
            </a:r>
            <a:r>
              <a:rPr dirty="0" sz="1350" spc="-12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31313"/>
                </a:solidFill>
                <a:latin typeface="Courier New"/>
                <a:cs typeface="Courier New"/>
              </a:rPr>
              <a:t>Olympics?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55">
                <a:solidFill>
                  <a:srgbClr val="111111"/>
                </a:solidFill>
                <a:latin typeface="Courier New"/>
                <a:cs typeface="Courier New"/>
              </a:rPr>
              <a:t>ChatGPT</a:t>
            </a:r>
            <a:r>
              <a:rPr dirty="0" sz="1350" spc="-14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0F0F0F"/>
                </a:solidFill>
                <a:latin typeface="Courier New"/>
                <a:cs typeface="Courier New"/>
              </a:rPr>
              <a:t>said:</a:t>
            </a:r>
            <a:endParaRPr sz="1350">
              <a:latin typeface="Courier New"/>
              <a:cs typeface="Courier New"/>
            </a:endParaRPr>
          </a:p>
          <a:p>
            <a:pPr marL="25400" marR="5080" indent="-9525">
              <a:lnSpc>
                <a:spcPts val="1440"/>
              </a:lnSpc>
              <a:spcBef>
                <a:spcPts val="1455"/>
              </a:spcBef>
            </a:pPr>
            <a:r>
              <a:rPr dirty="0" sz="1350" spc="-30">
                <a:solidFill>
                  <a:srgbClr val="1A1A1A"/>
                </a:solidFill>
                <a:latin typeface="Courier New"/>
                <a:cs typeface="Courier New"/>
              </a:rPr>
              <a:t>For</a:t>
            </a:r>
            <a:r>
              <a:rPr dirty="0" sz="1350" spc="-17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181818"/>
                </a:solidFill>
                <a:latin typeface="Courier New"/>
                <a:cs typeface="Courier New"/>
              </a:rPr>
              <a:t>the</a:t>
            </a:r>
            <a:r>
              <a:rPr dirty="0" sz="1350" spc="-14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latin typeface="Courier New"/>
                <a:cs typeface="Courier New"/>
              </a:rPr>
              <a:t>2024</a:t>
            </a:r>
            <a:r>
              <a:rPr dirty="0" sz="1350" spc="-155"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Paris</a:t>
            </a:r>
            <a:r>
              <a:rPr dirty="0" sz="1350" spc="-145"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Olympics,</a:t>
            </a:r>
            <a:r>
              <a:rPr dirty="0" sz="1350" spc="-95"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there</a:t>
            </a:r>
            <a:r>
              <a:rPr dirty="0" sz="1350" spc="-145"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181818"/>
                </a:solidFill>
                <a:latin typeface="Courier New"/>
                <a:cs typeface="Courier New"/>
              </a:rPr>
              <a:t>are</a:t>
            </a:r>
            <a:r>
              <a:rPr dirty="0" sz="1350" spc="-13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latin typeface="Courier New"/>
                <a:cs typeface="Courier New"/>
              </a:rPr>
              <a:t>32</a:t>
            </a:r>
            <a:r>
              <a:rPr dirty="0" sz="1350" spc="-190"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181818"/>
                </a:solidFill>
                <a:latin typeface="Courier New"/>
                <a:cs typeface="Courier New"/>
              </a:rPr>
              <a:t>sports</a:t>
            </a:r>
            <a:r>
              <a:rPr dirty="0" sz="1350" spc="-13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0F0F0F"/>
                </a:solidFill>
                <a:latin typeface="Courier New"/>
                <a:cs typeface="Courier New"/>
              </a:rPr>
              <a:t>featured,</a:t>
            </a:r>
            <a:r>
              <a:rPr dirty="0" sz="1350" spc="-4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0E0E0E"/>
                </a:solidFill>
                <a:latin typeface="Courier New"/>
                <a:cs typeface="Courier New"/>
              </a:rPr>
              <a:t>with</a:t>
            </a:r>
            <a:r>
              <a:rPr dirty="0" sz="1350" spc="-75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0E0E0E"/>
                </a:solidFill>
                <a:latin typeface="Courier New"/>
                <a:cs typeface="Courier New"/>
              </a:rPr>
              <a:t>a</a:t>
            </a:r>
            <a:r>
              <a:rPr dirty="0" sz="1350" spc="-175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0C0C0C"/>
                </a:solidFill>
                <a:latin typeface="Courier New"/>
                <a:cs typeface="Courier New"/>
              </a:rPr>
              <a:t>total</a:t>
            </a:r>
            <a:r>
              <a:rPr dirty="0" sz="1350" spc="-13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 spc="-30">
                <a:solidFill>
                  <a:srgbClr val="1F1F1F"/>
                </a:solidFill>
                <a:latin typeface="Courier New"/>
                <a:cs typeface="Courier New"/>
              </a:rPr>
              <a:t>of</a:t>
            </a:r>
            <a:r>
              <a:rPr dirty="0" sz="1350" spc="-17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11111"/>
                </a:solidFill>
                <a:latin typeface="Courier New"/>
                <a:cs typeface="Courier New"/>
              </a:rPr>
              <a:t>329</a:t>
            </a:r>
            <a:r>
              <a:rPr dirty="0" sz="1350" spc="-17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0F0F0F"/>
                </a:solidFill>
                <a:latin typeface="Courier New"/>
                <a:cs typeface="Courier New"/>
              </a:rPr>
              <a:t>events. </a:t>
            </a:r>
            <a:r>
              <a:rPr dirty="0" sz="1350" spc="-90">
                <a:solidFill>
                  <a:srgbClr val="0F0F0F"/>
                </a:solidFill>
                <a:latin typeface="Courier New"/>
                <a:cs typeface="Courier New"/>
              </a:rPr>
              <a:t>New</a:t>
            </a:r>
            <a:r>
              <a:rPr dirty="0" sz="1350" spc="-114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0C0C0C"/>
                </a:solidFill>
                <a:latin typeface="Courier New"/>
                <a:cs typeface="Courier New"/>
              </a:rPr>
              <a:t>additions</a:t>
            </a:r>
            <a:r>
              <a:rPr dirty="0" sz="1350" spc="-14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0F0F0F"/>
                </a:solidFill>
                <a:latin typeface="Courier New"/>
                <a:cs typeface="Courier New"/>
              </a:rPr>
              <a:t>include</a:t>
            </a:r>
            <a:r>
              <a:rPr dirty="0" sz="1350" spc="-13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5">
                <a:solidFill>
                  <a:srgbClr val="0F0F0F"/>
                </a:solidFill>
                <a:latin typeface="Courier New"/>
                <a:cs typeface="Courier New"/>
              </a:rPr>
              <a:t>breaking</a:t>
            </a:r>
            <a:r>
              <a:rPr dirty="0" sz="1350" spc="-9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(breakdancing),</a:t>
            </a:r>
            <a:r>
              <a:rPr dirty="0" sz="1350" spc="-150">
                <a:latin typeface="Courier New"/>
                <a:cs typeface="Courier New"/>
              </a:rPr>
              <a:t> </a:t>
            </a:r>
            <a:r>
              <a:rPr dirty="0" sz="1350" spc="-30">
                <a:latin typeface="Courier New"/>
                <a:cs typeface="Courier New"/>
              </a:rPr>
              <a:t>and</a:t>
            </a:r>
            <a:r>
              <a:rPr dirty="0" sz="1350" spc="-45"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0C0C0C"/>
                </a:solidFill>
                <a:latin typeface="Courier New"/>
                <a:cs typeface="Courier New"/>
              </a:rPr>
              <a:t>skateboarding,</a:t>
            </a:r>
            <a:r>
              <a:rPr dirty="0" sz="1350" spc="-10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181818"/>
                </a:solidFill>
                <a:latin typeface="Courier New"/>
                <a:cs typeface="Courier New"/>
              </a:rPr>
              <a:t>sport</a:t>
            </a:r>
            <a:r>
              <a:rPr dirty="0" sz="1350" spc="-10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51515"/>
                </a:solidFill>
                <a:latin typeface="Courier New"/>
                <a:cs typeface="Courier New"/>
              </a:rPr>
              <a:t>climbing,</a:t>
            </a:r>
            <a:endParaRPr sz="1350">
              <a:latin typeface="Courier New"/>
              <a:cs typeface="Courier New"/>
            </a:endParaRPr>
          </a:p>
          <a:p>
            <a:pPr marL="17145">
              <a:lnSpc>
                <a:spcPts val="1425"/>
              </a:lnSpc>
            </a:pPr>
            <a:r>
              <a:rPr dirty="0" sz="1350" spc="-50">
                <a:latin typeface="Courier New"/>
                <a:cs typeface="Courier New"/>
              </a:rPr>
              <a:t>and</a:t>
            </a:r>
            <a:r>
              <a:rPr dirty="0" sz="1350" spc="-155"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surfing</a:t>
            </a:r>
            <a:r>
              <a:rPr dirty="0" sz="1350" spc="-150"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0F0F0F"/>
                </a:solidFill>
                <a:latin typeface="Courier New"/>
                <a:cs typeface="Courier New"/>
              </a:rPr>
              <a:t>are</a:t>
            </a:r>
            <a:r>
              <a:rPr dirty="0" sz="1350" spc="-15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0F0F0F"/>
                </a:solidFill>
                <a:latin typeface="Courier New"/>
                <a:cs typeface="Courier New"/>
              </a:rPr>
              <a:t>also</a:t>
            </a:r>
            <a:r>
              <a:rPr dirty="0" sz="1350" spc="-17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latin typeface="Courier New"/>
                <a:cs typeface="Courier New"/>
              </a:rPr>
              <a:t>returning</a:t>
            </a:r>
            <a:r>
              <a:rPr dirty="0" sz="1350" spc="-60"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after</a:t>
            </a:r>
            <a:r>
              <a:rPr dirty="0" sz="1350" spc="-125">
                <a:latin typeface="Courier New"/>
                <a:cs typeface="Courier New"/>
              </a:rPr>
              <a:t> </a:t>
            </a:r>
            <a:r>
              <a:rPr dirty="0" sz="1350" spc="-75">
                <a:latin typeface="Courier New"/>
                <a:cs typeface="Courier New"/>
              </a:rPr>
              <a:t>debuting</a:t>
            </a:r>
            <a:r>
              <a:rPr dirty="0" sz="1350" spc="-120"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A1A1A"/>
                </a:solidFill>
                <a:latin typeface="Courier New"/>
                <a:cs typeface="Courier New"/>
              </a:rPr>
              <a:t>in</a:t>
            </a:r>
            <a:r>
              <a:rPr dirty="0" sz="1350" spc="-204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latin typeface="Courier New"/>
                <a:cs typeface="Courier New"/>
              </a:rPr>
              <a:t>Tokyo</a:t>
            </a:r>
            <a:r>
              <a:rPr dirty="0" sz="1350" spc="-155"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Courier New"/>
                <a:cs typeface="Courier New"/>
              </a:rPr>
              <a:t>2020.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8503" y="5308897"/>
            <a:ext cx="217043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05050"/>
                </a:solidFill>
                <a:latin typeface="Courier New"/>
                <a:cs typeface="Courier New"/>
              </a:rPr>
              <a:t>Int</a:t>
            </a:r>
            <a:r>
              <a:rPr dirty="0" sz="900" spc="-50">
                <a:solidFill>
                  <a:srgbClr val="505050"/>
                </a:solidFill>
                <a:latin typeface="Courier New"/>
                <a:cs typeface="Courier New"/>
              </a:rPr>
              <a:t> </a:t>
            </a:r>
            <a:r>
              <a:rPr dirty="0" sz="900" spc="-30">
                <a:solidFill>
                  <a:srgbClr val="4F4F4F"/>
                </a:solidFill>
                <a:latin typeface="Courier New"/>
                <a:cs typeface="Courier New"/>
              </a:rPr>
              <a:t>i¿w</a:t>
            </a:r>
            <a:r>
              <a:rPr dirty="0" sz="900" spc="-120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F4F4F"/>
                </a:solidFill>
                <a:latin typeface="Courier New"/>
                <a:cs typeface="Courier New"/>
              </a:rPr>
              <a:t>?Aquhc1.’&gt;Jsa</a:t>
            </a:r>
            <a:r>
              <a:rPr dirty="0" sz="900" spc="10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F4F4F"/>
                </a:solidFill>
                <a:latin typeface="Courier New"/>
                <a:cs typeface="Courier New"/>
              </a:rPr>
              <a:t>U</a:t>
            </a:r>
            <a:r>
              <a:rPr dirty="0" sz="900" spc="65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525252"/>
                </a:solidFill>
                <a:latin typeface="Courier New"/>
                <a:cs typeface="Courier New"/>
              </a:rPr>
              <a:t>Zq0r:qñI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91049" y="5308897"/>
            <a:ext cx="1670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B4B4B"/>
                </a:solidFill>
                <a:latin typeface="Courier New"/>
                <a:cs typeface="Courier New"/>
              </a:rPr>
              <a:t>5G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83" y="5359706"/>
            <a:ext cx="2133600" cy="1036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669" y="469003"/>
            <a:ext cx="630428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3910" algn="l"/>
              </a:tabLst>
            </a:pPr>
            <a:r>
              <a:rPr dirty="0" sz="3000" spc="270">
                <a:solidFill>
                  <a:srgbClr val="00AFD8"/>
                </a:solidFill>
              </a:rPr>
              <a:t>Prompt</a:t>
            </a:r>
            <a:r>
              <a:rPr dirty="0" sz="3000" spc="310">
                <a:solidFill>
                  <a:srgbClr val="00AFD8"/>
                </a:solidFill>
              </a:rPr>
              <a:t> </a:t>
            </a:r>
            <a:r>
              <a:rPr dirty="0" sz="3000" spc="240">
                <a:solidFill>
                  <a:srgbClr val="169CCA"/>
                </a:solidFill>
              </a:rPr>
              <a:t>Data</a:t>
            </a:r>
            <a:r>
              <a:rPr dirty="0" sz="3000" spc="150">
                <a:solidFill>
                  <a:srgbClr val="169CCA"/>
                </a:solidFill>
              </a:rPr>
              <a:t> </a:t>
            </a:r>
            <a:r>
              <a:rPr dirty="0" sz="3000" spc="215">
                <a:solidFill>
                  <a:srgbClr val="18A7CD"/>
                </a:solidFill>
              </a:rPr>
              <a:t>Takes</a:t>
            </a:r>
            <a:r>
              <a:rPr dirty="0" sz="3000" spc="185">
                <a:solidFill>
                  <a:srgbClr val="18A7CD"/>
                </a:solidFill>
              </a:rPr>
              <a:t> </a:t>
            </a:r>
            <a:r>
              <a:rPr dirty="0" sz="3000" spc="240">
                <a:solidFill>
                  <a:srgbClr val="00A1BA"/>
                </a:solidFill>
              </a:rPr>
              <a:t>Precedence</a:t>
            </a:r>
            <a:r>
              <a:rPr dirty="0" sz="3000">
                <a:solidFill>
                  <a:srgbClr val="00A1BA"/>
                </a:solidFill>
              </a:rPr>
              <a:t>	</a:t>
            </a:r>
            <a:r>
              <a:rPr dirty="0" sz="3000" spc="-30">
                <a:solidFill>
                  <a:srgbClr val="00AAC6"/>
                </a:solidFill>
              </a:rPr>
              <a:t>(2)</a:t>
            </a:r>
            <a:endParaRPr sz="3000"/>
          </a:p>
        </p:txBody>
      </p:sp>
      <p:sp>
        <p:nvSpPr>
          <p:cNvPr id="4" name="object 4" descr=""/>
          <p:cNvSpPr txBox="1"/>
          <p:nvPr/>
        </p:nvSpPr>
        <p:spPr>
          <a:xfrm>
            <a:off x="715622" y="1502022"/>
            <a:ext cx="8214995" cy="1329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61616"/>
                </a:solidFill>
                <a:latin typeface="Consolas"/>
                <a:cs typeface="Consolas"/>
              </a:rPr>
              <a:t>You</a:t>
            </a:r>
            <a:r>
              <a:rPr dirty="0" sz="1300" spc="85">
                <a:solidFill>
                  <a:srgbClr val="16161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said:</a:t>
            </a:r>
            <a:endParaRPr sz="13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Consolas"/>
              <a:cs typeface="Consolas"/>
            </a:endParaRPr>
          </a:p>
          <a:p>
            <a:pPr marL="13335" marR="5080" indent="-1270">
              <a:lnSpc>
                <a:spcPts val="1420"/>
              </a:lnSpc>
            </a:pPr>
            <a:r>
              <a:rPr dirty="0" sz="1350" spc="-60">
                <a:solidFill>
                  <a:srgbClr val="0F0F0F"/>
                </a:solidFill>
                <a:latin typeface="Courier New"/>
                <a:cs typeface="Courier New"/>
              </a:rPr>
              <a:t>Here</a:t>
            </a:r>
            <a:r>
              <a:rPr dirty="0" sz="1350" spc="-14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C1C1C"/>
                </a:solidFill>
                <a:latin typeface="Courier New"/>
                <a:cs typeface="Courier New"/>
              </a:rPr>
              <a:t>are</a:t>
            </a:r>
            <a:r>
              <a:rPr dirty="0" sz="1350" spc="-195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1C1C1C"/>
                </a:solidFill>
                <a:latin typeface="Courier New"/>
                <a:cs typeface="Courier New"/>
              </a:rPr>
              <a:t>the</a:t>
            </a:r>
            <a:r>
              <a:rPr dirty="0" sz="1350" spc="-130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131313"/>
                </a:solidFill>
                <a:latin typeface="Courier New"/>
                <a:cs typeface="Courier New"/>
              </a:rPr>
              <a:t>sports</a:t>
            </a:r>
            <a:r>
              <a:rPr dirty="0" sz="1350" spc="-13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31313"/>
                </a:solidFill>
                <a:latin typeface="Courier New"/>
                <a:cs typeface="Courier New"/>
              </a:rPr>
              <a:t>for</a:t>
            </a:r>
            <a:r>
              <a:rPr dirty="0" sz="1350" spc="-204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111111"/>
                </a:solidFill>
                <a:latin typeface="Courier New"/>
                <a:cs typeface="Courier New"/>
              </a:rPr>
              <a:t>the</a:t>
            </a:r>
            <a:r>
              <a:rPr dirty="0" sz="1350" spc="-13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40">
                <a:solidFill>
                  <a:srgbClr val="161616"/>
                </a:solidFill>
                <a:latin typeface="Courier New"/>
                <a:cs typeface="Courier New"/>
              </a:rPr>
              <a:t>Paris</a:t>
            </a:r>
            <a:r>
              <a:rPr dirty="0" sz="1350" spc="-16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131313"/>
                </a:solidFill>
                <a:latin typeface="Courier New"/>
                <a:cs typeface="Courier New"/>
              </a:rPr>
              <a:t>Olympics:</a:t>
            </a:r>
            <a:r>
              <a:rPr dirty="0" sz="1350" spc="-13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0F0F0F"/>
                </a:solidFill>
                <a:latin typeface="Courier New"/>
                <a:cs typeface="Courier New"/>
              </a:rPr>
              <a:t>Archery,</a:t>
            </a:r>
            <a:r>
              <a:rPr dirty="0" sz="1350" spc="-13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solidFill>
                  <a:srgbClr val="0F0F0F"/>
                </a:solidFill>
                <a:latin typeface="Courier New"/>
                <a:cs typeface="Courier New"/>
              </a:rPr>
              <a:t>Athletics,</a:t>
            </a:r>
            <a:r>
              <a:rPr dirty="0" sz="1350" spc="-1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latin typeface="Courier New"/>
                <a:cs typeface="Courier New"/>
              </a:rPr>
              <a:t>Badminton,</a:t>
            </a:r>
            <a:r>
              <a:rPr dirty="0" sz="1350" spc="-45">
                <a:latin typeface="Courier New"/>
                <a:cs typeface="Courier New"/>
              </a:rPr>
              <a:t> </a:t>
            </a:r>
            <a:r>
              <a:rPr dirty="0" sz="1350" spc="-35">
                <a:latin typeface="Courier New"/>
                <a:cs typeface="Courier New"/>
              </a:rPr>
              <a:t>Basketball, </a:t>
            </a:r>
            <a:r>
              <a:rPr dirty="0" sz="1350" spc="-75">
                <a:latin typeface="Courier New"/>
                <a:cs typeface="Courier New"/>
              </a:rPr>
              <a:t>Basketball</a:t>
            </a:r>
            <a:r>
              <a:rPr dirty="0" sz="1350" spc="-130">
                <a:latin typeface="Courier New"/>
                <a:cs typeface="Courier New"/>
              </a:rPr>
              <a:t> </a:t>
            </a:r>
            <a:r>
              <a:rPr dirty="0" sz="1350" spc="-20">
                <a:latin typeface="Courier New"/>
                <a:cs typeface="Courier New"/>
              </a:rPr>
              <a:t>3x3,</a:t>
            </a:r>
            <a:r>
              <a:rPr dirty="0" sz="1350" spc="-185">
                <a:latin typeface="Courier New"/>
                <a:cs typeface="Courier New"/>
              </a:rPr>
              <a:t> </a:t>
            </a:r>
            <a:r>
              <a:rPr dirty="0" sz="1350" spc="-75">
                <a:latin typeface="Courier New"/>
                <a:cs typeface="Courier New"/>
              </a:rPr>
              <a:t>Boxing,</a:t>
            </a:r>
            <a:r>
              <a:rPr dirty="0" sz="1350" spc="-125">
                <a:latin typeface="Courier New"/>
                <a:cs typeface="Courier New"/>
              </a:rPr>
              <a:t> </a:t>
            </a:r>
            <a:r>
              <a:rPr dirty="0" sz="1350" spc="-70">
                <a:latin typeface="Courier New"/>
                <a:cs typeface="Courier New"/>
              </a:rPr>
              <a:t>Canoe</a:t>
            </a:r>
            <a:r>
              <a:rPr dirty="0" sz="1350" spc="-135">
                <a:latin typeface="Courier New"/>
                <a:cs typeface="Courier New"/>
              </a:rPr>
              <a:t> </a:t>
            </a:r>
            <a:r>
              <a:rPr dirty="0" sz="1350" spc="-45">
                <a:latin typeface="Courier New"/>
                <a:cs typeface="Courier New"/>
              </a:rPr>
              <a:t>slalom,</a:t>
            </a:r>
            <a:r>
              <a:rPr dirty="0" sz="1350" spc="-160">
                <a:latin typeface="Courier New"/>
                <a:cs typeface="Courier New"/>
              </a:rPr>
              <a:t> </a:t>
            </a:r>
            <a:r>
              <a:rPr dirty="0" sz="1350" spc="-75">
                <a:latin typeface="Courier New"/>
                <a:cs typeface="Courier New"/>
              </a:rPr>
              <a:t>Canoe</a:t>
            </a:r>
            <a:r>
              <a:rPr dirty="0" sz="1350" spc="-125">
                <a:latin typeface="Courier New"/>
                <a:cs typeface="Courier New"/>
              </a:rPr>
              <a:t> </a:t>
            </a:r>
            <a:r>
              <a:rPr dirty="0" sz="1350" spc="-40">
                <a:solidFill>
                  <a:srgbClr val="131313"/>
                </a:solidFill>
                <a:latin typeface="Courier New"/>
                <a:cs typeface="Courier New"/>
              </a:rPr>
              <a:t>Sprint,</a:t>
            </a:r>
            <a:r>
              <a:rPr dirty="0" sz="1350" spc="-8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Road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-70">
                <a:latin typeface="Courier New"/>
                <a:cs typeface="Courier New"/>
              </a:rPr>
              <a:t>Cycling,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Track</a:t>
            </a:r>
            <a:r>
              <a:rPr dirty="0" sz="1350" spc="-120">
                <a:latin typeface="Courier New"/>
                <a:cs typeface="Courier New"/>
              </a:rPr>
              <a:t> </a:t>
            </a:r>
            <a:r>
              <a:rPr dirty="0" sz="1350" spc="-10">
                <a:latin typeface="Courier New"/>
                <a:cs typeface="Courier New"/>
              </a:rPr>
              <a:t>Cycling, </a:t>
            </a:r>
            <a:r>
              <a:rPr dirty="0" sz="1350" spc="-60">
                <a:latin typeface="Courier New"/>
                <a:cs typeface="Courier New"/>
              </a:rPr>
              <a:t>Mountain</a:t>
            </a:r>
            <a:r>
              <a:rPr dirty="0" sz="1350" spc="-145"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0F0F0F"/>
                </a:solidFill>
                <a:latin typeface="Courier New"/>
                <a:cs typeface="Courier New"/>
              </a:rPr>
              <a:t>Biking,</a:t>
            </a:r>
            <a:r>
              <a:rPr dirty="0" sz="1350" spc="-13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31313"/>
                </a:solidFill>
                <a:latin typeface="Courier New"/>
                <a:cs typeface="Courier New"/>
              </a:rPr>
              <a:t>and</a:t>
            </a:r>
            <a:r>
              <a:rPr dirty="0" sz="1350" spc="-14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latin typeface="Courier New"/>
                <a:cs typeface="Courier New"/>
              </a:rPr>
              <a:t>BMX.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350">
                <a:solidFill>
                  <a:srgbClr val="0F0F0F"/>
                </a:solidFill>
                <a:latin typeface="Consolas"/>
                <a:cs typeface="Consolas"/>
              </a:rPr>
              <a:t>How</a:t>
            </a:r>
            <a:r>
              <a:rPr dirty="0" sz="1350" spc="-15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dirty="0" sz="1350">
                <a:latin typeface="Consolas"/>
                <a:cs typeface="Consolas"/>
              </a:rPr>
              <a:t>many</a:t>
            </a:r>
            <a:r>
              <a:rPr dirty="0" sz="1350" spc="65"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0C0C0C"/>
                </a:solidFill>
                <a:latin typeface="Consolas"/>
                <a:cs typeface="Consolas"/>
              </a:rPr>
              <a:t>sports</a:t>
            </a:r>
            <a:r>
              <a:rPr dirty="0" sz="1350" spc="50">
                <a:solidFill>
                  <a:srgbClr val="0C0C0C"/>
                </a:solidFill>
                <a:latin typeface="Consolas"/>
                <a:cs typeface="Consolas"/>
              </a:rPr>
              <a:t> </a:t>
            </a:r>
            <a:r>
              <a:rPr dirty="0" sz="1350">
                <a:latin typeface="Consolas"/>
                <a:cs typeface="Consolas"/>
              </a:rPr>
              <a:t>were</a:t>
            </a:r>
            <a:r>
              <a:rPr dirty="0" sz="1350" spc="125"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131313"/>
                </a:solidFill>
                <a:latin typeface="Consolas"/>
                <a:cs typeface="Consolas"/>
              </a:rPr>
              <a:t>there?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1602" y="3301294"/>
            <a:ext cx="7182484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5">
                <a:solidFill>
                  <a:srgbClr val="131313"/>
                </a:solidFill>
                <a:latin typeface="Calibri"/>
                <a:cs typeface="Calibri"/>
              </a:rPr>
              <a:t>ChatGPT</a:t>
            </a:r>
            <a:r>
              <a:rPr dirty="0" sz="1200" spc="210">
                <a:solidFill>
                  <a:srgbClr val="131313"/>
                </a:solidFill>
                <a:latin typeface="Calibri"/>
                <a:cs typeface="Calibri"/>
              </a:rPr>
              <a:t>  </a:t>
            </a:r>
            <a:r>
              <a:rPr dirty="0" sz="1200" spc="240">
                <a:solidFill>
                  <a:srgbClr val="111111"/>
                </a:solidFill>
                <a:latin typeface="Calibri"/>
                <a:cs typeface="Calibri"/>
              </a:rPr>
              <a:t>sald</a:t>
            </a:r>
            <a:r>
              <a:rPr dirty="0" sz="1200" spc="-1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111111"/>
                </a:solidFill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290"/>
              </a:spcBef>
            </a:pPr>
            <a:r>
              <a:rPr dirty="0" sz="1350" spc="-70">
                <a:latin typeface="Courier New"/>
                <a:cs typeface="Courier New"/>
              </a:rPr>
              <a:t>Based</a:t>
            </a:r>
            <a:r>
              <a:rPr dirty="0" sz="1350" spc="-135">
                <a:latin typeface="Courier New"/>
                <a:cs typeface="Courier New"/>
              </a:rPr>
              <a:t> </a:t>
            </a:r>
            <a:r>
              <a:rPr dirty="0" sz="1350">
                <a:latin typeface="Courier New"/>
                <a:cs typeface="Courier New"/>
              </a:rPr>
              <a:t>on</a:t>
            </a:r>
            <a:r>
              <a:rPr dirty="0" sz="1350" spc="-204"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0F0F0F"/>
                </a:solidFill>
                <a:latin typeface="Courier New"/>
                <a:cs typeface="Courier New"/>
              </a:rPr>
              <a:t>the</a:t>
            </a:r>
            <a:r>
              <a:rPr dirty="0" sz="1350" spc="-18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latin typeface="Courier New"/>
                <a:cs typeface="Courier New"/>
              </a:rPr>
              <a:t>list</a:t>
            </a:r>
            <a:r>
              <a:rPr dirty="0" sz="1350" spc="-125"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31313"/>
                </a:solidFill>
                <a:latin typeface="Courier New"/>
                <a:cs typeface="Courier New"/>
              </a:rPr>
              <a:t>you</a:t>
            </a:r>
            <a:r>
              <a:rPr dirty="0" sz="1350" spc="-13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0C0C0C"/>
                </a:solidFill>
                <a:latin typeface="Courier New"/>
                <a:cs typeface="Courier New"/>
              </a:rPr>
              <a:t>provided,</a:t>
            </a:r>
            <a:r>
              <a:rPr dirty="0" sz="1350" spc="-6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there</a:t>
            </a:r>
            <a:r>
              <a:rPr dirty="0" sz="1350" spc="-110"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131313"/>
                </a:solidFill>
                <a:latin typeface="Courier New"/>
                <a:cs typeface="Courier New"/>
              </a:rPr>
              <a:t>are</a:t>
            </a:r>
            <a:r>
              <a:rPr dirty="0" sz="1350" spc="-15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61616"/>
                </a:solidFill>
                <a:latin typeface="Courier New"/>
                <a:cs typeface="Courier New"/>
              </a:rPr>
              <a:t>12</a:t>
            </a:r>
            <a:r>
              <a:rPr dirty="0" sz="1350" spc="-204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0F0F0F"/>
                </a:solidFill>
                <a:latin typeface="Courier New"/>
                <a:cs typeface="Courier New"/>
              </a:rPr>
              <a:t>sports</a:t>
            </a:r>
            <a:r>
              <a:rPr dirty="0" sz="1350" spc="-145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151515"/>
                </a:solidFill>
                <a:latin typeface="Courier New"/>
                <a:cs typeface="Courier New"/>
              </a:rPr>
              <a:t>for</a:t>
            </a:r>
            <a:r>
              <a:rPr dirty="0" sz="1350" spc="-12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1C1C1C"/>
                </a:solidFill>
                <a:latin typeface="Courier New"/>
                <a:cs typeface="Courier New"/>
              </a:rPr>
              <a:t>the</a:t>
            </a:r>
            <a:r>
              <a:rPr dirty="0" sz="1350" spc="-135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40">
                <a:latin typeface="Courier New"/>
                <a:cs typeface="Courier New"/>
              </a:rPr>
              <a:t>Paris</a:t>
            </a:r>
            <a:r>
              <a:rPr dirty="0" sz="1350" spc="-135">
                <a:latin typeface="Courier New"/>
                <a:cs typeface="Courier New"/>
              </a:rPr>
              <a:t> </a:t>
            </a:r>
            <a:r>
              <a:rPr dirty="0" sz="1350" spc="-20">
                <a:latin typeface="Courier New"/>
                <a:cs typeface="Courier New"/>
              </a:rPr>
              <a:t>Olympics,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03692" y="5302546"/>
            <a:ext cx="15049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5D5D5D"/>
                </a:solidFill>
                <a:latin typeface="Consolas"/>
                <a:cs typeface="Consolas"/>
              </a:rPr>
              <a:t>57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83" y="3158507"/>
            <a:ext cx="8802624" cy="22987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dirty="0" sz="2950" spc="140">
                <a:solidFill>
                  <a:srgbClr val="00AFD8"/>
                </a:solidFill>
                <a:latin typeface="Arial MT"/>
                <a:cs typeface="Arial MT"/>
              </a:rPr>
              <a:t>Prom</a:t>
            </a:r>
            <a:r>
              <a:rPr dirty="0" sz="2950" spc="-550">
                <a:solidFill>
                  <a:srgbClr val="00AFD8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0A8EB"/>
                </a:solidFill>
                <a:latin typeface="Arial MT"/>
                <a:cs typeface="Arial MT"/>
              </a:rPr>
              <a:t>pt</a:t>
            </a:r>
            <a:r>
              <a:rPr dirty="0" sz="2950" spc="310">
                <a:solidFill>
                  <a:srgbClr val="00A8EB"/>
                </a:solidFill>
                <a:latin typeface="Arial MT"/>
                <a:cs typeface="Arial MT"/>
              </a:rPr>
              <a:t> </a:t>
            </a:r>
            <a:r>
              <a:rPr dirty="0" sz="2950" spc="145">
                <a:solidFill>
                  <a:srgbClr val="07A5D1"/>
                </a:solidFill>
                <a:latin typeface="Arial MT"/>
                <a:cs typeface="Arial MT"/>
              </a:rPr>
              <a:t>Stuffing</a:t>
            </a:r>
            <a:r>
              <a:rPr dirty="0" sz="2950" spc="270">
                <a:solidFill>
                  <a:srgbClr val="07A5D1"/>
                </a:solidFill>
                <a:latin typeface="Arial MT"/>
                <a:cs typeface="Arial MT"/>
              </a:rPr>
              <a:t> </a:t>
            </a:r>
            <a:r>
              <a:rPr dirty="0" sz="2950" spc="114">
                <a:solidFill>
                  <a:srgbClr val="15ACC1"/>
                </a:solidFill>
                <a:latin typeface="Arial MT"/>
                <a:cs typeface="Arial MT"/>
              </a:rPr>
              <a:t>Structure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0820" y="1495670"/>
            <a:ext cx="6722745" cy="147193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3020" marR="2844800" indent="-20955">
              <a:lnSpc>
                <a:spcPts val="1440"/>
              </a:lnSpc>
              <a:spcBef>
                <a:spcPts val="295"/>
              </a:spcBef>
            </a:pPr>
            <a:r>
              <a:rPr dirty="0" sz="1350" spc="-70">
                <a:solidFill>
                  <a:srgbClr val="707EA1"/>
                </a:solidFill>
                <a:latin typeface="Courier New"/>
                <a:cs typeface="Courier New"/>
              </a:rPr>
              <a:t>@Val1e(”classpath:/olymuicsZcontext.s</a:t>
            </a:r>
            <a:r>
              <a:rPr dirty="0" sz="1350" spc="70">
                <a:solidFill>
                  <a:srgbClr val="707EA1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707EA1"/>
                </a:solidFill>
                <a:latin typeface="Courier New"/>
                <a:cs typeface="Courier New"/>
              </a:rPr>
              <a:t>”) </a:t>
            </a:r>
            <a:r>
              <a:rPr dirty="0" sz="1350" spc="-75">
                <a:solidFill>
                  <a:srgbClr val="7B2A69"/>
                </a:solidFill>
                <a:latin typeface="Courier New"/>
                <a:cs typeface="Courier New"/>
              </a:rPr>
              <a:t>private</a:t>
            </a:r>
            <a:r>
              <a:rPr dirty="0" sz="1350" spc="-95">
                <a:solidFill>
                  <a:srgbClr val="7B2A69"/>
                </a:solidFill>
                <a:latin typeface="Courier New"/>
                <a:cs typeface="Courier New"/>
              </a:rPr>
              <a:t> </a:t>
            </a:r>
            <a:r>
              <a:rPr dirty="0" sz="1350" spc="-65">
                <a:latin typeface="Courier New"/>
                <a:cs typeface="Courier New"/>
              </a:rPr>
              <a:t>Resource</a:t>
            </a:r>
            <a:r>
              <a:rPr dirty="0" sz="1350" spc="-120">
                <a:latin typeface="Courier New"/>
                <a:cs typeface="Courier New"/>
              </a:rPr>
              <a:t> </a:t>
            </a:r>
            <a:r>
              <a:rPr dirty="0" sz="1350" spc="-10">
                <a:latin typeface="Courier New"/>
                <a:cs typeface="Courier New"/>
              </a:rPr>
              <a:t>queryTemplate;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350">
              <a:latin typeface="Courier New"/>
              <a:cs typeface="Courier New"/>
            </a:endParaRPr>
          </a:p>
          <a:p>
            <a:pPr marL="29845">
              <a:lnSpc>
                <a:spcPct val="100000"/>
              </a:lnSpc>
              <a:spcBef>
                <a:spcPts val="5"/>
              </a:spcBef>
            </a:pPr>
            <a:r>
              <a:rPr dirty="0" sz="1350" spc="-50">
                <a:solidFill>
                  <a:srgbClr val="111111"/>
                </a:solidFill>
                <a:latin typeface="Courier New"/>
                <a:cs typeface="Courier New"/>
              </a:rPr>
              <a:t>Use</a:t>
            </a:r>
            <a:r>
              <a:rPr dirty="0" sz="1350" spc="-15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1A1A1A"/>
                </a:solidFill>
                <a:latin typeface="Courier New"/>
                <a:cs typeface="Courier New"/>
              </a:rPr>
              <a:t>the</a:t>
            </a:r>
            <a:r>
              <a:rPr dirty="0" sz="1350" spc="-12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latin typeface="Courier New"/>
                <a:cs typeface="Courier New"/>
              </a:rPr>
              <a:t>following</a:t>
            </a:r>
            <a:r>
              <a:rPr dirty="0" sz="1350" spc="-120"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181818"/>
                </a:solidFill>
                <a:latin typeface="Courier New"/>
                <a:cs typeface="Courier New"/>
              </a:rPr>
              <a:t>pieces</a:t>
            </a:r>
            <a:r>
              <a:rPr dirty="0" sz="1350" spc="-12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151515"/>
                </a:solidFill>
                <a:latin typeface="Courier New"/>
                <a:cs typeface="Courier New"/>
              </a:rPr>
              <a:t>of</a:t>
            </a:r>
            <a:r>
              <a:rPr dirty="0" sz="1350" spc="-180">
                <a:solidFill>
                  <a:srgbClr val="151515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131313"/>
                </a:solidFill>
                <a:latin typeface="Courier New"/>
                <a:cs typeface="Courier New"/>
              </a:rPr>
              <a:t>context</a:t>
            </a:r>
            <a:r>
              <a:rPr dirty="0" sz="1350" spc="-7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181818"/>
                </a:solidFill>
                <a:latin typeface="Courier New"/>
                <a:cs typeface="Courier New"/>
              </a:rPr>
              <a:t>to</a:t>
            </a:r>
            <a:r>
              <a:rPr dirty="0" sz="1350" spc="-15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latin typeface="Courier New"/>
                <a:cs typeface="Courier New"/>
              </a:rPr>
              <a:t>answer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1C1C1C"/>
                </a:solidFill>
                <a:latin typeface="Courier New"/>
                <a:cs typeface="Courier New"/>
              </a:rPr>
              <a:t>the</a:t>
            </a:r>
            <a:r>
              <a:rPr dirty="0" sz="1350" spc="-155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0C0C0C"/>
                </a:solidFill>
                <a:latin typeface="Courier New"/>
                <a:cs typeface="Courier New"/>
              </a:rPr>
              <a:t>question</a:t>
            </a:r>
            <a:r>
              <a:rPr dirty="0" sz="1350" spc="-114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31313"/>
                </a:solidFill>
                <a:latin typeface="Courier New"/>
                <a:cs typeface="Courier New"/>
              </a:rPr>
              <a:t>at</a:t>
            </a:r>
            <a:r>
              <a:rPr dirty="0" sz="1350" spc="-114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dirty="0" sz="1350" spc="-16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131313"/>
                </a:solidFill>
                <a:latin typeface="Courier New"/>
                <a:cs typeface="Courier New"/>
              </a:rPr>
              <a:t>end.</a:t>
            </a:r>
            <a:endParaRPr sz="135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1205"/>
              </a:spcBef>
            </a:pPr>
            <a:r>
              <a:rPr dirty="0" sz="1450">
                <a:latin typeface="Arial MT"/>
                <a:cs typeface="Arial MT"/>
              </a:rPr>
              <a:t>{contex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t}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08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08A1CA"/>
                </a:solidFill>
                <a:latin typeface="Arial MT"/>
                <a:cs typeface="Arial MT"/>
              </a:rPr>
              <a:t>Using</a:t>
            </a:r>
            <a:r>
              <a:rPr dirty="0" sz="3050" spc="105">
                <a:solidFill>
                  <a:srgbClr val="08A1CA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00A1B3"/>
                </a:solidFill>
                <a:latin typeface="Arial MT"/>
                <a:cs typeface="Arial MT"/>
              </a:rPr>
              <a:t>a</a:t>
            </a:r>
            <a:r>
              <a:rPr dirty="0" sz="3050" spc="95">
                <a:solidFill>
                  <a:srgbClr val="00A1B3"/>
                </a:solidFill>
                <a:latin typeface="Arial MT"/>
                <a:cs typeface="Arial MT"/>
              </a:rPr>
              <a:t> </a:t>
            </a:r>
            <a:r>
              <a:rPr dirty="0" sz="3050" spc="60">
                <a:solidFill>
                  <a:srgbClr val="0EA8BF"/>
                </a:solidFill>
                <a:latin typeface="Arial MT"/>
                <a:cs typeface="Arial MT"/>
              </a:rPr>
              <a:t>Stuffed</a:t>
            </a:r>
            <a:r>
              <a:rPr dirty="0" sz="3050" spc="190">
                <a:solidFill>
                  <a:srgbClr val="0EA8BF"/>
                </a:solidFill>
                <a:latin typeface="Arial MT"/>
                <a:cs typeface="Arial MT"/>
              </a:rPr>
              <a:t> </a:t>
            </a:r>
            <a:r>
              <a:rPr dirty="0" sz="3050" spc="114">
                <a:solidFill>
                  <a:srgbClr val="01A7D6"/>
                </a:solidFill>
                <a:latin typeface="Arial MT"/>
                <a:cs typeface="Arial MT"/>
              </a:rPr>
              <a:t>Prompt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5101" y="1495416"/>
            <a:ext cx="8634095" cy="2560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60"/>
              </a:lnSpc>
              <a:spcBef>
                <a:spcPts val="100"/>
              </a:spcBef>
            </a:pPr>
            <a:r>
              <a:rPr dirty="0" sz="1400" spc="-10">
                <a:latin typeface="Consolas"/>
                <a:cs typeface="Consolas"/>
              </a:rPr>
              <a:t>chatClient.prompt()</a:t>
            </a:r>
            <a:endParaRPr sz="1400">
              <a:latin typeface="Consolas"/>
              <a:cs typeface="Consolas"/>
            </a:endParaRPr>
          </a:p>
          <a:p>
            <a:pPr marL="212725">
              <a:lnSpc>
                <a:spcPts val="1410"/>
              </a:lnSpc>
              <a:tabLst>
                <a:tab pos="2030730" algn="l"/>
              </a:tabLst>
            </a:pPr>
            <a:r>
              <a:rPr dirty="0" sz="1350">
                <a:latin typeface="Consolas"/>
                <a:cs typeface="Consolas"/>
              </a:rPr>
              <a:t>.user(</a:t>
            </a:r>
            <a:r>
              <a:rPr dirty="0" sz="1350" spc="85">
                <a:latin typeface="Consolas"/>
                <a:cs typeface="Consolas"/>
              </a:rPr>
              <a:t> </a:t>
            </a:r>
            <a:r>
              <a:rPr dirty="0" sz="1350">
                <a:latin typeface="Consolas"/>
                <a:cs typeface="Consolas"/>
              </a:rPr>
              <a:t>userspec</a:t>
            </a:r>
            <a:r>
              <a:rPr dirty="0" sz="1350" spc="20">
                <a:latin typeface="Consolas"/>
                <a:cs typeface="Consolas"/>
              </a:rPr>
              <a:t> </a:t>
            </a:r>
            <a:r>
              <a:rPr dirty="0" sz="1350" spc="-50">
                <a:solidFill>
                  <a:srgbClr val="131313"/>
                </a:solidFill>
                <a:latin typeface="Consolas"/>
                <a:cs typeface="Consolas"/>
              </a:rPr>
              <a:t>-</a:t>
            </a:r>
            <a:r>
              <a:rPr dirty="0" sz="1350">
                <a:solidFill>
                  <a:srgbClr val="131313"/>
                </a:solidFill>
                <a:latin typeface="Consolas"/>
                <a:cs typeface="Consolas"/>
              </a:rPr>
              <a:t>	</a:t>
            </a:r>
            <a:r>
              <a:rPr dirty="0" sz="1350" spc="-10">
                <a:latin typeface="Consolas"/>
                <a:cs typeface="Consolas"/>
              </a:rPr>
              <a:t>userspec.text(this.queryTemplate)</a:t>
            </a:r>
            <a:endParaRPr sz="1350">
              <a:latin typeface="Consolas"/>
              <a:cs typeface="Consolas"/>
            </a:endParaRPr>
          </a:p>
          <a:p>
            <a:pPr marL="400685">
              <a:lnSpc>
                <a:spcPts val="1455"/>
              </a:lnSpc>
            </a:pPr>
            <a:r>
              <a:rPr dirty="0" sz="1400" spc="-90">
                <a:solidFill>
                  <a:srgbClr val="111111"/>
                </a:solidFill>
                <a:latin typeface="Courier New"/>
                <a:cs typeface="Courier New"/>
              </a:rPr>
              <a:t>.param(</a:t>
            </a:r>
            <a:r>
              <a:rPr dirty="0" sz="1400" spc="-4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400" spc="-105">
                <a:solidFill>
                  <a:srgbClr val="859E82"/>
                </a:solidFill>
                <a:latin typeface="Courier New"/>
                <a:cs typeface="Courier New"/>
              </a:rPr>
              <a:t>"context"</a:t>
            </a:r>
            <a:r>
              <a:rPr dirty="0" sz="1400" spc="-95">
                <a:solidFill>
                  <a:srgbClr val="859E82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111111"/>
                </a:solidFill>
                <a:latin typeface="Courier New"/>
                <a:cs typeface="Courier New"/>
              </a:rPr>
              <a:t>,</a:t>
            </a:r>
            <a:r>
              <a:rPr dirty="0" sz="1400" spc="-21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6E856B"/>
                </a:solidFill>
                <a:latin typeface="Courier New"/>
                <a:cs typeface="Courier New"/>
              </a:rPr>
              <a:t>"Archery,</a:t>
            </a:r>
            <a:r>
              <a:rPr dirty="0" sz="1400" spc="-45">
                <a:solidFill>
                  <a:srgbClr val="6E856B"/>
                </a:solidFill>
                <a:latin typeface="Courier New"/>
                <a:cs typeface="Courier New"/>
              </a:rPr>
              <a:t> </a:t>
            </a:r>
            <a:r>
              <a:rPr dirty="0" sz="1400" spc="-85">
                <a:solidFill>
                  <a:srgbClr val="678A70"/>
                </a:solidFill>
                <a:latin typeface="Courier New"/>
                <a:cs typeface="Courier New"/>
              </a:rPr>
              <a:t>athletics,</a:t>
            </a:r>
            <a:r>
              <a:rPr dirty="0" sz="1400" spc="50">
                <a:solidFill>
                  <a:srgbClr val="678A70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7B9577"/>
                </a:solidFill>
                <a:latin typeface="Courier New"/>
                <a:cs typeface="Courier New"/>
              </a:rPr>
              <a:t>badminton,</a:t>
            </a:r>
            <a:r>
              <a:rPr dirty="0" sz="1400" spc="-5">
                <a:solidFill>
                  <a:srgbClr val="7B9577"/>
                </a:solidFill>
                <a:latin typeface="Courier New"/>
                <a:cs typeface="Courier New"/>
              </a:rPr>
              <a:t> </a:t>
            </a:r>
            <a:r>
              <a:rPr dirty="0" sz="1400" spc="-105">
                <a:solidFill>
                  <a:srgbClr val="527C52"/>
                </a:solidFill>
                <a:latin typeface="Courier New"/>
                <a:cs typeface="Courier New"/>
              </a:rPr>
              <a:t>basketball </a:t>
            </a:r>
            <a:r>
              <a:rPr dirty="0" sz="1400">
                <a:solidFill>
                  <a:srgbClr val="808E7E"/>
                </a:solidFill>
                <a:latin typeface="Courier New"/>
                <a:cs typeface="Courier New"/>
              </a:rPr>
              <a:t>,</a:t>
            </a:r>
            <a:r>
              <a:rPr dirty="0" sz="1400" spc="-60">
                <a:solidFill>
                  <a:srgbClr val="808E7E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232323"/>
                </a:solidFill>
                <a:latin typeface="Courier New"/>
                <a:cs typeface="Courier New"/>
              </a:rPr>
              <a:t>boxing")</a:t>
            </a:r>
            <a:endParaRPr sz="1400">
              <a:latin typeface="Courier New"/>
              <a:cs typeface="Courier New"/>
            </a:endParaRPr>
          </a:p>
          <a:p>
            <a:pPr marL="400685">
              <a:lnSpc>
                <a:spcPts val="1550"/>
              </a:lnSpc>
            </a:pPr>
            <a:r>
              <a:rPr dirty="0" sz="1400" spc="-90">
                <a:solidFill>
                  <a:srgbClr val="111111"/>
                </a:solidFill>
                <a:latin typeface="Courier New"/>
                <a:cs typeface="Courier New"/>
              </a:rPr>
              <a:t>.param(</a:t>
            </a:r>
            <a:r>
              <a:rPr dirty="0" sz="1400" spc="-12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400" spc="-100">
                <a:solidFill>
                  <a:srgbClr val="8EA791"/>
                </a:solidFill>
                <a:latin typeface="Courier New"/>
                <a:cs typeface="Courier New"/>
              </a:rPr>
              <a:t>"question"</a:t>
            </a:r>
            <a:r>
              <a:rPr dirty="0" sz="1400" spc="-110">
                <a:solidFill>
                  <a:srgbClr val="8EA791"/>
                </a:solidFill>
                <a:latin typeface="Courier New"/>
                <a:cs typeface="Courier New"/>
              </a:rPr>
              <a:t> </a:t>
            </a:r>
            <a:r>
              <a:rPr dirty="0" sz="1400" spc="-65">
                <a:latin typeface="Courier New"/>
                <a:cs typeface="Courier New"/>
              </a:rPr>
              <a:t>,"How</a:t>
            </a:r>
            <a:r>
              <a:rPr dirty="0" sz="1400" spc="-135">
                <a:latin typeface="Courier New"/>
                <a:cs typeface="Courier New"/>
              </a:rPr>
              <a:t> </a:t>
            </a:r>
            <a:r>
              <a:rPr dirty="0" sz="1400" spc="-100">
                <a:solidFill>
                  <a:srgbClr val="A8A8A8"/>
                </a:solidFill>
                <a:latin typeface="Courier New"/>
                <a:cs typeface="Courier New"/>
              </a:rPr>
              <a:t>many</a:t>
            </a:r>
            <a:r>
              <a:rPr dirty="0" sz="1400" spc="-110">
                <a:solidFill>
                  <a:srgbClr val="A8A8A8"/>
                </a:solidFill>
                <a:latin typeface="Courier New"/>
                <a:cs typeface="Courier New"/>
              </a:rPr>
              <a:t> </a:t>
            </a:r>
            <a:r>
              <a:rPr dirty="0" sz="1400" spc="-90">
                <a:solidFill>
                  <a:srgbClr val="7C977C"/>
                </a:solidFill>
                <a:latin typeface="Courier New"/>
                <a:cs typeface="Courier New"/>
              </a:rPr>
              <a:t>sports</a:t>
            </a:r>
            <a:r>
              <a:rPr dirty="0" sz="1400" spc="-120">
                <a:solidFill>
                  <a:srgbClr val="7C977C"/>
                </a:solidFill>
                <a:latin typeface="Courier New"/>
                <a:cs typeface="Courier New"/>
              </a:rPr>
              <a:t> </a:t>
            </a:r>
            <a:r>
              <a:rPr dirty="0" sz="1400" spc="-40">
                <a:solidFill>
                  <a:srgbClr val="6B8769"/>
                </a:solidFill>
                <a:latin typeface="Courier New"/>
                <a:cs typeface="Courier New"/>
              </a:rPr>
              <a:t>are</a:t>
            </a:r>
            <a:r>
              <a:rPr dirty="0" sz="1400" spc="-114">
                <a:solidFill>
                  <a:srgbClr val="6B8769"/>
                </a:solidFill>
                <a:latin typeface="Courier New"/>
                <a:cs typeface="Courier New"/>
              </a:rPr>
              <a:t> </a:t>
            </a:r>
            <a:r>
              <a:rPr dirty="0" sz="1400" spc="-110">
                <a:solidFill>
                  <a:srgbClr val="607E5D"/>
                </a:solidFill>
                <a:latin typeface="Courier New"/>
                <a:cs typeface="Courier New"/>
              </a:rPr>
              <a:t>being</a:t>
            </a:r>
            <a:r>
              <a:rPr dirty="0" sz="1400" spc="-100">
                <a:solidFill>
                  <a:srgbClr val="607E5D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6E9570"/>
                </a:solidFill>
                <a:latin typeface="Courier New"/>
                <a:cs typeface="Courier New"/>
              </a:rPr>
              <a:t>included</a:t>
            </a:r>
            <a:r>
              <a:rPr dirty="0" sz="1400">
                <a:solidFill>
                  <a:srgbClr val="6E9570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749374"/>
                </a:solidFill>
                <a:latin typeface="Courier New"/>
                <a:cs typeface="Courier New"/>
              </a:rPr>
              <a:t>in</a:t>
            </a:r>
            <a:r>
              <a:rPr dirty="0" sz="1400" spc="-125">
                <a:solidFill>
                  <a:srgbClr val="749374"/>
                </a:solidFill>
                <a:latin typeface="Courier New"/>
                <a:cs typeface="Courier New"/>
              </a:rPr>
              <a:t> </a:t>
            </a:r>
            <a:r>
              <a:rPr dirty="0" sz="1400" spc="-105">
                <a:solidFill>
                  <a:srgbClr val="669562"/>
                </a:solidFill>
                <a:latin typeface="Courier New"/>
                <a:cs typeface="Courier New"/>
              </a:rPr>
              <a:t>the </a:t>
            </a:r>
            <a:r>
              <a:rPr dirty="0" sz="1400" spc="-80">
                <a:solidFill>
                  <a:srgbClr val="6D8E69"/>
                </a:solidFill>
                <a:latin typeface="Courier New"/>
                <a:cs typeface="Courier New"/>
              </a:rPr>
              <a:t>2024</a:t>
            </a:r>
            <a:r>
              <a:rPr dirty="0" sz="1400" spc="-215">
                <a:solidFill>
                  <a:srgbClr val="6D8E69"/>
                </a:solidFill>
                <a:latin typeface="Courier New"/>
                <a:cs typeface="Courier New"/>
              </a:rPr>
              <a:t> </a:t>
            </a:r>
            <a:r>
              <a:rPr dirty="0" sz="1400" spc="-75">
                <a:solidFill>
                  <a:srgbClr val="729070"/>
                </a:solidFill>
                <a:latin typeface="Courier New"/>
                <a:cs typeface="Courier New"/>
              </a:rPr>
              <a:t>summer</a:t>
            </a:r>
            <a:r>
              <a:rPr dirty="0" sz="1400" spc="-105">
                <a:solidFill>
                  <a:srgbClr val="729070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111111"/>
                </a:solidFill>
                <a:latin typeface="Courier New"/>
                <a:cs typeface="Courier New"/>
              </a:rPr>
              <a:t>Olympics?”)</a:t>
            </a:r>
            <a:endParaRPr sz="1400">
              <a:latin typeface="Courier New"/>
              <a:cs typeface="Courier New"/>
            </a:endParaRPr>
          </a:p>
          <a:p>
            <a:pPr marL="427990">
              <a:lnSpc>
                <a:spcPct val="100000"/>
              </a:lnSpc>
              <a:spcBef>
                <a:spcPts val="1275"/>
              </a:spcBef>
            </a:pPr>
            <a:r>
              <a:rPr dirty="0" sz="1350">
                <a:solidFill>
                  <a:srgbClr val="0F0F0F"/>
                </a:solidFill>
                <a:latin typeface="Calibri"/>
                <a:cs typeface="Calibri"/>
              </a:rPr>
              <a:t>.</a:t>
            </a:r>
            <a:r>
              <a:rPr dirty="0" sz="1350" spc="-7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350" spc="265">
                <a:latin typeface="Calibri"/>
                <a:cs typeface="Calibri"/>
              </a:rPr>
              <a:t>call(</a:t>
            </a:r>
            <a:r>
              <a:rPr dirty="0" sz="1350" spc="-70">
                <a:latin typeface="Calibri"/>
                <a:cs typeface="Calibri"/>
              </a:rPr>
              <a:t> </a:t>
            </a:r>
            <a:r>
              <a:rPr dirty="0" sz="1350" spc="245">
                <a:solidFill>
                  <a:srgbClr val="212121"/>
                </a:solidFill>
                <a:latin typeface="Calibri"/>
                <a:cs typeface="Calibri"/>
              </a:rPr>
              <a:t>)</a:t>
            </a:r>
            <a:r>
              <a:rPr dirty="0" sz="1350" spc="-1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350" spc="145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1350" spc="145">
                <a:latin typeface="Calibri"/>
                <a:cs typeface="Calibri"/>
              </a:rPr>
              <a:t>content(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90">
                <a:solidFill>
                  <a:srgbClr val="161616"/>
                </a:solidFill>
                <a:latin typeface="Calibri"/>
                <a:cs typeface="Calibri"/>
              </a:rPr>
              <a:t>)</a:t>
            </a:r>
            <a:r>
              <a:rPr dirty="0" sz="1350" spc="-1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0F0F0F"/>
                </a:solidFill>
                <a:latin typeface="Calibri"/>
                <a:cs typeface="Calibri"/>
              </a:rPr>
              <a:t>;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3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</a:pPr>
            <a:r>
              <a:rPr dirty="0" sz="1400" spc="-100">
                <a:latin typeface="Courier New"/>
                <a:cs typeface="Courier New"/>
              </a:rPr>
              <a:t>Use</a:t>
            </a:r>
            <a:r>
              <a:rPr dirty="0" sz="1400" spc="-110">
                <a:latin typeface="Courier New"/>
                <a:cs typeface="Courier New"/>
              </a:rPr>
              <a:t> </a:t>
            </a:r>
            <a:r>
              <a:rPr dirty="0" sz="1400" spc="-120">
                <a:latin typeface="Courier New"/>
                <a:cs typeface="Courier New"/>
              </a:rPr>
              <a:t>the</a:t>
            </a:r>
            <a:r>
              <a:rPr dirty="0" sz="1400" spc="-105">
                <a:latin typeface="Courier New"/>
                <a:cs typeface="Courier New"/>
              </a:rPr>
              <a:t> </a:t>
            </a:r>
            <a:r>
              <a:rPr dirty="0" sz="1400" spc="-70">
                <a:latin typeface="Courier New"/>
                <a:cs typeface="Courier New"/>
              </a:rPr>
              <a:t>following</a:t>
            </a:r>
            <a:r>
              <a:rPr dirty="0" sz="1400" spc="-140">
                <a:latin typeface="Courier New"/>
                <a:cs typeface="Courier New"/>
              </a:rPr>
              <a:t> </a:t>
            </a:r>
            <a:r>
              <a:rPr dirty="0" sz="1400" spc="-110">
                <a:solidFill>
                  <a:srgbClr val="0E0E0E"/>
                </a:solidFill>
                <a:latin typeface="Courier New"/>
                <a:cs typeface="Courier New"/>
              </a:rPr>
              <a:t>pieces</a:t>
            </a:r>
            <a:r>
              <a:rPr dirty="0" sz="1400" spc="-10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400" spc="-85">
                <a:latin typeface="Courier New"/>
                <a:cs typeface="Courier New"/>
              </a:rPr>
              <a:t>of</a:t>
            </a:r>
            <a:r>
              <a:rPr dirty="0" sz="1400" spc="-125">
                <a:latin typeface="Courier New"/>
                <a:cs typeface="Courier New"/>
              </a:rPr>
              <a:t> </a:t>
            </a:r>
            <a:r>
              <a:rPr dirty="0" sz="1400" spc="-85">
                <a:latin typeface="Courier New"/>
                <a:cs typeface="Courier New"/>
              </a:rPr>
              <a:t>context</a:t>
            </a:r>
            <a:r>
              <a:rPr dirty="0" sz="1400" spc="-105">
                <a:latin typeface="Courier New"/>
                <a:cs typeface="Courier New"/>
              </a:rPr>
              <a:t> </a:t>
            </a:r>
            <a:r>
              <a:rPr dirty="0" sz="1400" spc="-100">
                <a:solidFill>
                  <a:srgbClr val="1C1C1C"/>
                </a:solidFill>
                <a:latin typeface="Courier New"/>
                <a:cs typeface="Courier New"/>
              </a:rPr>
              <a:t>to</a:t>
            </a:r>
            <a:r>
              <a:rPr dirty="0" sz="1400" spc="-130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400" spc="-80">
                <a:latin typeface="Courier New"/>
                <a:cs typeface="Courier New"/>
              </a:rPr>
              <a:t>answer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111111"/>
                </a:solidFill>
                <a:latin typeface="Courier New"/>
                <a:cs typeface="Courier New"/>
              </a:rPr>
              <a:t>the</a:t>
            </a:r>
            <a:r>
              <a:rPr dirty="0" sz="1400" spc="-114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0F0F0F"/>
                </a:solidFill>
                <a:latin typeface="Courier New"/>
                <a:cs typeface="Courier New"/>
              </a:rPr>
              <a:t>question</a:t>
            </a:r>
            <a:r>
              <a:rPr dirty="0" sz="1400" spc="-3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161616"/>
                </a:solidFill>
                <a:latin typeface="Courier New"/>
                <a:cs typeface="Courier New"/>
              </a:rPr>
              <a:t>at</a:t>
            </a:r>
            <a:r>
              <a:rPr dirty="0" sz="1400" spc="-125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1F1F1F"/>
                </a:solidFill>
                <a:latin typeface="Courier New"/>
                <a:cs typeface="Courier New"/>
              </a:rPr>
              <a:t>the</a:t>
            </a:r>
            <a:r>
              <a:rPr dirty="0" sz="1400" spc="-114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E0E0E"/>
                </a:solidFill>
                <a:latin typeface="Courier New"/>
                <a:cs typeface="Courier New"/>
              </a:rPr>
              <a:t>end.</a:t>
            </a:r>
            <a:endParaRPr sz="1400">
              <a:latin typeface="Courier New"/>
              <a:cs typeface="Courier New"/>
            </a:endParaRPr>
          </a:p>
          <a:p>
            <a:pPr marL="18415">
              <a:lnSpc>
                <a:spcPct val="100000"/>
              </a:lnSpc>
              <a:spcBef>
                <a:spcPts val="1200"/>
              </a:spcBef>
            </a:pPr>
            <a:r>
              <a:rPr dirty="0" sz="1450" spc="-140">
                <a:latin typeface="Courier New"/>
                <a:cs typeface="Courier New"/>
              </a:rPr>
              <a:t>Archery,</a:t>
            </a:r>
            <a:r>
              <a:rPr dirty="0" sz="1450" spc="-80">
                <a:latin typeface="Courier New"/>
                <a:cs typeface="Courier New"/>
              </a:rPr>
              <a:t> </a:t>
            </a:r>
            <a:r>
              <a:rPr dirty="0" sz="1450" spc="-125">
                <a:latin typeface="Courier New"/>
                <a:cs typeface="Courier New"/>
              </a:rPr>
              <a:t>athletics,</a:t>
            </a:r>
            <a:r>
              <a:rPr dirty="0" sz="1450" spc="-85">
                <a:latin typeface="Courier New"/>
                <a:cs typeface="Courier New"/>
              </a:rPr>
              <a:t> </a:t>
            </a:r>
            <a:r>
              <a:rPr dirty="0" sz="1450" spc="-145">
                <a:solidFill>
                  <a:srgbClr val="111111"/>
                </a:solidFill>
                <a:latin typeface="Courier New"/>
                <a:cs typeface="Courier New"/>
              </a:rPr>
              <a:t>badminton,</a:t>
            </a:r>
            <a:r>
              <a:rPr dirty="0" sz="1450" spc="1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450" spc="-150">
                <a:latin typeface="Courier New"/>
                <a:cs typeface="Courier New"/>
              </a:rPr>
              <a:t>basketball</a:t>
            </a:r>
            <a:r>
              <a:rPr dirty="0" sz="1450" spc="-95"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212121"/>
                </a:solidFill>
                <a:latin typeface="Courier New"/>
                <a:cs typeface="Courier New"/>
              </a:rPr>
              <a:t>,</a:t>
            </a:r>
            <a:r>
              <a:rPr dirty="0" sz="1450" spc="-7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0E0E0E"/>
                </a:solidFill>
                <a:latin typeface="Courier New"/>
                <a:cs typeface="Courier New"/>
              </a:rPr>
              <a:t>boxing</a:t>
            </a:r>
            <a:endParaRPr sz="1450">
              <a:latin typeface="Courier New"/>
              <a:cs typeface="Courier New"/>
            </a:endParaRPr>
          </a:p>
          <a:p>
            <a:pPr marL="17145">
              <a:lnSpc>
                <a:spcPct val="100000"/>
              </a:lnSpc>
              <a:spcBef>
                <a:spcPts val="1195"/>
              </a:spcBef>
            </a:pPr>
            <a:r>
              <a:rPr dirty="0" sz="1350" spc="-70">
                <a:solidFill>
                  <a:srgbClr val="0C0C0C"/>
                </a:solidFill>
                <a:latin typeface="Courier New"/>
                <a:cs typeface="Courier New"/>
              </a:rPr>
              <a:t>Question:</a:t>
            </a:r>
            <a:r>
              <a:rPr dirty="0" sz="1350" spc="-13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C1C1C"/>
                </a:solidFill>
                <a:latin typeface="Courier New"/>
                <a:cs typeface="Courier New"/>
              </a:rPr>
              <a:t>How</a:t>
            </a:r>
            <a:r>
              <a:rPr dirty="0" sz="1350" spc="-204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161616"/>
                </a:solidFill>
                <a:latin typeface="Courier New"/>
                <a:cs typeface="Courier New"/>
              </a:rPr>
              <a:t>many</a:t>
            </a:r>
            <a:r>
              <a:rPr dirty="0" sz="1350" spc="-120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latin typeface="Courier New"/>
                <a:cs typeface="Courier New"/>
              </a:rPr>
              <a:t>sports</a:t>
            </a:r>
            <a:r>
              <a:rPr dirty="0" sz="1350" spc="-150"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81818"/>
                </a:solidFill>
                <a:latin typeface="Courier New"/>
                <a:cs typeface="Courier New"/>
              </a:rPr>
              <a:t>are</a:t>
            </a:r>
            <a:r>
              <a:rPr dirty="0" sz="1350" spc="-80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0E0E0E"/>
                </a:solidFill>
                <a:latin typeface="Courier New"/>
                <a:cs typeface="Courier New"/>
              </a:rPr>
              <a:t>being</a:t>
            </a:r>
            <a:r>
              <a:rPr dirty="0" sz="1350" spc="-10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latin typeface="Courier New"/>
                <a:cs typeface="Courier New"/>
              </a:rPr>
              <a:t>included</a:t>
            </a:r>
            <a:r>
              <a:rPr dirty="0" sz="1350" spc="-20"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A1A1A"/>
                </a:solidFill>
                <a:latin typeface="Courier New"/>
                <a:cs typeface="Courier New"/>
              </a:rPr>
              <a:t>in</a:t>
            </a:r>
            <a:r>
              <a:rPr dirty="0" sz="1350" spc="-15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131313"/>
                </a:solidFill>
                <a:latin typeface="Courier New"/>
                <a:cs typeface="Courier New"/>
              </a:rPr>
              <a:t>the</a:t>
            </a:r>
            <a:r>
              <a:rPr dirty="0" sz="1350" spc="-14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latin typeface="Courier New"/>
                <a:cs typeface="Courier New"/>
              </a:rPr>
              <a:t>2024</a:t>
            </a:r>
            <a:r>
              <a:rPr dirty="0" sz="1350" spc="-155"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1A1A1A"/>
                </a:solidFill>
                <a:latin typeface="Courier New"/>
                <a:cs typeface="Courier New"/>
              </a:rPr>
              <a:t>Summer</a:t>
            </a:r>
            <a:r>
              <a:rPr dirty="0" sz="1350" spc="-8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latin typeface="Courier New"/>
                <a:cs typeface="Courier New"/>
              </a:rPr>
              <a:t>Olympics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8254" y="5289588"/>
            <a:ext cx="21805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F4F4F"/>
                </a:solidFill>
                <a:latin typeface="Arial MT"/>
                <a:cs typeface="Arial MT"/>
              </a:rPr>
              <a:t>Intelligent</a:t>
            </a:r>
            <a:r>
              <a:rPr dirty="0" sz="1100" spc="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25252"/>
                </a:solidFill>
                <a:latin typeface="Arial MT"/>
                <a:cs typeface="Arial MT"/>
              </a:rPr>
              <a:t>Applications</a:t>
            </a:r>
            <a:r>
              <a:rPr dirty="0" sz="1100" spc="-2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100" spc="-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Arial MT"/>
                <a:cs typeface="Arial MT"/>
              </a:rPr>
              <a:t>Sprinp</a:t>
            </a:r>
            <a:r>
              <a:rPr dirty="0" sz="1100" spc="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88619" y="5289588"/>
            <a:ext cx="1733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5">
                <a:solidFill>
                  <a:srgbClr val="4D4D4D"/>
                </a:solidFill>
                <a:latin typeface="Courier New"/>
                <a:cs typeface="Courier New"/>
              </a:rPr>
              <a:t>59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0672" y="3810941"/>
            <a:ext cx="999744" cy="116462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83" y="1749983"/>
            <a:ext cx="2005583" cy="111584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9679" y="1749983"/>
            <a:ext cx="1121664" cy="112194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4976" y="2292662"/>
            <a:ext cx="835151" cy="6707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5471" y="1737789"/>
            <a:ext cx="1828800" cy="1079258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303776" y="2303332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7992" y="0"/>
                </a:lnTo>
              </a:path>
            </a:pathLst>
          </a:custGeom>
          <a:ln w="15243">
            <a:solidFill>
              <a:srgbClr val="5757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50">
                <a:solidFill>
                  <a:srgbClr val="009ED8"/>
                </a:solidFill>
                <a:latin typeface="Arial MT"/>
                <a:cs typeface="Arial MT"/>
              </a:rPr>
              <a:t>Application</a:t>
            </a:r>
            <a:r>
              <a:rPr dirty="0" sz="3250" spc="200">
                <a:solidFill>
                  <a:srgbClr val="009ED8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0095BF"/>
                </a:solidFill>
                <a:latin typeface="Arial MT"/>
                <a:cs typeface="Arial MT"/>
              </a:rPr>
              <a:t>Architecture</a:t>
            </a:r>
            <a:r>
              <a:rPr dirty="0" sz="3250" spc="165">
                <a:solidFill>
                  <a:srgbClr val="0095BF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0AA3B1"/>
                </a:solidFill>
                <a:latin typeface="Arial MT"/>
                <a:cs typeface="Arial MT"/>
              </a:rPr>
              <a:t>-</a:t>
            </a:r>
            <a:r>
              <a:rPr dirty="0" sz="3250" spc="-40">
                <a:solidFill>
                  <a:srgbClr val="0AA3B1"/>
                </a:solidFill>
                <a:latin typeface="Arial MT"/>
                <a:cs typeface="Arial MT"/>
              </a:rPr>
              <a:t> </a:t>
            </a:r>
            <a:r>
              <a:rPr dirty="0" sz="3250" spc="-385">
                <a:solidFill>
                  <a:srgbClr val="00A7C6"/>
                </a:solidFill>
                <a:latin typeface="Arial MT"/>
                <a:cs typeface="Arial MT"/>
              </a:rPr>
              <a:t>RAG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73323" y="1855166"/>
            <a:ext cx="1301750" cy="918210"/>
          </a:xfrm>
          <a:prstGeom prst="rect">
            <a:avLst/>
          </a:prstGeom>
          <a:ln w="9144">
            <a:solidFill>
              <a:srgbClr val="606060"/>
            </a:solidFill>
          </a:ln>
        </p:spPr>
        <p:txBody>
          <a:bodyPr wrap="square" lIns="0" tIns="234950" rIns="0" bIns="0" rtlCol="0" vert="horz">
            <a:spAutoFit/>
          </a:bodyPr>
          <a:lstStyle/>
          <a:p>
            <a:pPr marL="607695">
              <a:lnSpc>
                <a:spcPct val="100000"/>
              </a:lnSpc>
              <a:spcBef>
                <a:spcPts val="1850"/>
              </a:spcBef>
            </a:pPr>
            <a:r>
              <a:rPr dirty="0" sz="2050" spc="-10">
                <a:solidFill>
                  <a:srgbClr val="131313"/>
                </a:solidFill>
                <a:latin typeface="Arial MT"/>
                <a:cs typeface="Arial MT"/>
              </a:rPr>
              <a:t>,..</a:t>
            </a:r>
            <a:r>
              <a:rPr dirty="0" sz="2050" spc="-26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670">
                <a:solidFill>
                  <a:srgbClr val="131313"/>
                </a:solidFill>
                <a:latin typeface="Arial MT"/>
                <a:cs typeface="Arial MT"/>
              </a:rPr>
              <a:t>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8846" y="5295940"/>
            <a:ext cx="21799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Intelligent</a:t>
            </a:r>
            <a:r>
              <a:rPr dirty="0" sz="1050" spc="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545454"/>
                </a:solidFill>
                <a:latin typeface="Arial MT"/>
                <a:cs typeface="Arial MT"/>
              </a:rPr>
              <a:t>Applications</a:t>
            </a:r>
            <a:r>
              <a:rPr dirty="0" sz="1050" spc="1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050" spc="-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545454"/>
                </a:solidFill>
                <a:latin typeface="Arial MT"/>
                <a:cs typeface="Arial MT"/>
              </a:rPr>
              <a:t>Spring</a:t>
            </a:r>
            <a:r>
              <a:rPr dirty="0" sz="1050" spc="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277200" y="5289588"/>
            <a:ext cx="1835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D4D4D"/>
                </a:solidFill>
                <a:latin typeface="Courier New"/>
                <a:cs typeface="Courier New"/>
              </a:rPr>
              <a:t>60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21791" y="384143"/>
            <a:ext cx="8126095" cy="4914900"/>
            <a:chOff x="621791" y="384143"/>
            <a:chExt cx="8126095" cy="4914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968" y="384143"/>
              <a:ext cx="7479792" cy="491458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6255" y="634140"/>
              <a:ext cx="128015" cy="23780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1408" y="634140"/>
              <a:ext cx="134112" cy="23780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" y="609750"/>
              <a:ext cx="2395728" cy="262192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31664" y="5353609"/>
            <a:ext cx="42672" cy="8536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08254" y="5289588"/>
            <a:ext cx="21805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B4B4B"/>
                </a:solidFill>
                <a:latin typeface="Arial MT"/>
                <a:cs typeface="Arial MT"/>
              </a:rPr>
              <a:t>Intelligent</a:t>
            </a:r>
            <a:r>
              <a:rPr dirty="0" sz="1100" spc="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05050"/>
                </a:solidFill>
                <a:latin typeface="Arial MT"/>
                <a:cs typeface="Arial MT"/>
              </a:rPr>
              <a:t>Applications</a:t>
            </a:r>
            <a:r>
              <a:rPr dirty="0" sz="1100" spc="-1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94949"/>
                </a:solidFill>
                <a:latin typeface="Arial MT"/>
                <a:cs typeface="Arial MT"/>
              </a:rPr>
              <a:t>with</a:t>
            </a:r>
            <a:r>
              <a:rPr dirty="0" sz="1100" spc="-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606060"/>
                </a:solidFill>
                <a:latin typeface="Arial MT"/>
                <a:cs typeface="Arial MT"/>
              </a:rPr>
              <a:t>Spring</a:t>
            </a:r>
            <a:r>
              <a:rPr dirty="0" sz="1100" spc="5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93978" y="5295940"/>
            <a:ext cx="16637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95959"/>
                </a:solidFill>
                <a:latin typeface="Consolas"/>
                <a:cs typeface="Consolas"/>
              </a:rPr>
              <a:t>62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100"/>
              </a:spcBef>
            </a:pPr>
            <a:r>
              <a:rPr dirty="0" sz="3050" spc="110">
                <a:solidFill>
                  <a:srgbClr val="08A3D4"/>
                </a:solidFill>
                <a:latin typeface="Arial MT"/>
                <a:cs typeface="Arial MT"/>
              </a:rPr>
              <a:t>Definition</a:t>
            </a:r>
            <a:r>
              <a:rPr dirty="0" sz="3050" spc="5">
                <a:solidFill>
                  <a:srgbClr val="08A3D4"/>
                </a:solidFill>
                <a:latin typeface="Arial MT"/>
                <a:cs typeface="Arial MT"/>
              </a:rPr>
              <a:t> </a:t>
            </a:r>
            <a:r>
              <a:rPr dirty="0" sz="3050" spc="70">
                <a:solidFill>
                  <a:srgbClr val="16ACC3"/>
                </a:solidFill>
                <a:latin typeface="Arial MT"/>
                <a:cs typeface="Arial MT"/>
              </a:rPr>
              <a:t>of</a:t>
            </a:r>
            <a:r>
              <a:rPr dirty="0" sz="3050" spc="-95">
                <a:solidFill>
                  <a:srgbClr val="16ACC3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00AAC3"/>
                </a:solidFill>
                <a:latin typeface="Arial MT"/>
                <a:cs typeface="Arial MT"/>
              </a:rPr>
              <a:t>a</a:t>
            </a:r>
            <a:r>
              <a:rPr dirty="0" sz="3050" spc="45">
                <a:solidFill>
                  <a:srgbClr val="00AAC3"/>
                </a:solidFill>
                <a:latin typeface="Arial MT"/>
                <a:cs typeface="Arial MT"/>
              </a:rPr>
              <a:t> </a:t>
            </a:r>
            <a:r>
              <a:rPr dirty="0" sz="3050" spc="-10">
                <a:solidFill>
                  <a:srgbClr val="05A5C4"/>
                </a:solidFill>
                <a:latin typeface="Arial MT"/>
                <a:cs typeface="Arial MT"/>
              </a:rPr>
              <a:t>Vector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7364" y="1305487"/>
            <a:ext cx="6141085" cy="184658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22250" indent="-209550">
              <a:lnSpc>
                <a:spcPct val="100000"/>
              </a:lnSpc>
              <a:spcBef>
                <a:spcPts val="370"/>
              </a:spcBef>
              <a:buClr>
                <a:srgbClr val="181818"/>
              </a:buClr>
              <a:buChar char="•"/>
              <a:tabLst>
                <a:tab pos="222250" algn="l"/>
              </a:tabLst>
            </a:pPr>
            <a:r>
              <a:rPr dirty="0" sz="2050" spc="-155">
                <a:latin typeface="Arial MT"/>
                <a:cs typeface="Arial MT"/>
              </a:rPr>
              <a:t>A</a:t>
            </a:r>
            <a:r>
              <a:rPr dirty="0" sz="2050" spc="-75"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0F0F0F"/>
                </a:solidFill>
                <a:latin typeface="Arial MT"/>
                <a:cs typeface="Arial MT"/>
              </a:rPr>
              <a:t>Vector</a:t>
            </a:r>
            <a:r>
              <a:rPr dirty="0" sz="20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latin typeface="Arial MT"/>
                <a:cs typeface="Arial MT"/>
              </a:rPr>
              <a:t>isjust</a:t>
            </a:r>
            <a:r>
              <a:rPr dirty="0" sz="2050" spc="40">
                <a:latin typeface="Arial MT"/>
                <a:cs typeface="Arial MT"/>
              </a:rPr>
              <a:t> </a:t>
            </a:r>
            <a:r>
              <a:rPr dirty="0" sz="2050" spc="-225">
                <a:latin typeface="Arial MT"/>
                <a:cs typeface="Arial MT"/>
              </a:rPr>
              <a:t>a</a:t>
            </a:r>
            <a:r>
              <a:rPr dirty="0" sz="2050" spc="-15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F0F0F"/>
                </a:solidFill>
                <a:latin typeface="Arial MT"/>
                <a:cs typeface="Arial MT"/>
              </a:rPr>
              <a:t>type</a:t>
            </a:r>
            <a:r>
              <a:rPr dirty="0" sz="2050" spc="-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C0C0C"/>
                </a:solidFill>
                <a:latin typeface="Arial MT"/>
                <a:cs typeface="Arial MT"/>
              </a:rPr>
              <a:t>of</a:t>
            </a:r>
            <a:r>
              <a:rPr dirty="0" sz="2050" spc="-8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endParaRPr sz="2050">
              <a:latin typeface="Arial MT"/>
              <a:cs typeface="Arial MT"/>
            </a:endParaRPr>
          </a:p>
          <a:p>
            <a:pPr lvl="1" marL="664845" indent="-195580">
              <a:lnSpc>
                <a:spcPct val="100000"/>
              </a:lnSpc>
              <a:spcBef>
                <a:spcPts val="254"/>
              </a:spcBef>
              <a:buClr>
                <a:srgbClr val="313131"/>
              </a:buClr>
              <a:buChar char="o"/>
              <a:tabLst>
                <a:tab pos="664845" algn="l"/>
              </a:tabLst>
            </a:pPr>
            <a:r>
              <a:rPr dirty="0" sz="1950">
                <a:solidFill>
                  <a:srgbClr val="0E0E0E"/>
                </a:solidFill>
                <a:latin typeface="Arial MT"/>
                <a:cs typeface="Arial MT"/>
              </a:rPr>
              <a:t>Typically</a:t>
            </a:r>
            <a:r>
              <a:rPr dirty="0" sz="195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161616"/>
                </a:solidFill>
                <a:latin typeface="Arial MT"/>
                <a:cs typeface="Arial MT"/>
              </a:rPr>
              <a:t>an</a:t>
            </a:r>
            <a:r>
              <a:rPr dirty="0" sz="1950" spc="-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array</a:t>
            </a:r>
            <a:r>
              <a:rPr dirty="0" sz="1950" spc="-1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-45">
                <a:latin typeface="Arial MT"/>
                <a:cs typeface="Arial MT"/>
              </a:rPr>
              <a:t> </a:t>
            </a:r>
            <a:r>
              <a:rPr dirty="0" sz="1950" spc="60">
                <a:latin typeface="Arial MT"/>
                <a:cs typeface="Arial MT"/>
              </a:rPr>
              <a:t>floating-</a:t>
            </a:r>
            <a:r>
              <a:rPr dirty="0" sz="1950" spc="70">
                <a:latin typeface="Arial MT"/>
                <a:cs typeface="Arial MT"/>
              </a:rPr>
              <a:t>point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 spc="55">
                <a:solidFill>
                  <a:srgbClr val="0E0E0E"/>
                </a:solidFill>
                <a:latin typeface="Arial MT"/>
                <a:cs typeface="Arial MT"/>
              </a:rPr>
              <a:t>numbers</a:t>
            </a:r>
            <a:endParaRPr sz="1950">
              <a:latin typeface="Arial MT"/>
              <a:cs typeface="Arial MT"/>
            </a:endParaRPr>
          </a:p>
          <a:p>
            <a:pPr marL="434975">
              <a:lnSpc>
                <a:spcPct val="100000"/>
              </a:lnSpc>
              <a:spcBef>
                <a:spcPts val="1005"/>
              </a:spcBef>
              <a:tabLst>
                <a:tab pos="666750" algn="l"/>
              </a:tabLst>
            </a:pPr>
            <a:r>
              <a:rPr dirty="0" sz="1800" spc="-50">
                <a:solidFill>
                  <a:srgbClr val="383838"/>
                </a:solidFill>
                <a:latin typeface="Arial MT"/>
                <a:cs typeface="Arial MT"/>
              </a:rPr>
              <a:t>°</a:t>
            </a:r>
            <a:r>
              <a:rPr dirty="0" sz="1800">
                <a:solidFill>
                  <a:srgbClr val="383838"/>
                </a:solidFill>
                <a:latin typeface="Arial MT"/>
                <a:cs typeface="Arial MT"/>
              </a:rPr>
              <a:t>	</a:t>
            </a:r>
            <a:r>
              <a:rPr dirty="0" sz="1800" spc="150">
                <a:latin typeface="Arial MT"/>
                <a:cs typeface="Arial MT"/>
              </a:rPr>
              <a:t>Commonly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 spc="70">
                <a:latin typeface="Arial MT"/>
                <a:cs typeface="Arial MT"/>
              </a:rPr>
              <a:t>consists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180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61616"/>
                </a:solidFill>
                <a:latin typeface="Arial MT"/>
                <a:cs typeface="Arial MT"/>
              </a:rPr>
              <a:t>J'536</a:t>
            </a:r>
            <a:r>
              <a:rPr dirty="0" sz="1800" spc="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00" spc="125">
                <a:solidFill>
                  <a:srgbClr val="131313"/>
                </a:solidFill>
                <a:latin typeface="Arial MT"/>
                <a:cs typeface="Arial MT"/>
              </a:rPr>
              <a:t>decimal</a:t>
            </a:r>
            <a:r>
              <a:rPr dirty="0" sz="1800" spc="1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00" spc="55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lvl="2" marL="1128395" indent="-207010">
              <a:lnSpc>
                <a:spcPct val="100000"/>
              </a:lnSpc>
              <a:spcBef>
                <a:spcPts val="475"/>
              </a:spcBef>
              <a:buClr>
                <a:srgbClr val="212121"/>
              </a:buClr>
              <a:buChar char="•"/>
              <a:tabLst>
                <a:tab pos="1128395" algn="l"/>
              </a:tabLst>
            </a:pPr>
            <a:r>
              <a:rPr dirty="0" sz="1900">
                <a:solidFill>
                  <a:srgbClr val="181818"/>
                </a:solidFill>
                <a:latin typeface="Arial MT"/>
                <a:cs typeface="Arial MT"/>
              </a:rPr>
              <a:t>OpenAl</a:t>
            </a:r>
            <a:r>
              <a:rPr dirty="0" sz="1900" spc="1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11111"/>
                </a:solidFill>
                <a:latin typeface="Arial MT"/>
                <a:cs typeface="Arial MT"/>
              </a:rPr>
              <a:t>uses</a:t>
            </a:r>
            <a:r>
              <a:rPr dirty="0" sz="19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900" spc="4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900" spc="-100">
                <a:solidFill>
                  <a:srgbClr val="0F0F0F"/>
                </a:solidFill>
                <a:latin typeface="Arial MT"/>
                <a:cs typeface="Arial MT"/>
              </a:rPr>
              <a:t>adaOO2</a:t>
            </a:r>
            <a:r>
              <a:rPr dirty="0" sz="190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0C0C0C"/>
                </a:solidFill>
                <a:latin typeface="Arial MT"/>
                <a:cs typeface="Arial MT"/>
              </a:rPr>
              <a:t>embedding</a:t>
            </a:r>
            <a:r>
              <a:rPr dirty="0" sz="1900" spc="1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900" spc="75">
                <a:solidFill>
                  <a:srgbClr val="0F0F0F"/>
                </a:solidFill>
                <a:latin typeface="Arial MT"/>
                <a:cs typeface="Arial MT"/>
              </a:rPr>
              <a:t>model</a:t>
            </a:r>
            <a:endParaRPr sz="1900">
              <a:latin typeface="Arial MT"/>
              <a:cs typeface="Arial MT"/>
            </a:endParaRPr>
          </a:p>
          <a:p>
            <a:pPr marL="430530">
              <a:lnSpc>
                <a:spcPct val="100000"/>
              </a:lnSpc>
              <a:spcBef>
                <a:spcPts val="690"/>
              </a:spcBef>
              <a:tabLst>
                <a:tab pos="676910" algn="l"/>
              </a:tabLst>
            </a:pPr>
            <a:r>
              <a:rPr dirty="0" sz="2000" spc="20">
                <a:solidFill>
                  <a:srgbClr val="4B4B4B"/>
                </a:solidFill>
                <a:latin typeface="Arial MT"/>
                <a:cs typeface="Arial MT"/>
              </a:rPr>
              <a:t>°</a:t>
            </a:r>
            <a:r>
              <a:rPr dirty="0" sz="200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000" spc="-55">
                <a:solidFill>
                  <a:srgbClr val="111111"/>
                </a:solidFill>
                <a:latin typeface="Arial MT"/>
                <a:cs typeface="Arial MT"/>
              </a:rPr>
              <a:t>Each</a:t>
            </a:r>
            <a:r>
              <a:rPr dirty="0" sz="20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0E0E0E"/>
                </a:solidFill>
                <a:latin typeface="Arial MT"/>
                <a:cs typeface="Arial MT"/>
              </a:rPr>
              <a:t>value</a:t>
            </a:r>
            <a:r>
              <a:rPr dirty="0" sz="2000" spc="-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typically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F0F0F"/>
                </a:solidFill>
                <a:latin typeface="Arial MT"/>
                <a:cs typeface="Arial MT"/>
              </a:rPr>
              <a:t>ranges</a:t>
            </a:r>
            <a:r>
              <a:rPr dirty="0" sz="20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between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170">
                <a:solidFill>
                  <a:srgbClr val="161616"/>
                </a:solidFill>
                <a:latin typeface="Arial MT"/>
                <a:cs typeface="Arial MT"/>
              </a:rPr>
              <a:t>-</a:t>
            </a:r>
            <a:r>
              <a:rPr dirty="0" sz="2000" spc="-270">
                <a:solidFill>
                  <a:srgbClr val="161616"/>
                </a:solidFill>
                <a:latin typeface="Arial MT"/>
                <a:cs typeface="Arial MT"/>
              </a:rPr>
              <a:t>1</a:t>
            </a:r>
            <a:r>
              <a:rPr dirty="0" sz="2000" spc="-9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</a:t>
            </a:r>
            <a:r>
              <a:rPr dirty="0" sz="2000" spc="-229"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0912" y="3459575"/>
            <a:ext cx="2305050" cy="76962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05104" marR="5080" indent="-193040">
              <a:lnSpc>
                <a:spcPts val="1440"/>
              </a:lnSpc>
              <a:spcBef>
                <a:spcPts val="195"/>
              </a:spcBef>
              <a:tabLst>
                <a:tab pos="488315" algn="l"/>
              </a:tabLst>
            </a:pPr>
            <a:r>
              <a:rPr dirty="0" sz="1250" spc="-80">
                <a:solidFill>
                  <a:srgbClr val="774274"/>
                </a:solidFill>
                <a:latin typeface="Arial MT"/>
                <a:cs typeface="Arial MT"/>
              </a:rPr>
              <a:t>CREATE</a:t>
            </a:r>
            <a:r>
              <a:rPr dirty="0" sz="1250" spc="355">
                <a:solidFill>
                  <a:srgbClr val="77427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725277"/>
                </a:solidFill>
                <a:latin typeface="Arial MT"/>
                <a:cs typeface="Arial MT"/>
              </a:rPr>
              <a:t>TABLE</a:t>
            </a:r>
            <a:r>
              <a:rPr dirty="0" sz="1250" spc="335">
                <a:solidFill>
                  <a:srgbClr val="725277"/>
                </a:solidFill>
                <a:latin typeface="Arial MT"/>
                <a:cs typeface="Arial MT"/>
              </a:rPr>
              <a:t> </a:t>
            </a:r>
            <a:r>
              <a:rPr dirty="0" sz="1250" spc="95">
                <a:solidFill>
                  <a:srgbClr val="0C0C0C"/>
                </a:solidFill>
                <a:latin typeface="Arial MT"/>
                <a:cs typeface="Arial MT"/>
              </a:rPr>
              <a:t>paragraph</a:t>
            </a:r>
            <a:r>
              <a:rPr dirty="0" sz="1250" spc="4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151515"/>
                </a:solidFill>
                <a:latin typeface="Arial MT"/>
                <a:cs typeface="Arial MT"/>
              </a:rPr>
              <a:t>( </a:t>
            </a:r>
            <a:r>
              <a:rPr dirty="0" sz="1250" spc="50">
                <a:solidFill>
                  <a:srgbClr val="0F0F0F"/>
                </a:solidFill>
                <a:latin typeface="Arial MT"/>
                <a:cs typeface="Arial MT"/>
              </a:rPr>
              <a:t>id</a:t>
            </a:r>
            <a:r>
              <a:rPr dirty="0" sz="1250">
                <a:solidFill>
                  <a:srgbClr val="0F0F0F"/>
                </a:solidFill>
                <a:latin typeface="Arial MT"/>
                <a:cs typeface="Arial MT"/>
              </a:rPr>
              <a:t>	SERIAL</a:t>
            </a:r>
            <a:r>
              <a:rPr dirty="0" sz="1250" spc="3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250" spc="-35">
                <a:solidFill>
                  <a:srgbClr val="853F74"/>
                </a:solidFill>
                <a:latin typeface="Arial MT"/>
                <a:cs typeface="Arial MT"/>
              </a:rPr>
              <a:t>PRINARY</a:t>
            </a:r>
            <a:r>
              <a:rPr dirty="0" sz="1250" spc="415">
                <a:solidFill>
                  <a:srgbClr val="853F74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131313"/>
                </a:solidFill>
                <a:latin typeface="Arial MT"/>
                <a:cs typeface="Arial MT"/>
              </a:rPr>
              <a:t>KEY,</a:t>
            </a:r>
            <a:endParaRPr sz="1250">
              <a:latin typeface="Arial MT"/>
              <a:cs typeface="Arial MT"/>
            </a:endParaRPr>
          </a:p>
          <a:p>
            <a:pPr marL="203835">
              <a:lnSpc>
                <a:spcPts val="1395"/>
              </a:lnSpc>
            </a:pPr>
            <a:r>
              <a:rPr dirty="0" sz="1350" spc="50">
                <a:solidFill>
                  <a:srgbClr val="151515"/>
                </a:solidFill>
                <a:latin typeface="Arial MT"/>
                <a:cs typeface="Arial MT"/>
              </a:rPr>
              <a:t>par</a:t>
            </a:r>
            <a:r>
              <a:rPr dirty="0" sz="1350" spc="-19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350">
                <a:latin typeface="Arial MT"/>
                <a:cs typeface="Arial MT"/>
              </a:rPr>
              <a:t>agr</a:t>
            </a:r>
            <a:r>
              <a:rPr dirty="0" sz="1350" spc="-170">
                <a:latin typeface="Arial MT"/>
                <a:cs typeface="Arial MT"/>
              </a:rPr>
              <a:t> </a:t>
            </a:r>
            <a:r>
              <a:rPr dirty="0" sz="1350">
                <a:latin typeface="Arial MT"/>
                <a:cs typeface="Arial MT"/>
              </a:rPr>
              <a:t>aph</a:t>
            </a:r>
            <a:r>
              <a:rPr dirty="0" sz="1350" spc="70">
                <a:latin typeface="Arial MT"/>
                <a:cs typeface="Arial MT"/>
              </a:rPr>
              <a:t>  </a:t>
            </a:r>
            <a:r>
              <a:rPr dirty="0" sz="1350" spc="145">
                <a:latin typeface="Arial MT"/>
                <a:cs typeface="Arial MT"/>
              </a:rPr>
              <a:t>text</a:t>
            </a:r>
            <a:r>
              <a:rPr dirty="0" sz="1350" spc="80">
                <a:latin typeface="Arial MT"/>
                <a:cs typeface="Arial MT"/>
              </a:rPr>
              <a:t>  </a:t>
            </a:r>
            <a:r>
              <a:rPr dirty="0" sz="1350" spc="-10">
                <a:solidFill>
                  <a:srgbClr val="131313"/>
                </a:solidFill>
                <a:latin typeface="Arial MT"/>
                <a:cs typeface="Arial MT"/>
              </a:rPr>
              <a:t>TEXT,</a:t>
            </a:r>
            <a:endParaRPr sz="1350">
              <a:latin typeface="Arial MT"/>
              <a:cs typeface="Arial MT"/>
            </a:endParaRPr>
          </a:p>
          <a:p>
            <a:pPr marL="207010">
              <a:lnSpc>
                <a:spcPts val="1485"/>
              </a:lnSpc>
            </a:pPr>
            <a:r>
              <a:rPr dirty="0" sz="1300" spc="100">
                <a:solidFill>
                  <a:srgbClr val="0E0E0E"/>
                </a:solidFill>
                <a:latin typeface="Arial MT"/>
                <a:cs typeface="Arial MT"/>
              </a:rPr>
              <a:t>vecto</a:t>
            </a:r>
            <a:r>
              <a:rPr dirty="0" sz="1300" spc="-2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300" spc="70">
                <a:solidFill>
                  <a:srgbClr val="1D1D1D"/>
                </a:solidFill>
                <a:latin typeface="Arial MT"/>
                <a:cs typeface="Arial MT"/>
              </a:rPr>
              <a:t>r</a:t>
            </a:r>
            <a:r>
              <a:rPr dirty="0" sz="1300" spc="95">
                <a:solidFill>
                  <a:srgbClr val="1D1D1D"/>
                </a:solidFill>
                <a:latin typeface="Arial MT"/>
                <a:cs typeface="Arial MT"/>
              </a:rPr>
              <a:t>  </a:t>
            </a:r>
            <a:r>
              <a:rPr dirty="0" sz="1300" spc="-10">
                <a:latin typeface="Arial MT"/>
                <a:cs typeface="Arial MT"/>
              </a:rPr>
              <a:t>VECTOR{1536)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5391" y="4737256"/>
            <a:ext cx="21761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0C0C0C"/>
                </a:solidFill>
                <a:latin typeface="Arial MT"/>
                <a:cs typeface="Arial MT"/>
              </a:rPr>
              <a:t>Example:</a:t>
            </a:r>
            <a:r>
              <a:rPr dirty="0" sz="1800" spc="2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31313"/>
                </a:solidFill>
                <a:latin typeface="Arial MT"/>
                <a:cs typeface="Arial MT"/>
              </a:rPr>
              <a:t>{-</a:t>
            </a:r>
            <a:r>
              <a:rPr dirty="0" sz="1800" spc="29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00" spc="-30">
                <a:solidFill>
                  <a:srgbClr val="111111"/>
                </a:solidFill>
                <a:latin typeface="Arial MT"/>
                <a:cs typeface="Arial MT"/>
              </a:rPr>
              <a:t>ô</a:t>
            </a:r>
            <a:r>
              <a:rPr dirty="0" sz="1800" spc="-1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r>
              <a:rPr dirty="0" sz="1800" spc="-11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800" spc="85">
                <a:latin typeface="Arial MT"/>
                <a:cs typeface="Arial MT"/>
              </a:rPr>
              <a:t>345,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48461" y="4737256"/>
            <a:ext cx="7918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0C0C0C"/>
                </a:solidFill>
                <a:latin typeface="Arial MT"/>
                <a:cs typeface="Arial MT"/>
              </a:rPr>
              <a:t>ô</a:t>
            </a:r>
            <a:r>
              <a:rPr dirty="0" sz="1800" spc="-18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161616"/>
                </a:solidFill>
                <a:latin typeface="Arial MT"/>
                <a:cs typeface="Arial MT"/>
              </a:rPr>
              <a:t>.</a:t>
            </a:r>
            <a:r>
              <a:rPr dirty="0" sz="1800" spc="-1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00" spc="70">
                <a:solidFill>
                  <a:srgbClr val="0C0C0C"/>
                </a:solidFill>
                <a:latin typeface="Arial MT"/>
                <a:cs typeface="Arial MT"/>
              </a:rPr>
              <a:t>465,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05533" y="4737256"/>
            <a:ext cx="8001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1C1C1C"/>
                </a:solidFill>
                <a:latin typeface="Arial MT"/>
                <a:cs typeface="Arial MT"/>
              </a:rPr>
              <a:t>ö</a:t>
            </a:r>
            <a:r>
              <a:rPr dirty="0" sz="1800" spc="-18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r>
              <a:rPr dirty="0" sz="1800" spc="-1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800" spc="85">
                <a:latin typeface="Arial MT"/>
                <a:cs typeface="Arial MT"/>
              </a:rPr>
              <a:t>856,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26216" y="4737256"/>
            <a:ext cx="14732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160" algn="l"/>
                <a:tab pos="531495" algn="l"/>
              </a:tabLst>
            </a:pPr>
            <a:r>
              <a:rPr dirty="0" sz="1800" spc="10">
                <a:solidFill>
                  <a:srgbClr val="1C1C1C"/>
                </a:solidFill>
                <a:latin typeface="Arial MT"/>
                <a:cs typeface="Arial MT"/>
              </a:rPr>
              <a:t>.</a:t>
            </a:r>
            <a:r>
              <a:rPr dirty="0" sz="1800">
                <a:solidFill>
                  <a:srgbClr val="1C1C1C"/>
                </a:solidFill>
                <a:latin typeface="Arial MT"/>
                <a:cs typeface="Arial MT"/>
              </a:rPr>
              <a:t>	</a:t>
            </a:r>
            <a:r>
              <a:rPr dirty="0" sz="1800" spc="10">
                <a:solidFill>
                  <a:srgbClr val="161616"/>
                </a:solidFill>
                <a:latin typeface="Arial MT"/>
                <a:cs typeface="Arial MT"/>
              </a:rPr>
              <a:t>,</a:t>
            </a:r>
            <a:r>
              <a:rPr dirty="0" sz="1800">
                <a:solidFill>
                  <a:srgbClr val="161616"/>
                </a:solidFill>
                <a:latin typeface="Arial MT"/>
                <a:cs typeface="Arial MT"/>
              </a:rPr>
              <a:t>	</a:t>
            </a:r>
            <a:r>
              <a:rPr dirty="0" sz="1800" spc="-30">
                <a:solidFill>
                  <a:srgbClr val="1C1C1C"/>
                </a:solidFill>
                <a:latin typeface="Arial MT"/>
                <a:cs typeface="Arial MT"/>
              </a:rPr>
              <a:t>ö</a:t>
            </a:r>
            <a:r>
              <a:rPr dirty="0" sz="1800" spc="-18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r>
              <a:rPr dirty="0" sz="1800" spc="-25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800" spc="120">
                <a:solidFill>
                  <a:srgbClr val="0F0F0F"/>
                </a:solidFill>
                <a:latin typeface="Arial MT"/>
                <a:cs typeface="Arial MT"/>
              </a:rPr>
              <a:t>1543}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8846" y="5295940"/>
            <a:ext cx="21799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727272"/>
                </a:solidFill>
                <a:latin typeface="Arial MT"/>
                <a:cs typeface="Arial MT"/>
              </a:rPr>
              <a:t>I</a:t>
            </a:r>
            <a:r>
              <a:rPr dirty="0" sz="1050">
                <a:solidFill>
                  <a:srgbClr val="4F4F4F"/>
                </a:solidFill>
                <a:latin typeface="Arial MT"/>
                <a:cs typeface="Arial MT"/>
              </a:rPr>
              <a:t>ntelligent</a:t>
            </a:r>
            <a:r>
              <a:rPr dirty="0" sz="1050" spc="1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494949"/>
                </a:solidFill>
                <a:latin typeface="Arial MT"/>
                <a:cs typeface="Arial MT"/>
              </a:rPr>
              <a:t>Applications</a:t>
            </a:r>
            <a:r>
              <a:rPr dirty="0" sz="1050" spc="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050" spc="-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545454"/>
                </a:solidFill>
                <a:latin typeface="Arial MT"/>
                <a:cs typeface="Arial MT"/>
              </a:rPr>
              <a:t>Spring</a:t>
            </a:r>
            <a:r>
              <a:rPr dirty="0" sz="1050" spc="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297452" y="5308643"/>
            <a:ext cx="16129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444444"/>
                </a:solidFill>
                <a:latin typeface="Arial MT"/>
                <a:cs typeface="Arial MT"/>
              </a:rPr>
              <a:t>63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350" spc="80">
                <a:solidFill>
                  <a:srgbClr val="18B5C8"/>
                </a:solidFill>
              </a:rPr>
              <a:t>How</a:t>
            </a:r>
            <a:r>
              <a:rPr dirty="0" sz="3350" spc="95">
                <a:solidFill>
                  <a:srgbClr val="18B5C8"/>
                </a:solidFill>
              </a:rPr>
              <a:t> </a:t>
            </a:r>
            <a:r>
              <a:rPr dirty="0" sz="3350">
                <a:solidFill>
                  <a:srgbClr val="1FB8D3"/>
                </a:solidFill>
              </a:rPr>
              <a:t>are</a:t>
            </a:r>
            <a:r>
              <a:rPr dirty="0" sz="3350" spc="75">
                <a:solidFill>
                  <a:srgbClr val="1FB8D3"/>
                </a:solidFill>
              </a:rPr>
              <a:t> </a:t>
            </a:r>
            <a:r>
              <a:rPr dirty="0" sz="3350">
                <a:solidFill>
                  <a:srgbClr val="00B1C6"/>
                </a:solidFill>
              </a:rPr>
              <a:t>Vectors</a:t>
            </a:r>
            <a:r>
              <a:rPr dirty="0" sz="3350" spc="210">
                <a:solidFill>
                  <a:srgbClr val="00B1C6"/>
                </a:solidFill>
              </a:rPr>
              <a:t> </a:t>
            </a:r>
            <a:r>
              <a:rPr dirty="0" sz="3350" spc="-10">
                <a:solidFill>
                  <a:srgbClr val="16A8DB"/>
                </a:solidFill>
              </a:rPr>
              <a:t>created?</a:t>
            </a:r>
            <a:endParaRPr sz="3350"/>
          </a:p>
        </p:txBody>
      </p:sp>
      <p:sp>
        <p:nvSpPr>
          <p:cNvPr id="3" name="object 3" descr=""/>
          <p:cNvSpPr txBox="1"/>
          <p:nvPr/>
        </p:nvSpPr>
        <p:spPr>
          <a:xfrm>
            <a:off x="846087" y="1425040"/>
            <a:ext cx="8479790" cy="155892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27965" marR="97155" indent="-204470">
              <a:lnSpc>
                <a:spcPct val="91700"/>
              </a:lnSpc>
              <a:spcBef>
                <a:spcPts val="305"/>
              </a:spcBef>
              <a:buChar char="•"/>
              <a:tabLst>
                <a:tab pos="227965" algn="l"/>
                <a:tab pos="231775" algn="l"/>
              </a:tabLst>
            </a:pPr>
            <a:r>
              <a:rPr dirty="0" sz="205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050" spc="-55">
                <a:solidFill>
                  <a:srgbClr val="131313"/>
                </a:solidFill>
                <a:latin typeface="Arial MT"/>
                <a:cs typeface="Arial MT"/>
              </a:rPr>
              <a:t>Vectors</a:t>
            </a:r>
            <a:r>
              <a:rPr dirty="0" sz="20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typically</a:t>
            </a:r>
            <a:r>
              <a:rPr dirty="0" sz="2050" spc="15"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0C0C0C"/>
                </a:solidFill>
                <a:latin typeface="Arial MT"/>
                <a:cs typeface="Arial MT"/>
              </a:rPr>
              <a:t>represent</a:t>
            </a:r>
            <a:r>
              <a:rPr dirty="0" sz="2050" spc="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the</a:t>
            </a:r>
            <a:r>
              <a:rPr dirty="0" sz="2050" spc="-4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output</a:t>
            </a:r>
            <a:r>
              <a:rPr dirty="0" sz="2050" spc="7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generated</a:t>
            </a:r>
            <a:r>
              <a:rPr dirty="0" sz="2050" spc="60"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by</a:t>
            </a:r>
            <a:r>
              <a:rPr dirty="0" sz="2050" spc="-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C0C0C"/>
                </a:solidFill>
                <a:latin typeface="Arial MT"/>
                <a:cs typeface="Arial MT"/>
              </a:rPr>
              <a:t>machine</a:t>
            </a:r>
            <a:r>
              <a:rPr dirty="0" sz="20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learning </a:t>
            </a:r>
            <a:r>
              <a:rPr dirty="0" sz="2000">
                <a:solidFill>
                  <a:srgbClr val="0F0F0F"/>
                </a:solidFill>
                <a:latin typeface="Arial MT"/>
                <a:cs typeface="Arial MT"/>
              </a:rPr>
              <a:t>models,</a:t>
            </a:r>
            <a:r>
              <a:rPr dirty="0" sz="2000" spc="-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encapsulating</a:t>
            </a:r>
            <a:r>
              <a:rPr dirty="0" sz="2000" spc="220">
                <a:latin typeface="Arial MT"/>
                <a:cs typeface="Arial MT"/>
              </a:rPr>
              <a:t> </a:t>
            </a:r>
            <a:r>
              <a:rPr dirty="0" sz="2000" spc="5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dirty="0" sz="2000" spc="8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learned</a:t>
            </a:r>
            <a:r>
              <a:rPr dirty="0" sz="2000" spc="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features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C1C1C"/>
                </a:solidFill>
                <a:latin typeface="Arial MT"/>
                <a:cs typeface="Arial MT"/>
              </a:rPr>
              <a:t>or</a:t>
            </a:r>
            <a:r>
              <a:rPr dirty="0" sz="2000" spc="4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embeddings</a:t>
            </a:r>
            <a:r>
              <a:rPr dirty="0" sz="2000" spc="1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7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50">
                <a:latin typeface="Arial MT"/>
                <a:cs typeface="Arial MT"/>
              </a:rPr>
              <a:t>input </a:t>
            </a:r>
            <a:r>
              <a:rPr dirty="0" sz="1850" spc="50">
                <a:solidFill>
                  <a:srgbClr val="111111"/>
                </a:solidFill>
                <a:latin typeface="Arial MT"/>
                <a:cs typeface="Arial MT"/>
              </a:rPr>
              <a:t>data.</a:t>
            </a:r>
            <a:endParaRPr sz="1850">
              <a:latin typeface="Arial MT"/>
              <a:cs typeface="Arial MT"/>
            </a:endParaRPr>
          </a:p>
          <a:p>
            <a:pPr marL="223520" marR="5080" indent="-211454">
              <a:lnSpc>
                <a:spcPts val="2160"/>
              </a:lnSpc>
              <a:spcBef>
                <a:spcPts val="1070"/>
              </a:spcBef>
              <a:buClr>
                <a:srgbClr val="111111"/>
              </a:buClr>
              <a:buChar char="•"/>
              <a:tabLst>
                <a:tab pos="225425" algn="l"/>
              </a:tabLst>
            </a:pPr>
            <a:r>
              <a:rPr dirty="0" sz="210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dirty="0" sz="2100" spc="8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example</a:t>
            </a:r>
            <a:r>
              <a:rPr dirty="0" sz="2100" spc="24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11111"/>
                </a:solidFill>
                <a:latin typeface="Calibri"/>
                <a:cs typeface="Calibri"/>
              </a:rPr>
              <a:t>below</a:t>
            </a:r>
            <a:r>
              <a:rPr dirty="0" sz="2100" spc="15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C1C1C"/>
                </a:solidFill>
                <a:latin typeface="Calibri"/>
                <a:cs typeface="Calibri"/>
              </a:rPr>
              <a:t>is</a:t>
            </a:r>
            <a:r>
              <a:rPr dirty="0" sz="2100" spc="9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11111"/>
                </a:solidFill>
                <a:latin typeface="Calibri"/>
                <a:cs typeface="Calibri"/>
              </a:rPr>
              <a:t>based</a:t>
            </a:r>
            <a:r>
              <a:rPr dirty="0" sz="2100" spc="15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31313"/>
                </a:solidFill>
                <a:latin typeface="Calibri"/>
                <a:cs typeface="Calibri"/>
              </a:rPr>
              <a:t>on</a:t>
            </a:r>
            <a:r>
              <a:rPr dirty="0" sz="2100" spc="8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31313"/>
                </a:solidFill>
                <a:latin typeface="Calibri"/>
                <a:cs typeface="Calibri"/>
              </a:rPr>
              <a:t>text</a:t>
            </a:r>
            <a:r>
              <a:rPr dirty="0" sz="2100" spc="10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00" spc="65">
                <a:solidFill>
                  <a:srgbClr val="181818"/>
                </a:solidFill>
                <a:latin typeface="Calibri"/>
                <a:cs typeface="Calibri"/>
              </a:rPr>
              <a:t>AI</a:t>
            </a:r>
            <a:r>
              <a:rPr dirty="0" sz="2100" spc="10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models.</a:t>
            </a:r>
            <a:r>
              <a:rPr dirty="0" sz="2100" spc="30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Vectors</a:t>
            </a:r>
            <a:r>
              <a:rPr dirty="0" sz="2100" spc="17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 spc="90">
                <a:latin typeface="Calibri"/>
                <a:cs typeface="Calibri"/>
              </a:rPr>
              <a:t>may</a:t>
            </a:r>
            <a:r>
              <a:rPr dirty="0" sz="2100" spc="6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61616"/>
                </a:solidFill>
                <a:latin typeface="Calibri"/>
                <a:cs typeface="Calibri"/>
              </a:rPr>
              <a:t>also</a:t>
            </a:r>
            <a:r>
              <a:rPr dirty="0" sz="2100" spc="7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00" spc="60">
                <a:solidFill>
                  <a:srgbClr val="0F0F0F"/>
                </a:solidFill>
                <a:latin typeface="Calibri"/>
                <a:cs typeface="Calibri"/>
              </a:rPr>
              <a:t>be</a:t>
            </a:r>
            <a:r>
              <a:rPr dirty="0" sz="2100" spc="10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31313"/>
                </a:solidFill>
                <a:latin typeface="Calibri"/>
                <a:cs typeface="Calibri"/>
              </a:rPr>
              <a:t>used </a:t>
            </a:r>
            <a:r>
              <a:rPr dirty="0" sz="2100" spc="-20">
                <a:solidFill>
                  <a:srgbClr val="131313"/>
                </a:solidFill>
                <a:latin typeface="Calibri"/>
                <a:cs typeface="Calibri"/>
              </a:rPr>
              <a:t>	</a:t>
            </a:r>
            <a:r>
              <a:rPr dirty="0" sz="2100">
                <a:solidFill>
                  <a:srgbClr val="0C0C0C"/>
                </a:solidFill>
                <a:latin typeface="Calibri"/>
                <a:cs typeface="Calibri"/>
              </a:rPr>
              <a:t>with</a:t>
            </a:r>
            <a:r>
              <a:rPr dirty="0" sz="2100" spc="229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31313"/>
                </a:solidFill>
                <a:latin typeface="Calibri"/>
                <a:cs typeface="Calibri"/>
              </a:rPr>
              <a:t>computer</a:t>
            </a:r>
            <a:r>
              <a:rPr dirty="0" sz="2100" spc="37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vision</a:t>
            </a:r>
            <a:r>
              <a:rPr dirty="0" sz="2100" spc="21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11111"/>
                </a:solidFill>
                <a:latin typeface="Calibri"/>
                <a:cs typeface="Calibri"/>
              </a:rPr>
              <a:t>AI</a:t>
            </a:r>
            <a:r>
              <a:rPr dirty="0" sz="2100" spc="18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models</a:t>
            </a:r>
            <a:r>
              <a:rPr dirty="0" sz="2100" spc="20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A1A1A"/>
                </a:solidFill>
                <a:latin typeface="Calibri"/>
                <a:cs typeface="Calibri"/>
              </a:rPr>
              <a:t>or</a:t>
            </a:r>
            <a:r>
              <a:rPr dirty="0" sz="2100" spc="2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audio-based</a:t>
            </a:r>
            <a:r>
              <a:rPr dirty="0" sz="2100" spc="35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11111"/>
                </a:solidFill>
                <a:latin typeface="Calibri"/>
                <a:cs typeface="Calibri"/>
              </a:rPr>
              <a:t>AI</a:t>
            </a:r>
            <a:r>
              <a:rPr dirty="0" sz="2100" spc="18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31313"/>
                </a:solidFill>
                <a:latin typeface="Calibri"/>
                <a:cs typeface="Calibri"/>
              </a:rPr>
              <a:t>model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6211" y="3513181"/>
            <a:ext cx="1753235" cy="1383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500" spc="105">
                <a:latin typeface="Arial MT"/>
                <a:cs typeface="Arial MT"/>
              </a:rPr>
              <a:t>string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57400"/>
              </a:lnSpc>
              <a:spcBef>
                <a:spcPts val="140"/>
              </a:spcBef>
            </a:pPr>
            <a:r>
              <a:rPr dirty="0" sz="1500">
                <a:solidFill>
                  <a:srgbClr val="0C0C0C"/>
                </a:solidFill>
                <a:latin typeface="Arial MT"/>
                <a:cs typeface="Arial MT"/>
              </a:rPr>
              <a:t>"My</a:t>
            </a:r>
            <a:r>
              <a:rPr dirty="0" sz="1500" spc="9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31313"/>
                </a:solidFill>
                <a:latin typeface="Arial MT"/>
                <a:cs typeface="Arial MT"/>
              </a:rPr>
              <a:t>house</a:t>
            </a:r>
            <a:r>
              <a:rPr dirty="0" sz="1500" spc="114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51515"/>
                </a:solidFill>
                <a:latin typeface="Arial MT"/>
                <a:cs typeface="Arial MT"/>
              </a:rPr>
              <a:t>is</a:t>
            </a:r>
            <a:r>
              <a:rPr dirty="0" sz="1500" spc="6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0F0F0F"/>
                </a:solidFill>
                <a:latin typeface="Arial MT"/>
                <a:cs typeface="Arial MT"/>
              </a:rPr>
              <a:t>black" </a:t>
            </a:r>
            <a:r>
              <a:rPr dirty="0" sz="1600">
                <a:latin typeface="Arial MT"/>
                <a:cs typeface="Arial MT"/>
              </a:rPr>
              <a:t>"My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garden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is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151515"/>
                </a:solidFill>
                <a:latin typeface="Arial MT"/>
                <a:cs typeface="Arial MT"/>
              </a:rPr>
              <a:t>big" </a:t>
            </a:r>
            <a:r>
              <a:rPr dirty="0" sz="1550">
                <a:latin typeface="Arial MT"/>
                <a:cs typeface="Arial MT"/>
              </a:rPr>
              <a:t>"My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51515"/>
                </a:solidFill>
                <a:latin typeface="Arial MT"/>
                <a:cs typeface="Arial MT"/>
              </a:rPr>
              <a:t>dog</a:t>
            </a:r>
            <a:r>
              <a:rPr dirty="0" sz="1550" spc="3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C1C1C"/>
                </a:solidFill>
                <a:latin typeface="Arial MT"/>
                <a:cs typeface="Arial MT"/>
              </a:rPr>
              <a:t>is</a:t>
            </a:r>
            <a:r>
              <a:rPr dirty="0" sz="1550" spc="3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playful"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0084" y="5295940"/>
            <a:ext cx="21786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Intelligent</a:t>
            </a:r>
            <a:r>
              <a:rPr dirty="0" sz="1050" spc="19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949"/>
                </a:solidFill>
                <a:latin typeface="Calibri"/>
                <a:cs typeface="Calibri"/>
              </a:rPr>
              <a:t>Applications</a:t>
            </a:r>
            <a:r>
              <a:rPr dirty="0" sz="1050" spc="20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050" spc="1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454"/>
                </a:solidFill>
                <a:latin typeface="Calibri"/>
                <a:cs typeface="Calibri"/>
              </a:rPr>
              <a:t>Spring</a:t>
            </a:r>
            <a:r>
              <a:rPr dirty="0" sz="1050" spc="27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Calibri"/>
                <a:cs typeface="Calibri"/>
              </a:rPr>
              <a:t>AI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45946" y="3345917"/>
            <a:ext cx="2740660" cy="80073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650" spc="-10">
                <a:solidFill>
                  <a:srgbClr val="0E0E0E"/>
                </a:solidFill>
                <a:latin typeface="Calibri"/>
                <a:cs typeface="Calibri"/>
              </a:rPr>
              <a:t>Vector</a:t>
            </a:r>
            <a:endParaRPr sz="165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1100"/>
              </a:spcBef>
            </a:pPr>
            <a:r>
              <a:rPr dirty="0" sz="1550" spc="80">
                <a:latin typeface="Calibri"/>
                <a:cs typeface="Calibri"/>
              </a:rPr>
              <a:t>{0.345,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 spc="105">
                <a:latin typeface="Calibri"/>
                <a:cs typeface="Calibri"/>
              </a:rPr>
              <a:t>0.465,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 spc="95">
                <a:solidFill>
                  <a:srgbClr val="0F0F0F"/>
                </a:solidFill>
                <a:latin typeface="Calibri"/>
                <a:cs typeface="Calibri"/>
              </a:rPr>
              <a:t>0.B56,</a:t>
            </a:r>
            <a:r>
              <a:rPr dirty="0" sz="1550" spc="8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550" spc="125">
                <a:solidFill>
                  <a:srgbClr val="111111"/>
                </a:solidFill>
                <a:latin typeface="Calibri"/>
                <a:cs typeface="Calibri"/>
              </a:rPr>
              <a:t>0.</a:t>
            </a:r>
            <a:r>
              <a:rPr dirty="0" sz="1550" spc="125">
                <a:latin typeface="Calibri"/>
                <a:cs typeface="Calibri"/>
              </a:rPr>
              <a:t>1543]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53101" y="4250472"/>
            <a:ext cx="272351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0">
                <a:solidFill>
                  <a:srgbClr val="111111"/>
                </a:solidFill>
                <a:latin typeface="Calibri"/>
                <a:cs typeface="Calibri"/>
              </a:rPr>
              <a:t>{0.545,</a:t>
            </a:r>
            <a:r>
              <a:rPr dirty="0" sz="1600" spc="8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600" spc="80">
                <a:solidFill>
                  <a:srgbClr val="131313"/>
                </a:solidFill>
                <a:latin typeface="Calibri"/>
                <a:cs typeface="Calibri"/>
              </a:rPr>
              <a:t>0.665, </a:t>
            </a:r>
            <a:r>
              <a:rPr dirty="0" sz="1600" spc="75">
                <a:latin typeface="Calibri"/>
                <a:cs typeface="Calibri"/>
              </a:rPr>
              <a:t>0.056,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 spc="90">
                <a:latin typeface="Calibri"/>
                <a:cs typeface="Calibri"/>
              </a:rPr>
              <a:t>0.3543)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48440" y="4628517"/>
            <a:ext cx="273494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0">
                <a:solidFill>
                  <a:srgbClr val="0F0F0F"/>
                </a:solidFill>
                <a:latin typeface="Calibri"/>
                <a:cs typeface="Calibri"/>
              </a:rPr>
              <a:t>(0.645,</a:t>
            </a:r>
            <a:r>
              <a:rPr dirty="0" sz="1600" spc="5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600" spc="100">
                <a:solidFill>
                  <a:srgbClr val="111111"/>
                </a:solidFill>
                <a:latin typeface="Calibri"/>
                <a:cs typeface="Calibri"/>
              </a:rPr>
              <a:t>0.76S,</a:t>
            </a:r>
            <a:r>
              <a:rPr dirty="0" sz="1600" spc="5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600" spc="85">
                <a:solidFill>
                  <a:srgbClr val="151515"/>
                </a:solidFill>
                <a:latin typeface="Calibri"/>
                <a:cs typeface="Calibri"/>
              </a:rPr>
              <a:t>0.1S6, </a:t>
            </a:r>
            <a:r>
              <a:rPr dirty="0" sz="1600" spc="95">
                <a:latin typeface="Calibri"/>
                <a:cs typeface="Calibri"/>
              </a:rPr>
              <a:t>0.4543]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87881" y="5295940"/>
            <a:ext cx="1676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25252"/>
                </a:solidFill>
                <a:latin typeface="Consolas"/>
                <a:cs typeface="Consolas"/>
              </a:rPr>
              <a:t>64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4688" y="5359706"/>
            <a:ext cx="121920" cy="792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">
              <a:lnSpc>
                <a:spcPct val="100000"/>
              </a:lnSpc>
              <a:spcBef>
                <a:spcPts val="100"/>
              </a:spcBef>
            </a:pPr>
            <a:r>
              <a:rPr dirty="0" sz="3000" spc="215">
                <a:solidFill>
                  <a:srgbClr val="0CBACD"/>
                </a:solidFill>
              </a:rPr>
              <a:t>Simila</a:t>
            </a:r>
            <a:r>
              <a:rPr dirty="0" sz="3000" spc="-405">
                <a:solidFill>
                  <a:srgbClr val="0CBACD"/>
                </a:solidFill>
              </a:rPr>
              <a:t> </a:t>
            </a:r>
            <a:r>
              <a:rPr dirty="0" sz="3000" spc="75">
                <a:solidFill>
                  <a:srgbClr val="0CA8D6"/>
                </a:solidFill>
              </a:rPr>
              <a:t>rity</a:t>
            </a:r>
            <a:r>
              <a:rPr dirty="0" sz="3000" spc="190">
                <a:solidFill>
                  <a:srgbClr val="0CA8D6"/>
                </a:solidFill>
              </a:rPr>
              <a:t> </a:t>
            </a:r>
            <a:r>
              <a:rPr dirty="0" sz="3000" spc="215">
                <a:solidFill>
                  <a:srgbClr val="059CAA"/>
                </a:solidFill>
              </a:rPr>
              <a:t>Search</a:t>
            </a:r>
            <a:endParaRPr sz="3000"/>
          </a:p>
        </p:txBody>
      </p:sp>
      <p:sp>
        <p:nvSpPr>
          <p:cNvPr id="4" name="object 4" descr=""/>
          <p:cNvSpPr txBox="1"/>
          <p:nvPr/>
        </p:nvSpPr>
        <p:spPr>
          <a:xfrm>
            <a:off x="857364" y="1266646"/>
            <a:ext cx="5125085" cy="385572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1345"/>
              </a:spcBef>
              <a:buClr>
                <a:srgbClr val="282828"/>
              </a:buClr>
              <a:buChar char="•"/>
              <a:tabLst>
                <a:tab pos="216535" algn="l"/>
              </a:tabLst>
            </a:pPr>
            <a:r>
              <a:rPr dirty="0" sz="2050" spc="-55">
                <a:solidFill>
                  <a:srgbClr val="131313"/>
                </a:solidFill>
                <a:latin typeface="Arial MT"/>
                <a:cs typeface="Arial MT"/>
              </a:rPr>
              <a:t>Selects</a:t>
            </a:r>
            <a:r>
              <a:rPr dirty="0" sz="2050" spc="-3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2050" spc="-10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latin typeface="Arial MT"/>
                <a:cs typeface="Arial MT"/>
              </a:rPr>
              <a:t>closest</a:t>
            </a:r>
            <a:r>
              <a:rPr dirty="0" sz="2050" spc="30"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0C0C0C"/>
                </a:solidFill>
                <a:latin typeface="Arial MT"/>
                <a:cs typeface="Arial MT"/>
              </a:rPr>
              <a:t>vectors</a:t>
            </a:r>
            <a:r>
              <a:rPr dirty="0" sz="2050" spc="-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dirty="0" sz="2050" spc="-1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50" spc="-225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dirty="0" sz="2050" spc="5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111111"/>
                </a:solidFill>
                <a:latin typeface="Arial MT"/>
                <a:cs typeface="Arial MT"/>
              </a:rPr>
              <a:t>given</a:t>
            </a:r>
            <a:r>
              <a:rPr dirty="0" sz="205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0E0E0E"/>
                </a:solidFill>
                <a:latin typeface="Arial MT"/>
                <a:cs typeface="Arial MT"/>
              </a:rPr>
              <a:t>vector</a:t>
            </a:r>
            <a:endParaRPr sz="2050">
              <a:latin typeface="Arial MT"/>
              <a:cs typeface="Arial MT"/>
            </a:endParaRPr>
          </a:p>
          <a:p>
            <a:pPr marL="233679">
              <a:lnSpc>
                <a:spcPct val="100000"/>
              </a:lnSpc>
              <a:spcBef>
                <a:spcPts val="1035"/>
              </a:spcBef>
              <a:tabLst>
                <a:tab pos="1451610" algn="l"/>
                <a:tab pos="2408555" algn="l"/>
                <a:tab pos="3505835" algn="l"/>
              </a:tabLst>
            </a:pPr>
            <a:r>
              <a:rPr dirty="0" sz="1700">
                <a:solidFill>
                  <a:srgbClr val="1C1C1C"/>
                </a:solidFill>
                <a:latin typeface="Arial MT"/>
                <a:cs typeface="Arial MT"/>
              </a:rPr>
              <a:t>{</a:t>
            </a:r>
            <a:r>
              <a:rPr dirty="0" sz="1700" spc="1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1F1F1F"/>
                </a:solidFill>
                <a:latin typeface="Arial MT"/>
                <a:cs typeface="Arial MT"/>
              </a:rPr>
              <a:t>-</a:t>
            </a:r>
            <a:r>
              <a:rPr dirty="0" sz="1700" spc="-114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212121"/>
                </a:solidFill>
                <a:latin typeface="Arial MT"/>
                <a:cs typeface="Arial MT"/>
              </a:rPr>
              <a:t>ó</a:t>
            </a:r>
            <a:r>
              <a:rPr dirty="0" sz="1700" spc="-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C1C1C"/>
                </a:solidFill>
                <a:latin typeface="Arial MT"/>
                <a:cs typeface="Arial MT"/>
              </a:rPr>
              <a:t>.</a:t>
            </a:r>
            <a:r>
              <a:rPr dirty="0" sz="1700" spc="-6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700" spc="100">
                <a:latin typeface="Arial MT"/>
                <a:cs typeface="Arial MT"/>
              </a:rPr>
              <a:t>436,</a:t>
            </a:r>
            <a:r>
              <a:rPr dirty="0" sz="1700">
                <a:latin typeface="Arial MT"/>
                <a:cs typeface="Arial MT"/>
              </a:rPr>
              <a:t>	</a:t>
            </a:r>
            <a:r>
              <a:rPr dirty="0" sz="1700">
                <a:solidFill>
                  <a:srgbClr val="181818"/>
                </a:solidFill>
                <a:latin typeface="Arial MT"/>
                <a:cs typeface="Arial MT"/>
              </a:rPr>
              <a:t>ó</a:t>
            </a:r>
            <a:r>
              <a:rPr dirty="0" sz="1700" spc="-9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r>
              <a:rPr dirty="0" sz="1700" spc="-9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700" spc="114">
                <a:latin typeface="Arial MT"/>
                <a:cs typeface="Arial MT"/>
              </a:rPr>
              <a:t>578,</a:t>
            </a:r>
            <a:r>
              <a:rPr dirty="0" sz="1700">
                <a:latin typeface="Arial MT"/>
                <a:cs typeface="Arial MT"/>
              </a:rPr>
              <a:t>	</a:t>
            </a:r>
            <a:r>
              <a:rPr dirty="0" sz="1700">
                <a:solidFill>
                  <a:srgbClr val="1A1A1A"/>
                </a:solidFill>
                <a:latin typeface="Arial MT"/>
                <a:cs typeface="Arial MT"/>
              </a:rPr>
              <a:t>ó</a:t>
            </a:r>
            <a:r>
              <a:rPr dirty="0" sz="1700" spc="-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616"/>
                </a:solidFill>
                <a:latin typeface="Arial MT"/>
                <a:cs typeface="Arial MT"/>
              </a:rPr>
              <a:t>.</a:t>
            </a:r>
            <a:r>
              <a:rPr dirty="0" sz="1700" spc="-9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700" spc="114">
                <a:latin typeface="Arial MT"/>
                <a:cs typeface="Arial MT"/>
              </a:rPr>
              <a:t>935,</a:t>
            </a:r>
            <a:r>
              <a:rPr dirty="0" sz="1700">
                <a:latin typeface="Arial MT"/>
                <a:cs typeface="Arial MT"/>
              </a:rPr>
              <a:t>	</a:t>
            </a:r>
            <a:r>
              <a:rPr dirty="0" sz="1700">
                <a:solidFill>
                  <a:srgbClr val="232323"/>
                </a:solidFill>
                <a:latin typeface="Arial MT"/>
                <a:cs typeface="Arial MT"/>
              </a:rPr>
              <a:t>ó</a:t>
            </a:r>
            <a:r>
              <a:rPr dirty="0" sz="1700" spc="-1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D1D1D"/>
                </a:solidFill>
                <a:latin typeface="Arial MT"/>
                <a:cs typeface="Arial MT"/>
              </a:rPr>
              <a:t>.</a:t>
            </a:r>
            <a:r>
              <a:rPr dirty="0" sz="1700" spc="-7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700" spc="125">
                <a:solidFill>
                  <a:srgbClr val="161616"/>
                </a:solidFill>
                <a:latin typeface="Arial MT"/>
                <a:cs typeface="Arial MT"/>
              </a:rPr>
              <a:t>2193)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700">
              <a:latin typeface="Arial MT"/>
              <a:cs typeface="Arial MT"/>
            </a:endParaRPr>
          </a:p>
          <a:p>
            <a:pPr marL="293370">
              <a:lnSpc>
                <a:spcPct val="100000"/>
              </a:lnSpc>
              <a:spcBef>
                <a:spcPts val="5"/>
              </a:spcBef>
            </a:pPr>
            <a:r>
              <a:rPr dirty="0" sz="1500" spc="-10">
                <a:solidFill>
                  <a:srgbClr val="0C0C0C"/>
                </a:solidFill>
                <a:latin typeface="Arial MT"/>
                <a:cs typeface="Arial MT"/>
              </a:rPr>
              <a:t>Vector</a:t>
            </a:r>
            <a:endParaRPr sz="1500">
              <a:latin typeface="Arial MT"/>
              <a:cs typeface="Arial MT"/>
            </a:endParaRPr>
          </a:p>
          <a:p>
            <a:pPr marL="288925">
              <a:lnSpc>
                <a:spcPct val="100000"/>
              </a:lnSpc>
              <a:spcBef>
                <a:spcPts val="1175"/>
              </a:spcBef>
            </a:pPr>
            <a:r>
              <a:rPr dirty="0" sz="1500" spc="45">
                <a:latin typeface="Arial MT"/>
                <a:cs typeface="Arial MT"/>
              </a:rPr>
              <a:t>(0.345,</a:t>
            </a:r>
            <a:r>
              <a:rPr dirty="0" sz="1500" spc="135">
                <a:latin typeface="Arial MT"/>
                <a:cs typeface="Arial MT"/>
              </a:rPr>
              <a:t> </a:t>
            </a:r>
            <a:r>
              <a:rPr dirty="0" sz="1500" spc="-185">
                <a:latin typeface="Arial MT"/>
                <a:cs typeface="Arial MT"/>
              </a:rPr>
              <a:t>—</a:t>
            </a:r>
            <a:r>
              <a:rPr dirty="0" sz="1500" spc="-80">
                <a:latin typeface="Arial MT"/>
                <a:cs typeface="Arial MT"/>
              </a:rPr>
              <a:t>0.465,</a:t>
            </a:r>
            <a:r>
              <a:rPr dirty="0" sz="1500" spc="1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0.85</a:t>
            </a:r>
            <a:r>
              <a:rPr dirty="0" sz="1500" spc="-175"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616"/>
                </a:solidFill>
                <a:latin typeface="Arial MT"/>
                <a:cs typeface="Arial MT"/>
              </a:rPr>
              <a:t>6,</a:t>
            </a:r>
            <a:r>
              <a:rPr dirty="0" sz="1500" spc="-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500" spc="-65">
                <a:latin typeface="Arial MT"/>
                <a:cs typeface="Arial MT"/>
              </a:rPr>
              <a:t>O.</a:t>
            </a:r>
            <a:r>
              <a:rPr dirty="0" sz="1500" spc="-65">
                <a:solidFill>
                  <a:srgbClr val="0F0F0F"/>
                </a:solidFill>
                <a:latin typeface="Arial MT"/>
                <a:cs typeface="Arial MT"/>
              </a:rPr>
              <a:t>15ó-</a:t>
            </a:r>
            <a:r>
              <a:rPr dirty="0" sz="1500" spc="-25">
                <a:solidFill>
                  <a:srgbClr val="0F0F0F"/>
                </a:solidFill>
                <a:latin typeface="Arial MT"/>
                <a:cs typeface="Arial MT"/>
              </a:rPr>
              <a:t>Z}</a:t>
            </a:r>
            <a:endParaRPr sz="1500">
              <a:latin typeface="Arial MT"/>
              <a:cs typeface="Arial MT"/>
            </a:endParaRPr>
          </a:p>
          <a:p>
            <a:pPr marL="294640">
              <a:lnSpc>
                <a:spcPct val="100000"/>
              </a:lnSpc>
              <a:spcBef>
                <a:spcPts val="1075"/>
              </a:spcBef>
            </a:pPr>
            <a:r>
              <a:rPr dirty="0" sz="1600" spc="-10">
                <a:latin typeface="Arial MT"/>
                <a:cs typeface="Arial MT"/>
              </a:rPr>
              <a:t>{-</a:t>
            </a:r>
            <a:r>
              <a:rPr dirty="0" sz="1600">
                <a:latin typeface="Arial MT"/>
                <a:cs typeface="Arial MT"/>
              </a:rPr>
              <a:t>0.44S,</a:t>
            </a:r>
            <a:r>
              <a:rPr dirty="0" sz="1600" spc="55"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31313"/>
                </a:solidFill>
                <a:latin typeface="Arial MT"/>
                <a:cs typeface="Arial MT"/>
              </a:rPr>
              <a:t>0.565,</a:t>
            </a:r>
            <a:r>
              <a:rPr dirty="0" sz="1600" spc="-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A0A0A"/>
                </a:solidFill>
                <a:latin typeface="Arial MT"/>
                <a:cs typeface="Arial MT"/>
              </a:rPr>
              <a:t>0.9S6,</a:t>
            </a:r>
            <a:r>
              <a:rPr dirty="0" sz="1600" spc="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600" spc="35">
                <a:latin typeface="Arial MT"/>
                <a:cs typeface="Arial MT"/>
              </a:rPr>
              <a:t>0.2543)</a:t>
            </a:r>
            <a:endParaRPr sz="1600">
              <a:latin typeface="Arial MT"/>
              <a:cs typeface="Arial MT"/>
            </a:endParaRPr>
          </a:p>
          <a:p>
            <a:pPr marL="288925">
              <a:lnSpc>
                <a:spcPct val="100000"/>
              </a:lnSpc>
              <a:spcBef>
                <a:spcPts val="1110"/>
              </a:spcBef>
            </a:pPr>
            <a:r>
              <a:rPr dirty="0" sz="1500" spc="45">
                <a:latin typeface="Arial MT"/>
                <a:cs typeface="Arial MT"/>
              </a:rPr>
              <a:t>(0.545,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 spc="50">
                <a:solidFill>
                  <a:srgbClr val="1A1A1A"/>
                </a:solidFill>
                <a:latin typeface="Arial MT"/>
                <a:cs typeface="Arial MT"/>
              </a:rPr>
              <a:t>0.665,</a:t>
            </a:r>
            <a:r>
              <a:rPr dirty="0" sz="15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00" spc="55">
                <a:solidFill>
                  <a:srgbClr val="0F0F0F"/>
                </a:solidFill>
                <a:latin typeface="Arial MT"/>
                <a:cs typeface="Arial MT"/>
              </a:rPr>
              <a:t>0.056,</a:t>
            </a:r>
            <a:r>
              <a:rPr dirty="0" sz="150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0.3</a:t>
            </a:r>
            <a:r>
              <a:rPr dirty="0" sz="1500" spc="-220">
                <a:latin typeface="Arial MT"/>
                <a:cs typeface="Arial MT"/>
              </a:rPr>
              <a:t> </a:t>
            </a:r>
            <a:r>
              <a:rPr dirty="0" sz="1500" spc="50">
                <a:solidFill>
                  <a:srgbClr val="0E0E0E"/>
                </a:solidFill>
                <a:latin typeface="Arial MT"/>
                <a:cs typeface="Arial MT"/>
              </a:rPr>
              <a:t>543)</a:t>
            </a:r>
            <a:endParaRPr sz="1500">
              <a:latin typeface="Arial MT"/>
              <a:cs typeface="Arial MT"/>
            </a:endParaRPr>
          </a:p>
          <a:p>
            <a:pPr marL="288925">
              <a:lnSpc>
                <a:spcPct val="100000"/>
              </a:lnSpc>
              <a:spcBef>
                <a:spcPts val="1125"/>
              </a:spcBef>
            </a:pPr>
            <a:r>
              <a:rPr dirty="0" sz="1550">
                <a:solidFill>
                  <a:srgbClr val="131313"/>
                </a:solidFill>
                <a:latin typeface="Arial MT"/>
                <a:cs typeface="Arial MT"/>
              </a:rPr>
              <a:t>(0.645,</a:t>
            </a:r>
            <a:r>
              <a:rPr dirty="0" sz="1550" spc="204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0.765,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0.</a:t>
            </a:r>
            <a:r>
              <a:rPr dirty="0" sz="1550" spc="50">
                <a:solidFill>
                  <a:srgbClr val="1F1F1F"/>
                </a:solidFill>
                <a:latin typeface="Arial MT"/>
                <a:cs typeface="Arial MT"/>
              </a:rPr>
              <a:t>156,</a:t>
            </a:r>
            <a:r>
              <a:rPr dirty="0" sz="1550" spc="8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-</a:t>
            </a:r>
            <a:r>
              <a:rPr dirty="0" sz="1550" spc="-10">
                <a:latin typeface="Arial MT"/>
                <a:cs typeface="Arial MT"/>
              </a:rPr>
              <a:t>0.4543}</a:t>
            </a:r>
            <a:endParaRPr sz="1550">
              <a:latin typeface="Arial MT"/>
              <a:cs typeface="Arial MT"/>
            </a:endParaRPr>
          </a:p>
          <a:p>
            <a:pPr marL="288925">
              <a:lnSpc>
                <a:spcPct val="100000"/>
              </a:lnSpc>
              <a:spcBef>
                <a:spcPts val="1070"/>
              </a:spcBef>
            </a:pPr>
            <a:r>
              <a:rPr dirty="0" sz="1550">
                <a:latin typeface="Arial MT"/>
                <a:cs typeface="Arial MT"/>
              </a:rPr>
              <a:t>(0.745,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0.865,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31313"/>
                </a:solidFill>
                <a:latin typeface="Arial MT"/>
                <a:cs typeface="Arial MT"/>
              </a:rPr>
              <a:t>0.2</a:t>
            </a:r>
            <a:r>
              <a:rPr dirty="0" sz="1550" spc="-18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31313"/>
                </a:solidFill>
                <a:latin typeface="Arial MT"/>
                <a:cs typeface="Arial MT"/>
              </a:rPr>
              <a:t>56,</a:t>
            </a:r>
            <a:r>
              <a:rPr dirty="0" sz="1550" spc="7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C0C0C"/>
                </a:solidFill>
                <a:latin typeface="Arial MT"/>
                <a:cs typeface="Arial MT"/>
              </a:rPr>
              <a:t>0.5</a:t>
            </a:r>
            <a:r>
              <a:rPr dirty="0" sz="1550" spc="-1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550" spc="55">
                <a:solidFill>
                  <a:srgbClr val="1C1C1C"/>
                </a:solidFill>
                <a:latin typeface="Arial MT"/>
                <a:cs typeface="Arial MT"/>
              </a:rPr>
              <a:t>5'\3)</a:t>
            </a:r>
            <a:endParaRPr sz="1550">
              <a:latin typeface="Arial MT"/>
              <a:cs typeface="Arial MT"/>
            </a:endParaRPr>
          </a:p>
          <a:p>
            <a:pPr marL="288925">
              <a:lnSpc>
                <a:spcPct val="100000"/>
              </a:lnSpc>
              <a:spcBef>
                <a:spcPts val="1115"/>
              </a:spcBef>
            </a:pPr>
            <a:r>
              <a:rPr dirty="0" sz="1550">
                <a:latin typeface="Arial MT"/>
                <a:cs typeface="Arial MT"/>
              </a:rPr>
              <a:t>(O.8‹5,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11111"/>
                </a:solidFill>
                <a:latin typeface="Arial MT"/>
                <a:cs typeface="Arial MT"/>
              </a:rPr>
              <a:t>O.965,</a:t>
            </a:r>
            <a:r>
              <a:rPr dirty="0" sz="155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550" spc="-75">
                <a:solidFill>
                  <a:srgbClr val="131313"/>
                </a:solidFill>
                <a:latin typeface="Arial MT"/>
                <a:cs typeface="Arial MT"/>
              </a:rPr>
              <a:t>-</a:t>
            </a:r>
            <a:r>
              <a:rPr dirty="0" sz="1550" spc="-120">
                <a:solidFill>
                  <a:srgbClr val="131313"/>
                </a:solidFill>
                <a:latin typeface="Arial MT"/>
                <a:cs typeface="Arial MT"/>
              </a:rPr>
              <a:t>O.ZS</a:t>
            </a:r>
            <a:r>
              <a:rPr dirty="0" sz="1550" spc="-15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31313"/>
                </a:solidFill>
                <a:latin typeface="Arial MT"/>
                <a:cs typeface="Arial MT"/>
              </a:rPr>
              <a:t>6,</a:t>
            </a:r>
            <a:r>
              <a:rPr dirty="0" sz="1550" spc="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latin typeface="Arial MT"/>
                <a:cs typeface="Arial MT"/>
              </a:rPr>
              <a:t>0.6S&lt;</a:t>
            </a:r>
            <a:r>
              <a:rPr dirty="0" sz="1550" spc="-80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3j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1808" y="5321600"/>
            <a:ext cx="2170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800" spc="-90">
                <a:solidFill>
                  <a:srgbClr val="545454"/>
                </a:solidFill>
                <a:latin typeface="Arial MT"/>
                <a:cs typeface="Arial MT"/>
              </a:rPr>
              <a:t>I</a:t>
            </a:r>
            <a:r>
              <a:rPr dirty="0" sz="800" spc="-10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797979"/>
                </a:solidFill>
                <a:latin typeface="Arial MT"/>
                <a:cs typeface="Arial MT"/>
              </a:rPr>
              <a:t>i</a:t>
            </a:r>
            <a:r>
              <a:rPr dirty="0" sz="800" spc="220">
                <a:solidFill>
                  <a:srgbClr val="797979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05050"/>
                </a:solidFill>
                <a:latin typeface="Arial MT"/>
                <a:cs typeface="Arial MT"/>
              </a:rPr>
              <a:t>Le</a:t>
            </a:r>
            <a:r>
              <a:rPr dirty="0" sz="800" spc="28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F4F4F"/>
                </a:solidFill>
                <a:latin typeface="Arial MT"/>
                <a:cs typeface="Arial MT"/>
              </a:rPr>
              <a:t>ic</a:t>
            </a:r>
            <a:r>
              <a:rPr dirty="0" sz="8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808080"/>
                </a:solidFill>
                <a:latin typeface="Arial MT"/>
                <a:cs typeface="Arial MT"/>
              </a:rPr>
              <a:t>e:</a:t>
            </a:r>
            <a:r>
              <a:rPr dirty="0" sz="800">
                <a:solidFill>
                  <a:srgbClr val="808080"/>
                </a:solidFill>
                <a:latin typeface="Arial MT"/>
                <a:cs typeface="Arial MT"/>
              </a:rPr>
              <a:t>	</a:t>
            </a:r>
            <a:r>
              <a:rPr dirty="0" sz="800">
                <a:solidFill>
                  <a:srgbClr val="525252"/>
                </a:solidFill>
                <a:latin typeface="Arial MT"/>
                <a:cs typeface="Arial MT"/>
              </a:rPr>
              <a:t>6.</a:t>
            </a:r>
            <a:r>
              <a:rPr dirty="0" sz="800" spc="29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5B5B5B"/>
                </a:solidFill>
                <a:latin typeface="Arial MT"/>
                <a:cs typeface="Arial MT"/>
              </a:rPr>
              <a:t>u</a:t>
            </a:r>
            <a:r>
              <a:rPr dirty="0" sz="800" spc="-9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800" spc="50">
                <a:solidFill>
                  <a:srgbClr val="565656"/>
                </a:solidFill>
                <a:latin typeface="Arial MT"/>
                <a:cs typeface="Arial MT"/>
              </a:rPr>
              <a:t>lisa</a:t>
            </a:r>
            <a:r>
              <a:rPr dirty="0" sz="800" spc="-1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46464"/>
                </a:solidFill>
                <a:latin typeface="Arial MT"/>
                <a:cs typeface="Arial MT"/>
              </a:rPr>
              <a:t>!.”</a:t>
            </a:r>
            <a:r>
              <a:rPr dirty="0" sz="800" spc="40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D5D5D"/>
                </a:solidFill>
                <a:latin typeface="Arial MT"/>
                <a:cs typeface="Arial MT"/>
              </a:rPr>
              <a:t>iJ</a:t>
            </a:r>
            <a:r>
              <a:rPr dirty="0" sz="800">
                <a:solidFill>
                  <a:srgbClr val="525252"/>
                </a:solidFill>
                <a:latin typeface="Arial MT"/>
                <a:cs typeface="Arial MT"/>
              </a:rPr>
              <a:t>s</a:t>
            </a:r>
            <a:r>
              <a:rPr dirty="0" sz="800" spc="6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545454"/>
                </a:solidFill>
                <a:latin typeface="Arial MT"/>
                <a:cs typeface="Arial MT"/>
              </a:rPr>
              <a:t>\°.'</a:t>
            </a:r>
            <a:r>
              <a:rPr dirty="0" sz="800" spc="10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800" spc="-170">
                <a:solidFill>
                  <a:srgbClr val="505050"/>
                </a:solidFill>
                <a:latin typeface="Arial MT"/>
                <a:cs typeface="Arial MT"/>
              </a:rPr>
              <a:t>L</a:t>
            </a:r>
            <a:r>
              <a:rPr dirty="0" sz="800" spc="-170">
                <a:solidFill>
                  <a:srgbClr val="575757"/>
                </a:solidFill>
                <a:latin typeface="Arial MT"/>
                <a:cs typeface="Arial MT"/>
              </a:rPr>
              <a:t>11</a:t>
            </a:r>
            <a:r>
              <a:rPr dirty="0" sz="800" spc="4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B5B5B"/>
                </a:solidFill>
                <a:latin typeface="Arial MT"/>
                <a:cs typeface="Arial MT"/>
              </a:rPr>
              <a:t>Ü</a:t>
            </a:r>
            <a:r>
              <a:rPr dirty="0" sz="800" spc="37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800" spc="-114">
                <a:solidFill>
                  <a:srgbClr val="858585"/>
                </a:solidFill>
                <a:latin typeface="Arial MT"/>
                <a:cs typeface="Arial MT"/>
              </a:rPr>
              <a:t>!</a:t>
            </a:r>
            <a:r>
              <a:rPr dirty="0" sz="800" spc="10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dirty="0" sz="800" spc="-65">
                <a:solidFill>
                  <a:srgbClr val="747474"/>
                </a:solidFill>
                <a:latin typeface="Arial MT"/>
                <a:cs typeface="Arial MT"/>
              </a:rPr>
              <a:t>i</a:t>
            </a:r>
            <a:r>
              <a:rPr dirty="0" sz="800" spc="-10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757575"/>
                </a:solidFill>
                <a:latin typeface="Arial MT"/>
                <a:cs typeface="Arial MT"/>
              </a:rPr>
              <a:t>r</a:t>
            </a:r>
            <a:r>
              <a:rPr dirty="0" sz="800" spc="12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26262"/>
                </a:solidFill>
                <a:latin typeface="Arial MT"/>
                <a:cs typeface="Arial MT"/>
              </a:rPr>
              <a:t>ej</a:t>
            </a:r>
            <a:r>
              <a:rPr dirty="0" sz="800" spc="210">
                <a:solidFill>
                  <a:srgbClr val="626262"/>
                </a:solidFill>
                <a:latin typeface="Arial MT"/>
                <a:cs typeface="Arial MT"/>
              </a:rPr>
              <a:t>  </a:t>
            </a:r>
            <a:r>
              <a:rPr dirty="0" sz="800" spc="-50">
                <a:solidFill>
                  <a:srgbClr val="525252"/>
                </a:solidFill>
                <a:latin typeface="Arial MT"/>
                <a:cs typeface="Arial MT"/>
              </a:rPr>
              <a:t>I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0" y="4420691"/>
            <a:ext cx="548639" cy="5670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847" y="3347530"/>
            <a:ext cx="1030224" cy="64023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072" y="2347538"/>
            <a:ext cx="890016" cy="63414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8640" y="1896324"/>
            <a:ext cx="1243584" cy="186583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1919" y="3134117"/>
            <a:ext cx="499872" cy="4268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4352" y="798772"/>
            <a:ext cx="384048" cy="37194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09231" y="823163"/>
            <a:ext cx="414527" cy="310972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2621280" y="893292"/>
            <a:ext cx="283845" cy="21590"/>
          </a:xfrm>
          <a:custGeom>
            <a:avLst/>
            <a:gdLst/>
            <a:ahLst/>
            <a:cxnLst/>
            <a:rect l="l" t="t" r="r" b="b"/>
            <a:pathLst>
              <a:path w="283844" h="21590">
                <a:moveTo>
                  <a:pt x="283464" y="0"/>
                </a:moveTo>
                <a:lnTo>
                  <a:pt x="0" y="0"/>
                </a:lnTo>
                <a:lnTo>
                  <a:pt x="0" y="6096"/>
                </a:lnTo>
                <a:lnTo>
                  <a:pt x="0" y="15240"/>
                </a:lnTo>
                <a:lnTo>
                  <a:pt x="0" y="21336"/>
                </a:lnTo>
                <a:lnTo>
                  <a:pt x="277368" y="21336"/>
                </a:lnTo>
                <a:lnTo>
                  <a:pt x="277368" y="15240"/>
                </a:lnTo>
                <a:lnTo>
                  <a:pt x="283464" y="15240"/>
                </a:lnTo>
                <a:lnTo>
                  <a:pt x="283464" y="0"/>
                </a:lnTo>
                <a:close/>
              </a:path>
            </a:pathLst>
          </a:custGeom>
          <a:solidFill>
            <a:srgbClr val="2F57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85872" y="1268281"/>
            <a:ext cx="158495" cy="31707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67711" y="1335352"/>
            <a:ext cx="225551" cy="225607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44495" y="1652423"/>
            <a:ext cx="1895856" cy="40853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67328" y="3810941"/>
            <a:ext cx="1627631" cy="34146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81471" y="1945103"/>
            <a:ext cx="1834896" cy="52438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33472" y="2914607"/>
            <a:ext cx="1158239" cy="11585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81471" y="2137174"/>
            <a:ext cx="1834896" cy="33231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254176" y="3030463"/>
            <a:ext cx="4095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Annoy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88258" y="675810"/>
            <a:ext cx="174752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dirty="0" sz="1900" spc="-50">
                <a:solidFill>
                  <a:srgbClr val="2D2D2D"/>
                </a:solidFill>
                <a:latin typeface="Calibri"/>
                <a:cs typeface="Calibri"/>
              </a:rPr>
              <a:t>-</a:t>
            </a:r>
            <a:r>
              <a:rPr dirty="0" sz="1900">
                <a:solidFill>
                  <a:srgbClr val="2D2D2D"/>
                </a:solidFill>
                <a:latin typeface="Calibri"/>
                <a:cs typeface="Calibri"/>
              </a:rPr>
              <a:t>	</a:t>
            </a:r>
            <a:r>
              <a:rPr dirty="0" sz="1900" spc="-10">
                <a:latin typeface="Calibri"/>
                <a:cs typeface="Calibri"/>
              </a:rPr>
              <a:t>elasticsearch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06353" y="1046233"/>
            <a:ext cx="1189355" cy="544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3865" algn="l"/>
              </a:tabLst>
            </a:pPr>
            <a:r>
              <a:rPr dirty="0" sz="3400" spc="-50">
                <a:solidFill>
                  <a:srgbClr val="0E9AC6"/>
                </a:solidFill>
                <a:latin typeface="Times New Roman"/>
                <a:cs typeface="Times New Roman"/>
              </a:rPr>
              <a:t>o</a:t>
            </a:r>
            <a:r>
              <a:rPr dirty="0" sz="3400">
                <a:solidFill>
                  <a:srgbClr val="0E9AC6"/>
                </a:solidFill>
                <a:latin typeface="Times New Roman"/>
                <a:cs typeface="Times New Roman"/>
              </a:rPr>
              <a:t>	</a:t>
            </a:r>
            <a:r>
              <a:rPr dirty="0" sz="3400" spc="100">
                <a:solidFill>
                  <a:srgbClr val="00A3E8"/>
                </a:solidFill>
                <a:latin typeface="Times New Roman"/>
                <a:cs typeface="Times New Roman"/>
              </a:rPr>
              <a:t>0</a:t>
            </a:r>
            <a:r>
              <a:rPr dirty="0" sz="3400" spc="395">
                <a:solidFill>
                  <a:srgbClr val="00A3E8"/>
                </a:solidFill>
                <a:latin typeface="Times New Roman"/>
                <a:cs typeface="Times New Roman"/>
              </a:rPr>
              <a:t> </a:t>
            </a:r>
            <a:r>
              <a:rPr dirty="0" sz="3400" spc="-300">
                <a:solidFill>
                  <a:srgbClr val="039AE6"/>
                </a:solidFill>
                <a:latin typeface="Times New Roman"/>
                <a:cs typeface="Times New Roman"/>
              </a:rPr>
              <a:t>en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66724" y="4026897"/>
            <a:ext cx="3924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81818"/>
                </a:solidFill>
                <a:latin typeface="Calibri"/>
                <a:cs typeface="Calibri"/>
              </a:rPr>
              <a:t>FAISS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18437" y="5308897"/>
            <a:ext cx="21615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0">
                <a:solidFill>
                  <a:srgbClr val="545454"/>
                </a:solidFill>
                <a:latin typeface="Times New Roman"/>
                <a:cs typeface="Times New Roman"/>
              </a:rPr>
              <a:t>I</a:t>
            </a:r>
            <a:r>
              <a:rPr dirty="0" sz="900" spc="-40">
                <a:solidFill>
                  <a:srgbClr val="757575"/>
                </a:solidFill>
                <a:latin typeface="Times New Roman"/>
                <a:cs typeface="Times New Roman"/>
              </a:rPr>
              <a:t>n</a:t>
            </a:r>
            <a:r>
              <a:rPr dirty="0" sz="900" spc="-5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05050"/>
                </a:solidFill>
                <a:latin typeface="Times New Roman"/>
                <a:cs typeface="Times New Roman"/>
              </a:rPr>
              <a:t>Leliigent</a:t>
            </a:r>
            <a:r>
              <a:rPr dirty="0" sz="900" spc="19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464646"/>
                </a:solidFill>
                <a:latin typeface="Times New Roman"/>
                <a:cs typeface="Times New Roman"/>
              </a:rPr>
              <a:t>ApplicationS</a:t>
            </a:r>
            <a:r>
              <a:rPr dirty="0" sz="900" spc="14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545454"/>
                </a:solidFill>
                <a:latin typeface="Times New Roman"/>
                <a:cs typeface="Times New Roman"/>
              </a:rPr>
              <a:t>vv!tf1</a:t>
            </a:r>
            <a:r>
              <a:rPr dirty="0" sz="900" spc="12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25252"/>
                </a:solidFill>
                <a:latin typeface="Times New Roman"/>
                <a:cs typeface="Times New Roman"/>
              </a:rPr>
              <a:t>Shri</a:t>
            </a:r>
            <a:r>
              <a:rPr dirty="0" sz="9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95959"/>
                </a:solidFill>
                <a:latin typeface="Times New Roman"/>
                <a:cs typeface="Times New Roman"/>
              </a:rPr>
              <a:t>nq</a:t>
            </a:r>
            <a:r>
              <a:rPr dirty="0" sz="900" spc="28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5D5D5D"/>
                </a:solidFill>
                <a:latin typeface="Times New Roman"/>
                <a:cs typeface="Times New Roman"/>
              </a:rPr>
              <a:t>AI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532311" y="2758615"/>
            <a:ext cx="692785" cy="37338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 indent="128905">
              <a:lnSpc>
                <a:spcPts val="1300"/>
              </a:lnSpc>
              <a:spcBef>
                <a:spcPts val="260"/>
              </a:spcBef>
            </a:pPr>
            <a:r>
              <a:rPr dirty="0" sz="1200" spc="-10">
                <a:latin typeface="Times New Roman"/>
                <a:cs typeface="Times New Roman"/>
              </a:rPr>
              <a:t>Vector Databases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502440" y="4428570"/>
            <a:ext cx="898525" cy="41148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315"/>
              </a:spcBef>
            </a:pPr>
            <a:r>
              <a:rPr dirty="0" sz="1350" i="1">
                <a:latin typeface="Times New Roman"/>
                <a:cs typeface="Times New Roman"/>
              </a:rPr>
              <a:t>Pgvector</a:t>
            </a:r>
            <a:r>
              <a:rPr dirty="0" sz="1350" spc="280" i="1">
                <a:latin typeface="Times New Roman"/>
                <a:cs typeface="Times New Roman"/>
              </a:rPr>
              <a:t> </a:t>
            </a:r>
            <a:r>
              <a:rPr dirty="0" sz="1350" spc="-85" i="1">
                <a:latin typeface="Times New Roman"/>
                <a:cs typeface="Times New Roman"/>
              </a:rPr>
              <a:t>for </a:t>
            </a:r>
            <a:r>
              <a:rPr dirty="0" sz="1350" spc="-10" i="1">
                <a:latin typeface="Times New Roman"/>
                <a:cs typeface="Times New Roman"/>
              </a:rPr>
              <a:t>Postgres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698137" y="736722"/>
            <a:ext cx="1069340" cy="15798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9690">
              <a:lnSpc>
                <a:spcPct val="100000"/>
              </a:lnSpc>
              <a:spcBef>
                <a:spcPts val="770"/>
              </a:spcBef>
            </a:pPr>
            <a:r>
              <a:rPr dirty="0" sz="1900" spc="-25">
                <a:solidFill>
                  <a:srgbClr val="44BAF7"/>
                </a:solidFill>
                <a:latin typeface="Courier New"/>
                <a:cs typeface="Courier New"/>
              </a:rPr>
              <a:t>VUS</a:t>
            </a:r>
            <a:endParaRPr sz="1900">
              <a:latin typeface="Courier New"/>
              <a:cs typeface="Courier New"/>
            </a:endParaRPr>
          </a:p>
          <a:p>
            <a:pPr algn="ctr" marL="2540">
              <a:lnSpc>
                <a:spcPct val="100000"/>
              </a:lnSpc>
              <a:spcBef>
                <a:spcPts val="1170"/>
              </a:spcBef>
            </a:pPr>
            <a:r>
              <a:rPr dirty="0" sz="3300" spc="45">
                <a:solidFill>
                  <a:srgbClr val="3D3D3D"/>
                </a:solidFill>
                <a:latin typeface="Times New Roman"/>
                <a:cs typeface="Times New Roman"/>
              </a:rPr>
              <a:t>(w)</a:t>
            </a:r>
            <a:endParaRPr sz="3300">
              <a:latin typeface="Times New Roman"/>
              <a:cs typeface="Times New Roman"/>
            </a:endParaRPr>
          </a:p>
          <a:p>
            <a:pPr algn="ctr">
              <a:lnSpc>
                <a:spcPts val="1550"/>
              </a:lnSpc>
              <a:spcBef>
                <a:spcPts val="1060"/>
              </a:spcBef>
            </a:pPr>
            <a:r>
              <a:rPr dirty="0" sz="1500" spc="-10">
                <a:solidFill>
                  <a:srgbClr val="161616"/>
                </a:solidFill>
                <a:latin typeface="Calibri"/>
                <a:cs typeface="Calibri"/>
              </a:rPr>
              <a:t>Weoviofe</a:t>
            </a:r>
            <a:endParaRPr sz="1500">
              <a:latin typeface="Calibri"/>
              <a:cs typeface="Calibri"/>
            </a:endParaRPr>
          </a:p>
          <a:p>
            <a:pPr algn="ctr">
              <a:lnSpc>
                <a:spcPts val="1550"/>
              </a:lnSpc>
            </a:pPr>
            <a:r>
              <a:rPr dirty="0" sz="1500" spc="55">
                <a:solidFill>
                  <a:srgbClr val="161616"/>
                </a:solidFill>
                <a:latin typeface="Times New Roman"/>
                <a:cs typeface="Times New Roman"/>
              </a:rPr>
              <a:t>Open</a:t>
            </a:r>
            <a:r>
              <a:rPr dirty="0" sz="1500" spc="1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31313"/>
                </a:solidFill>
                <a:latin typeface="Times New Roman"/>
                <a:cs typeface="Times New Roman"/>
              </a:rPr>
              <a:t>Source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659315" y="1260154"/>
            <a:ext cx="187515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210">
                <a:latin typeface="Times New Roman"/>
                <a:cs typeface="Times New Roman"/>
              </a:rPr>
              <a:t>é</a:t>
            </a:r>
            <a:r>
              <a:rPr dirty="0" sz="3300" spc="-130">
                <a:latin typeface="Times New Roman"/>
                <a:cs typeface="Times New Roman"/>
              </a:rPr>
              <a:t> </a:t>
            </a:r>
            <a:r>
              <a:rPr dirty="0" sz="3300" spc="-290">
                <a:latin typeface="Times New Roman"/>
                <a:cs typeface="Times New Roman"/>
              </a:rPr>
              <a:t>•</a:t>
            </a:r>
            <a:r>
              <a:rPr dirty="0" sz="3300" spc="-315">
                <a:latin typeface="Times New Roman"/>
                <a:cs typeface="Times New Roman"/>
              </a:rPr>
              <a:t> </a:t>
            </a:r>
            <a:r>
              <a:rPr dirty="0" sz="3300" spc="-105">
                <a:latin typeface="Times New Roman"/>
                <a:cs typeface="Times New Roman"/>
              </a:rPr>
              <a:t>Pinecone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028274" y="3048755"/>
            <a:ext cx="2066925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1275">
              <a:lnSpc>
                <a:spcPct val="100000"/>
              </a:lnSpc>
              <a:spcBef>
                <a:spcPts val="100"/>
              </a:spcBef>
            </a:pPr>
            <a:r>
              <a:rPr dirty="0" sz="2900" spc="-85">
                <a:solidFill>
                  <a:srgbClr val="575757"/>
                </a:solidFill>
                <a:latin typeface="Arial MT"/>
                <a:cs typeface="Arial MT"/>
              </a:rPr>
              <a:t>redis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2350" spc="85">
                <a:solidFill>
                  <a:srgbClr val="151515"/>
                </a:solidFill>
                <a:latin typeface="Cambria"/>
                <a:cs typeface="Cambria"/>
              </a:rPr>
              <a:t>mongoDB.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297746" y="5305594"/>
            <a:ext cx="15811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40">
                <a:solidFill>
                  <a:srgbClr val="575757"/>
                </a:solidFill>
                <a:latin typeface="Times New Roman"/>
                <a:cs typeface="Times New Roman"/>
              </a:rPr>
              <a:t>G6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dirty="0" sz="3250" spc="-10">
                <a:solidFill>
                  <a:srgbClr val="08A1CA"/>
                </a:solidFill>
                <a:latin typeface="Arial MT"/>
                <a:cs typeface="Arial MT"/>
              </a:rPr>
              <a:t>Using</a:t>
            </a:r>
            <a:r>
              <a:rPr dirty="0" sz="3250" spc="-215">
                <a:solidFill>
                  <a:srgbClr val="08A1CA"/>
                </a:solidFill>
                <a:latin typeface="Arial MT"/>
                <a:cs typeface="Arial MT"/>
              </a:rPr>
              <a:t> </a:t>
            </a:r>
            <a:r>
              <a:rPr dirty="0" sz="3250" spc="-345">
                <a:solidFill>
                  <a:srgbClr val="00A1B3"/>
                </a:solidFill>
                <a:latin typeface="Arial MT"/>
                <a:cs typeface="Arial MT"/>
              </a:rPr>
              <a:t>a</a:t>
            </a:r>
            <a:r>
              <a:rPr dirty="0" sz="3250" spc="70">
                <a:solidFill>
                  <a:srgbClr val="00A1B3"/>
                </a:solidFill>
                <a:latin typeface="Arial MT"/>
                <a:cs typeface="Arial MT"/>
              </a:rPr>
              <a:t> </a:t>
            </a:r>
            <a:r>
              <a:rPr dirty="0" sz="3250" spc="-40">
                <a:solidFill>
                  <a:srgbClr val="00D3E2"/>
                </a:solidFill>
                <a:latin typeface="Arial MT"/>
                <a:cs typeface="Arial MT"/>
              </a:rPr>
              <a:t>Vector</a:t>
            </a:r>
            <a:r>
              <a:rPr dirty="0" sz="3250" spc="-140">
                <a:solidFill>
                  <a:srgbClr val="00D3E2"/>
                </a:solidFill>
                <a:latin typeface="Arial MT"/>
                <a:cs typeface="Arial MT"/>
              </a:rPr>
              <a:t> </a:t>
            </a:r>
            <a:r>
              <a:rPr dirty="0" sz="3250" spc="-40">
                <a:solidFill>
                  <a:srgbClr val="1C9ED1"/>
                </a:solidFill>
                <a:latin typeface="Arial MT"/>
                <a:cs typeface="Arial MT"/>
              </a:rPr>
              <a:t>Store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3391" y="1486015"/>
            <a:ext cx="4755515" cy="428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14"/>
              </a:lnSpc>
              <a:spcBef>
                <a:spcPts val="100"/>
              </a:spcBef>
            </a:pPr>
            <a:r>
              <a:rPr dirty="0" sz="1450" spc="-125">
                <a:solidFill>
                  <a:srgbClr val="6285CD"/>
                </a:solidFill>
                <a:latin typeface="Courier New"/>
                <a:cs typeface="Courier New"/>
              </a:rPr>
              <a:t>@VaIue("Artificial</a:t>
            </a:r>
            <a:r>
              <a:rPr dirty="0" sz="1450" spc="-235">
                <a:solidFill>
                  <a:srgbClr val="6285CD"/>
                </a:solidFill>
                <a:latin typeface="Courier New"/>
                <a:cs typeface="Courier New"/>
              </a:rPr>
              <a:t> </a:t>
            </a:r>
            <a:r>
              <a:rPr dirty="0" sz="1450" spc="-130">
                <a:solidFill>
                  <a:srgbClr val="4969B1"/>
                </a:solidFill>
                <a:latin typeface="Courier New"/>
                <a:cs typeface="Courier New"/>
              </a:rPr>
              <a:t>intelligence</a:t>
            </a:r>
            <a:r>
              <a:rPr dirty="0" sz="1450" spc="85">
                <a:solidFill>
                  <a:srgbClr val="4969B1"/>
                </a:solidFill>
                <a:latin typeface="Courier New"/>
                <a:cs typeface="Courier New"/>
              </a:rPr>
              <a:t> </a:t>
            </a:r>
            <a:r>
              <a:rPr dirty="0" sz="1450" spc="-350">
                <a:solidFill>
                  <a:srgbClr val="6777A3"/>
                </a:solidFill>
                <a:latin typeface="Courier New"/>
                <a:cs typeface="Courier New"/>
              </a:rPr>
              <a:t>-</a:t>
            </a:r>
            <a:r>
              <a:rPr dirty="0" sz="1450" spc="45">
                <a:solidFill>
                  <a:srgbClr val="6777A3"/>
                </a:solidFill>
                <a:latin typeface="Courier New"/>
                <a:cs typeface="Courier New"/>
              </a:rPr>
              <a:t> </a:t>
            </a:r>
            <a:r>
              <a:rPr dirty="0" sz="1450" spc="-95">
                <a:solidFill>
                  <a:srgbClr val="727CD6"/>
                </a:solidFill>
                <a:latin typeface="Courier New"/>
                <a:cs typeface="Courier New"/>
              </a:rPr>
              <a:t>Wikipedia.pdf”)</a:t>
            </a:r>
            <a:endParaRPr sz="1450">
              <a:latin typeface="Courier New"/>
              <a:cs typeface="Courier New"/>
            </a:endParaRPr>
          </a:p>
          <a:p>
            <a:pPr marL="40005">
              <a:lnSpc>
                <a:spcPts val="1555"/>
              </a:lnSpc>
            </a:pPr>
            <a:r>
              <a:rPr dirty="0" sz="1400" spc="-100">
                <a:solidFill>
                  <a:srgbClr val="674264"/>
                </a:solidFill>
                <a:latin typeface="Courier New"/>
                <a:cs typeface="Courier New"/>
              </a:rPr>
              <a:t>private</a:t>
            </a:r>
            <a:r>
              <a:rPr dirty="0" sz="1400" spc="-110">
                <a:solidFill>
                  <a:srgbClr val="674264"/>
                </a:solidFill>
                <a:latin typeface="Courier New"/>
                <a:cs typeface="Courier New"/>
              </a:rPr>
              <a:t> </a:t>
            </a:r>
            <a:r>
              <a:rPr dirty="0" sz="1400" spc="-85">
                <a:solidFill>
                  <a:srgbClr val="0C0C0C"/>
                </a:solidFill>
                <a:latin typeface="Courier New"/>
                <a:cs typeface="Courier New"/>
              </a:rPr>
              <a:t>Resource</a:t>
            </a:r>
            <a:r>
              <a:rPr dirty="0" sz="1400" spc="-4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C0C0C"/>
                </a:solidFill>
                <a:latin typeface="Courier New"/>
                <a:cs typeface="Courier New"/>
              </a:rPr>
              <a:t>pdf;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961" y="2374219"/>
            <a:ext cx="5937250" cy="76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ts val="1370"/>
              </a:lnSpc>
              <a:spcBef>
                <a:spcPts val="100"/>
              </a:spcBef>
              <a:tabLst>
                <a:tab pos="2130425" algn="l"/>
                <a:tab pos="2983230" algn="l"/>
              </a:tabLst>
            </a:pPr>
            <a:r>
              <a:rPr dirty="0" sz="1250" spc="20">
                <a:solidFill>
                  <a:srgbClr val="7E6D13"/>
                </a:solidFill>
                <a:latin typeface="Arial MT"/>
                <a:cs typeface="Arial MT"/>
              </a:rPr>
              <a:t>PagePdfDocumen</a:t>
            </a:r>
            <a:r>
              <a:rPr dirty="0" sz="1250" spc="20">
                <a:solidFill>
                  <a:srgbClr val="7E691C"/>
                </a:solidFill>
                <a:latin typeface="Arial MT"/>
                <a:cs typeface="Arial MT"/>
              </a:rPr>
              <a:t>tReade </a:t>
            </a:r>
            <a:r>
              <a:rPr dirty="0" sz="1250" spc="-50" i="1">
                <a:solidFill>
                  <a:srgbClr val="75724D"/>
                </a:solidFill>
                <a:latin typeface="Arial"/>
                <a:cs typeface="Arial"/>
              </a:rPr>
              <a:t>r</a:t>
            </a:r>
            <a:r>
              <a:rPr dirty="0" sz="1250" i="1">
                <a:solidFill>
                  <a:srgbClr val="75724D"/>
                </a:solidFill>
                <a:latin typeface="Arial"/>
                <a:cs typeface="Arial"/>
              </a:rPr>
              <a:t>	</a:t>
            </a:r>
            <a:r>
              <a:rPr dirty="0" sz="1250" spc="75">
                <a:solidFill>
                  <a:srgbClr val="7B6228"/>
                </a:solidFill>
                <a:latin typeface="Arial MT"/>
                <a:cs typeface="Arial MT"/>
              </a:rPr>
              <a:t>reade</a:t>
            </a:r>
            <a:r>
              <a:rPr dirty="0" sz="1250" spc="-180">
                <a:solidFill>
                  <a:srgbClr val="7B6228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64623B"/>
                </a:solidFill>
                <a:latin typeface="Arial MT"/>
                <a:cs typeface="Arial MT"/>
              </a:rPr>
              <a:t>r</a:t>
            </a:r>
            <a:r>
              <a:rPr dirty="0" sz="1250">
                <a:solidFill>
                  <a:srgbClr val="64623B"/>
                </a:solidFill>
                <a:latin typeface="Arial MT"/>
                <a:cs typeface="Arial MT"/>
              </a:rPr>
              <a:t>	</a:t>
            </a:r>
            <a:r>
              <a:rPr dirty="0" sz="1250">
                <a:solidFill>
                  <a:srgbClr val="674967"/>
                </a:solidFill>
                <a:latin typeface="Arial MT"/>
                <a:cs typeface="Arial MT"/>
              </a:rPr>
              <a:t>new</a:t>
            </a:r>
            <a:r>
              <a:rPr dirty="0" sz="1250" spc="405">
                <a:solidFill>
                  <a:srgbClr val="674967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5E6B9E"/>
                </a:solidFill>
                <a:latin typeface="Arial MT"/>
                <a:cs typeface="Arial MT"/>
              </a:rPr>
              <a:t>PagePdfDocuuentReade</a:t>
            </a:r>
            <a:r>
              <a:rPr dirty="0" sz="1250" spc="50">
                <a:solidFill>
                  <a:srgbClr val="6E72D6"/>
                </a:solidFill>
                <a:latin typeface="Arial MT"/>
                <a:cs typeface="Arial MT"/>
              </a:rPr>
              <a:t>r</a:t>
            </a:r>
            <a:r>
              <a:rPr dirty="0" sz="1250" spc="15">
                <a:solidFill>
                  <a:srgbClr val="6E72D6"/>
                </a:solidFill>
                <a:latin typeface="Arial MT"/>
                <a:cs typeface="Arial MT"/>
              </a:rPr>
              <a:t> </a:t>
            </a:r>
            <a:r>
              <a:rPr dirty="0" sz="1250" spc="175">
                <a:solidFill>
                  <a:srgbClr val="161616"/>
                </a:solidFill>
                <a:latin typeface="Arial MT"/>
                <a:cs typeface="Arial MT"/>
              </a:rPr>
              <a:t>(pdf)</a:t>
            </a:r>
            <a:r>
              <a:rPr dirty="0" sz="1250" spc="-1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250" spc="65">
                <a:solidFill>
                  <a:srgbClr val="1A1A1A"/>
                </a:solidFill>
                <a:latin typeface="Arial MT"/>
                <a:cs typeface="Arial MT"/>
              </a:rPr>
              <a:t>;</a:t>
            </a:r>
            <a:endParaRPr sz="1250">
              <a:latin typeface="Arial MT"/>
              <a:cs typeface="Arial MT"/>
            </a:endParaRPr>
          </a:p>
          <a:p>
            <a:pPr marL="20320" marR="547370" indent="-8255">
              <a:lnSpc>
                <a:spcPct val="82500"/>
              </a:lnSpc>
              <a:spcBef>
                <a:spcPts val="175"/>
              </a:spcBef>
              <a:tabLst>
                <a:tab pos="1446530" algn="l"/>
              </a:tabLst>
            </a:pPr>
            <a:r>
              <a:rPr dirty="0" sz="1450" spc="-130">
                <a:solidFill>
                  <a:srgbClr val="806226"/>
                </a:solidFill>
                <a:latin typeface="Courier New"/>
                <a:cs typeface="Courier New"/>
              </a:rPr>
              <a:t>TokenTextsplitter</a:t>
            </a:r>
            <a:r>
              <a:rPr dirty="0" sz="1450" spc="-155">
                <a:solidFill>
                  <a:srgbClr val="806226"/>
                </a:solidFill>
                <a:latin typeface="Courier New"/>
                <a:cs typeface="Courier New"/>
              </a:rPr>
              <a:t> </a:t>
            </a:r>
            <a:r>
              <a:rPr dirty="0" sz="1450" spc="-140">
                <a:solidFill>
                  <a:srgbClr val="756B2D"/>
                </a:solidFill>
                <a:latin typeface="Courier New"/>
                <a:cs typeface="Courier New"/>
              </a:rPr>
              <a:t>splitter</a:t>
            </a:r>
            <a:r>
              <a:rPr dirty="0" sz="1450" spc="-65">
                <a:solidFill>
                  <a:srgbClr val="756B2D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24568E"/>
                </a:solidFill>
                <a:latin typeface="Courier New"/>
                <a:cs typeface="Courier New"/>
              </a:rPr>
              <a:t>=</a:t>
            </a:r>
            <a:r>
              <a:rPr dirty="0" sz="1450" spc="-120">
                <a:solidFill>
                  <a:srgbClr val="24568E"/>
                </a:solidFill>
                <a:latin typeface="Courier New"/>
                <a:cs typeface="Courier New"/>
              </a:rPr>
              <a:t> </a:t>
            </a:r>
            <a:r>
              <a:rPr dirty="0" sz="1450" spc="-150">
                <a:solidFill>
                  <a:srgbClr val="8C4183"/>
                </a:solidFill>
                <a:latin typeface="Courier New"/>
                <a:cs typeface="Courier New"/>
              </a:rPr>
              <a:t>new</a:t>
            </a:r>
            <a:r>
              <a:rPr dirty="0" sz="1450" spc="-140">
                <a:solidFill>
                  <a:srgbClr val="8C4183"/>
                </a:solidFill>
                <a:latin typeface="Courier New"/>
                <a:cs typeface="Courier New"/>
              </a:rPr>
              <a:t> </a:t>
            </a:r>
            <a:r>
              <a:rPr dirty="0" sz="1450" spc="-75">
                <a:solidFill>
                  <a:srgbClr val="111111"/>
                </a:solidFill>
                <a:latin typeface="Courier New"/>
                <a:cs typeface="Courier New"/>
              </a:rPr>
              <a:t>TokenTextSplitter(); </a:t>
            </a:r>
            <a:r>
              <a:rPr dirty="0" sz="1500" spc="-220">
                <a:latin typeface="Courier New"/>
                <a:cs typeface="Courier New"/>
              </a:rPr>
              <a:t>List</a:t>
            </a:r>
            <a:r>
              <a:rPr dirty="0" sz="1500">
                <a:latin typeface="Courier New"/>
                <a:cs typeface="Courier New"/>
              </a:rPr>
              <a:t> </a:t>
            </a:r>
            <a:r>
              <a:rPr dirty="0" sz="1500" spc="-10">
                <a:latin typeface="Courier New"/>
                <a:cs typeface="Courier New"/>
              </a:rPr>
              <a:t>Document</a:t>
            </a:r>
            <a:r>
              <a:rPr dirty="0" sz="1500">
                <a:latin typeface="Courier New"/>
                <a:cs typeface="Courier New"/>
              </a:rPr>
              <a:t>	</a:t>
            </a:r>
            <a:r>
              <a:rPr dirty="0" sz="1500" spc="-180">
                <a:latin typeface="Courier New"/>
                <a:cs typeface="Courier New"/>
              </a:rPr>
              <a:t>documents</a:t>
            </a:r>
            <a:r>
              <a:rPr dirty="0" sz="1500" spc="-15">
                <a:latin typeface="Courier New"/>
                <a:cs typeface="Courier New"/>
              </a:rPr>
              <a:t> </a:t>
            </a:r>
            <a:r>
              <a:rPr dirty="0" sz="1500" spc="-135">
                <a:solidFill>
                  <a:srgbClr val="131313"/>
                </a:solidFill>
                <a:latin typeface="Courier New"/>
                <a:cs typeface="Courier New"/>
              </a:rPr>
              <a:t>=</a:t>
            </a:r>
            <a:r>
              <a:rPr dirty="0" sz="1500" spc="-155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500" spc="-145">
                <a:latin typeface="Courier New"/>
                <a:cs typeface="Courier New"/>
              </a:rPr>
              <a:t>splitter.apply(reader.get()); </a:t>
            </a:r>
            <a:r>
              <a:rPr dirty="0" sz="1400" spc="-60">
                <a:latin typeface="Courier New"/>
                <a:cs typeface="Courier New"/>
              </a:rPr>
              <a:t>vectorstore.accept(documents);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3333" y="3282239"/>
            <a:ext cx="6624955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05"/>
              </a:lnSpc>
              <a:spcBef>
                <a:spcPts val="100"/>
              </a:spcBef>
            </a:pPr>
            <a:r>
              <a:rPr dirty="0" sz="1350" spc="-55">
                <a:solidFill>
                  <a:srgbClr val="807044"/>
                </a:solidFill>
                <a:latin typeface="Courier New"/>
                <a:cs typeface="Courier New"/>
              </a:rPr>
              <a:t>String</a:t>
            </a:r>
            <a:r>
              <a:rPr dirty="0" sz="1350" spc="-120">
                <a:solidFill>
                  <a:srgbClr val="807044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877952"/>
                </a:solidFill>
                <a:latin typeface="Courier New"/>
                <a:cs typeface="Courier New"/>
              </a:rPr>
              <a:t>answer</a:t>
            </a:r>
            <a:r>
              <a:rPr dirty="0" sz="1350" spc="-90">
                <a:solidFill>
                  <a:srgbClr val="877952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343A60"/>
                </a:solidFill>
                <a:latin typeface="Courier New"/>
                <a:cs typeface="Courier New"/>
              </a:rPr>
              <a:t>=</a:t>
            </a:r>
            <a:r>
              <a:rPr dirty="0" sz="1350" spc="-200">
                <a:solidFill>
                  <a:srgbClr val="343A60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latin typeface="Courier New"/>
                <a:cs typeface="Courier New"/>
              </a:rPr>
              <a:t>chatClient.prompt()</a:t>
            </a:r>
            <a:endParaRPr sz="1350">
              <a:latin typeface="Courier New"/>
              <a:cs typeface="Courier New"/>
            </a:endParaRPr>
          </a:p>
          <a:p>
            <a:pPr marL="207010">
              <a:lnSpc>
                <a:spcPts val="1445"/>
              </a:lnSpc>
            </a:pPr>
            <a:r>
              <a:rPr dirty="0" sz="1400" spc="-35">
                <a:latin typeface="Courier New"/>
                <a:cs typeface="Courier New"/>
              </a:rPr>
              <a:t>.system(”””</a:t>
            </a:r>
            <a:endParaRPr sz="1400">
              <a:latin typeface="Courier New"/>
              <a:cs typeface="Courier New"/>
            </a:endParaRPr>
          </a:p>
          <a:p>
            <a:pPr marL="592455">
              <a:lnSpc>
                <a:spcPts val="1435"/>
              </a:lnSpc>
            </a:pPr>
            <a:r>
              <a:rPr dirty="0" sz="1350" spc="-45">
                <a:solidFill>
                  <a:srgbClr val="628E67"/>
                </a:solidFill>
                <a:latin typeface="Courier New"/>
                <a:cs typeface="Courier New"/>
              </a:rPr>
              <a:t>You</a:t>
            </a:r>
            <a:r>
              <a:rPr dirty="0" sz="1350" spc="-160">
                <a:solidFill>
                  <a:srgbClr val="628E67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757575"/>
                </a:solidFill>
                <a:latin typeface="Courier New"/>
                <a:cs typeface="Courier New"/>
              </a:rPr>
              <a:t>are</a:t>
            </a:r>
            <a:r>
              <a:rPr dirty="0" sz="1350" spc="-17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698069"/>
                </a:solidFill>
                <a:latin typeface="Courier New"/>
                <a:cs typeface="Courier New"/>
              </a:rPr>
              <a:t>a</a:t>
            </a:r>
            <a:r>
              <a:rPr dirty="0" sz="1350" spc="-200">
                <a:solidFill>
                  <a:srgbClr val="698069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5D835E"/>
                </a:solidFill>
                <a:latin typeface="Courier New"/>
                <a:cs typeface="Courier New"/>
              </a:rPr>
              <a:t>virtual</a:t>
            </a:r>
            <a:r>
              <a:rPr dirty="0" sz="1350" spc="-135">
                <a:solidFill>
                  <a:srgbClr val="5D835E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6B8A6B"/>
                </a:solidFill>
                <a:latin typeface="Courier New"/>
                <a:cs typeface="Courier New"/>
              </a:rPr>
              <a:t>assistant</a:t>
            </a:r>
            <a:r>
              <a:rPr dirty="0" sz="1350" spc="-145">
                <a:solidFill>
                  <a:srgbClr val="6B8A6B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697E6E"/>
                </a:solidFill>
                <a:latin typeface="Courier New"/>
                <a:cs typeface="Courier New"/>
              </a:rPr>
              <a:t>and</a:t>
            </a:r>
            <a:r>
              <a:rPr dirty="0" sz="1350" spc="-65">
                <a:solidFill>
                  <a:srgbClr val="697E6E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5D8E59"/>
                </a:solidFill>
                <a:latin typeface="Courier New"/>
                <a:cs typeface="Courier New"/>
              </a:rPr>
              <a:t>answers</a:t>
            </a:r>
            <a:r>
              <a:rPr dirty="0" sz="1350" spc="-140">
                <a:solidFill>
                  <a:srgbClr val="5D8E59"/>
                </a:solidFill>
                <a:latin typeface="Courier New"/>
                <a:cs typeface="Courier New"/>
              </a:rPr>
              <a:t> </a:t>
            </a:r>
            <a:r>
              <a:rPr dirty="0" sz="1350" spc="-60">
                <a:solidFill>
                  <a:srgbClr val="54805B"/>
                </a:solidFill>
                <a:latin typeface="Courier New"/>
                <a:cs typeface="Courier New"/>
              </a:rPr>
              <a:t>questions</a:t>
            </a:r>
            <a:r>
              <a:rPr dirty="0" sz="1350" spc="-130">
                <a:solidFill>
                  <a:srgbClr val="54805B"/>
                </a:solidFill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5B7C64"/>
                </a:solidFill>
                <a:latin typeface="Courier New"/>
                <a:cs typeface="Courier New"/>
              </a:rPr>
              <a:t>with</a:t>
            </a:r>
            <a:r>
              <a:rPr dirty="0" sz="1350" spc="-100">
                <a:solidFill>
                  <a:srgbClr val="5B7C64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698A6B"/>
                </a:solidFill>
                <a:latin typeface="Courier New"/>
                <a:cs typeface="Courier New"/>
              </a:rPr>
              <a:t>the</a:t>
            </a:r>
            <a:r>
              <a:rPr dirty="0" sz="1350" spc="-130">
                <a:solidFill>
                  <a:srgbClr val="698A6B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5B8E5B"/>
                </a:solidFill>
                <a:latin typeface="Courier New"/>
                <a:cs typeface="Courier New"/>
              </a:rPr>
              <a:t>data</a:t>
            </a:r>
            <a:endParaRPr sz="1350">
              <a:latin typeface="Courier New"/>
              <a:cs typeface="Courier New"/>
            </a:endParaRPr>
          </a:p>
          <a:p>
            <a:pPr marL="598805">
              <a:lnSpc>
                <a:spcPts val="1555"/>
              </a:lnSpc>
            </a:pPr>
            <a:r>
              <a:rPr dirty="0" sz="1350">
                <a:solidFill>
                  <a:srgbClr val="757575"/>
                </a:solidFill>
                <a:latin typeface="Consolas"/>
                <a:cs typeface="Consolas"/>
              </a:rPr>
              <a:t>If</a:t>
            </a:r>
            <a:r>
              <a:rPr dirty="0" sz="1350" spc="5">
                <a:solidFill>
                  <a:srgbClr val="757575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28262"/>
                </a:solidFill>
                <a:latin typeface="Consolas"/>
                <a:cs typeface="Consolas"/>
              </a:rPr>
              <a:t>you</a:t>
            </a:r>
            <a:r>
              <a:rPr dirty="0" sz="1350" spc="-25">
                <a:solidFill>
                  <a:srgbClr val="628262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B7969"/>
                </a:solidFill>
                <a:latin typeface="Consolas"/>
                <a:cs typeface="Consolas"/>
              </a:rPr>
              <a:t>are</a:t>
            </a:r>
            <a:r>
              <a:rPr dirty="0" sz="1350" spc="5">
                <a:solidFill>
                  <a:srgbClr val="6B7969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728A75"/>
                </a:solidFill>
                <a:latin typeface="Consolas"/>
                <a:cs typeface="Consolas"/>
              </a:rPr>
              <a:t>not</a:t>
            </a:r>
            <a:r>
              <a:rPr dirty="0" sz="1350" spc="25">
                <a:solidFill>
                  <a:srgbClr val="728A75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78270"/>
                </a:solidFill>
                <a:latin typeface="Consolas"/>
                <a:cs typeface="Consolas"/>
              </a:rPr>
              <a:t>sure</a:t>
            </a:r>
            <a:r>
              <a:rPr dirty="0" sz="1350" spc="35">
                <a:solidFill>
                  <a:srgbClr val="678270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5D7C5D"/>
                </a:solidFill>
                <a:latin typeface="Consolas"/>
                <a:cs typeface="Consolas"/>
              </a:rPr>
              <a:t>or</a:t>
            </a:r>
            <a:r>
              <a:rPr dirty="0" sz="1350" spc="60">
                <a:solidFill>
                  <a:srgbClr val="5D7C5D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A8A8A8"/>
                </a:solidFill>
                <a:latin typeface="Consolas"/>
                <a:cs typeface="Consolas"/>
              </a:rPr>
              <a:t>don't</a:t>
            </a:r>
            <a:r>
              <a:rPr dirty="0" sz="1350" spc="35">
                <a:solidFill>
                  <a:srgbClr val="A8A8A8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708770"/>
                </a:solidFill>
                <a:latin typeface="Consolas"/>
                <a:cs typeface="Consolas"/>
              </a:rPr>
              <a:t>know,</a:t>
            </a:r>
            <a:r>
              <a:rPr dirty="0" sz="1350" spc="110">
                <a:solidFill>
                  <a:srgbClr val="708770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07769"/>
                </a:solidFill>
                <a:latin typeface="Consolas"/>
                <a:cs typeface="Consolas"/>
              </a:rPr>
              <a:t>honestly</a:t>
            </a:r>
            <a:r>
              <a:rPr dirty="0" sz="1350" spc="120">
                <a:solidFill>
                  <a:srgbClr val="607769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779A79"/>
                </a:solidFill>
                <a:latin typeface="Consolas"/>
                <a:cs typeface="Consolas"/>
              </a:rPr>
              <a:t>say</a:t>
            </a:r>
            <a:r>
              <a:rPr dirty="0" sz="1350" spc="25">
                <a:solidFill>
                  <a:srgbClr val="779A79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76767"/>
                </a:solidFill>
                <a:latin typeface="Consolas"/>
                <a:cs typeface="Consolas"/>
              </a:rPr>
              <a:t>you</a:t>
            </a:r>
            <a:r>
              <a:rPr dirty="0" sz="1350" spc="30">
                <a:solidFill>
                  <a:srgbClr val="676767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A5A5A5"/>
                </a:solidFill>
                <a:latin typeface="Consolas"/>
                <a:cs typeface="Consolas"/>
              </a:rPr>
              <a:t>don't</a:t>
            </a:r>
            <a:r>
              <a:rPr dirty="0" sz="1350" spc="35">
                <a:solidFill>
                  <a:srgbClr val="A5A5A5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779075"/>
                </a:solidFill>
                <a:latin typeface="Consolas"/>
                <a:cs typeface="Consolas"/>
              </a:rPr>
              <a:t>know.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14557" y="3641992"/>
            <a:ext cx="8591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5">
                <a:solidFill>
                  <a:srgbClr val="678570"/>
                </a:solidFill>
                <a:latin typeface="Courier New"/>
                <a:cs typeface="Courier New"/>
              </a:rPr>
              <a:t>provided.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8678" y="4193816"/>
            <a:ext cx="4911090" cy="1148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>
              <a:lnSpc>
                <a:spcPts val="1505"/>
              </a:lnSpc>
              <a:spcBef>
                <a:spcPts val="100"/>
              </a:spcBef>
            </a:pPr>
            <a:r>
              <a:rPr dirty="0" sz="1350">
                <a:solidFill>
                  <a:srgbClr val="0F0F0F"/>
                </a:solidFill>
                <a:latin typeface="Consolas"/>
                <a:cs typeface="Consolas"/>
              </a:rPr>
              <a:t>.user("Why</a:t>
            </a:r>
            <a:r>
              <a:rPr dirty="0" sz="1350" spc="65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9C9C9C"/>
                </a:solidFill>
                <a:latin typeface="Consolas"/>
                <a:cs typeface="Consolas"/>
              </a:rPr>
              <a:t>is</a:t>
            </a:r>
            <a:r>
              <a:rPr dirty="0" sz="1350" spc="20">
                <a:solidFill>
                  <a:srgbClr val="9C9C9C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48064"/>
                </a:solidFill>
                <a:latin typeface="Consolas"/>
                <a:cs typeface="Consolas"/>
              </a:rPr>
              <a:t>the</a:t>
            </a:r>
            <a:r>
              <a:rPr dirty="0" sz="1350" spc="15">
                <a:solidFill>
                  <a:srgbClr val="648064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6DA169"/>
                </a:solidFill>
                <a:latin typeface="Consolas"/>
                <a:cs typeface="Consolas"/>
              </a:rPr>
              <a:t>definition</a:t>
            </a:r>
            <a:r>
              <a:rPr dirty="0" sz="1350" spc="125">
                <a:solidFill>
                  <a:srgbClr val="6DA169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97C1B3"/>
                </a:solidFill>
                <a:latin typeface="Consolas"/>
                <a:cs typeface="Consolas"/>
              </a:rPr>
              <a:t>of</a:t>
            </a:r>
            <a:r>
              <a:rPr dirty="0" sz="1350" spc="40">
                <a:solidFill>
                  <a:srgbClr val="97C1B3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B5B5B5"/>
                </a:solidFill>
                <a:latin typeface="Consolas"/>
                <a:cs typeface="Consolas"/>
              </a:rPr>
              <a:t>AI </a:t>
            </a:r>
            <a:r>
              <a:rPr dirty="0" sz="1350" spc="-10">
                <a:solidFill>
                  <a:srgbClr val="161616"/>
                </a:solidFill>
                <a:latin typeface="Consolas"/>
                <a:cs typeface="Consolas"/>
              </a:rPr>
              <a:t>difficult?“)</a:t>
            </a:r>
            <a:endParaRPr sz="1350">
              <a:latin typeface="Consolas"/>
              <a:cs typeface="Consolas"/>
            </a:endParaRPr>
          </a:p>
          <a:p>
            <a:pPr marL="190500">
              <a:lnSpc>
                <a:spcPts val="1485"/>
              </a:lnSpc>
            </a:pPr>
            <a:r>
              <a:rPr dirty="0" sz="1450" spc="-140">
                <a:latin typeface="Courier New"/>
                <a:cs typeface="Courier New"/>
              </a:rPr>
              <a:t>.advisors(new</a:t>
            </a:r>
            <a:r>
              <a:rPr dirty="0" sz="1450" spc="15">
                <a:latin typeface="Courier New"/>
                <a:cs typeface="Courier New"/>
              </a:rPr>
              <a:t> </a:t>
            </a:r>
            <a:r>
              <a:rPr dirty="0" sz="1450" spc="-120">
                <a:latin typeface="Courier New"/>
                <a:cs typeface="Courier New"/>
              </a:rPr>
              <a:t>QuestionAnswerAdvisor(vector5tore))</a:t>
            </a:r>
            <a:endParaRPr sz="1450">
              <a:latin typeface="Courier New"/>
              <a:cs typeface="Courier New"/>
            </a:endParaRPr>
          </a:p>
          <a:p>
            <a:pPr marL="219075">
              <a:lnSpc>
                <a:spcPts val="1425"/>
              </a:lnSpc>
            </a:pPr>
            <a:r>
              <a:rPr dirty="0" sz="1400" spc="-50">
                <a:solidFill>
                  <a:srgbClr val="151515"/>
                </a:solidFill>
                <a:latin typeface="Calibri"/>
                <a:cs typeface="Calibri"/>
              </a:rPr>
              <a:t>. </a:t>
            </a:r>
            <a:r>
              <a:rPr dirty="0" sz="1400" spc="265">
                <a:latin typeface="Calibri"/>
                <a:cs typeface="Calibri"/>
              </a:rPr>
              <a:t>call(</a:t>
            </a:r>
            <a:r>
              <a:rPr dirty="0" sz="1400" spc="-95">
                <a:latin typeface="Calibri"/>
                <a:cs typeface="Calibri"/>
              </a:rPr>
              <a:t> </a:t>
            </a:r>
            <a:r>
              <a:rPr dirty="0" sz="1400" spc="195">
                <a:solidFill>
                  <a:srgbClr val="181818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215900">
              <a:lnSpc>
                <a:spcPts val="1560"/>
              </a:lnSpc>
            </a:pPr>
            <a:r>
              <a:rPr dirty="0" sz="1400" spc="75">
                <a:solidFill>
                  <a:srgbClr val="161616"/>
                </a:solidFill>
                <a:latin typeface="Arial MT"/>
                <a:cs typeface="Arial MT"/>
              </a:rPr>
              <a:t>.</a:t>
            </a:r>
            <a:r>
              <a:rPr dirty="0" sz="1400" spc="75">
                <a:latin typeface="Arial MT"/>
                <a:cs typeface="Arial MT"/>
              </a:rPr>
              <a:t>content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32323"/>
                </a:solidFill>
                <a:latin typeface="Arial MT"/>
                <a:cs typeface="Arial MT"/>
              </a:rPr>
              <a:t>(</a:t>
            </a:r>
            <a:r>
              <a:rPr dirty="0" sz="1400" spc="-7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)</a:t>
            </a:r>
            <a:r>
              <a:rPr dirty="0" sz="1400" spc="-1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0E0E0E"/>
                </a:solidFill>
                <a:latin typeface="Arial MT"/>
                <a:cs typeface="Arial MT"/>
              </a:rPr>
              <a:t>;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2693670" algn="l"/>
                <a:tab pos="3162935" algn="l"/>
              </a:tabLst>
            </a:pPr>
            <a:r>
              <a:rPr dirty="0" sz="1300">
                <a:solidFill>
                  <a:srgbClr val="131313"/>
                </a:solidFill>
                <a:latin typeface="Calibri"/>
                <a:cs typeface="Calibri"/>
              </a:rPr>
              <a:t>log</a:t>
            </a:r>
            <a:r>
              <a:rPr dirty="0" sz="1300" spc="160">
                <a:solidFill>
                  <a:srgbClr val="131313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818"/>
                </a:solidFill>
                <a:latin typeface="Calibri"/>
                <a:cs typeface="Calibri"/>
              </a:rPr>
              <a:t>.</a:t>
            </a:r>
            <a:r>
              <a:rPr dirty="0" sz="1300" spc="-8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300" spc="165">
                <a:latin typeface="Calibri"/>
                <a:cs typeface="Calibri"/>
              </a:rPr>
              <a:t>1nfo(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758C72"/>
                </a:solidFill>
                <a:latin typeface="Calibri"/>
                <a:cs typeface="Calibri"/>
              </a:rPr>
              <a:t>"</a:t>
            </a:r>
            <a:r>
              <a:rPr dirty="0" sz="1300">
                <a:solidFill>
                  <a:srgbClr val="54775B"/>
                </a:solidFill>
                <a:latin typeface="Calibri"/>
                <a:cs typeface="Calibri"/>
              </a:rPr>
              <a:t>Chat</a:t>
            </a:r>
            <a:r>
              <a:rPr dirty="0" sz="1300" spc="390">
                <a:solidFill>
                  <a:srgbClr val="54775B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749A70"/>
                </a:solidFill>
                <a:latin typeface="Calibri"/>
                <a:cs typeface="Calibri"/>
              </a:rPr>
              <a:t>GPT</a:t>
            </a:r>
            <a:r>
              <a:rPr dirty="0" sz="1300" spc="175">
                <a:solidFill>
                  <a:srgbClr val="749A70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979797"/>
                </a:solidFill>
                <a:latin typeface="Calibri"/>
                <a:cs typeface="Calibri"/>
              </a:rPr>
              <a:t>answe</a:t>
            </a:r>
            <a:r>
              <a:rPr dirty="0" sz="1300" spc="-130">
                <a:solidFill>
                  <a:srgbClr val="97979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728272"/>
                </a:solidFill>
                <a:latin typeface="Calibri"/>
                <a:cs typeface="Calibri"/>
              </a:rPr>
              <a:t>red</a:t>
            </a:r>
            <a:r>
              <a:rPr dirty="0" sz="1300" spc="225">
                <a:solidFill>
                  <a:srgbClr val="728272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627B64"/>
                </a:solidFill>
                <a:latin typeface="Calibri"/>
                <a:cs typeface="Calibri"/>
              </a:rPr>
              <a:t>:</a:t>
            </a:r>
            <a:r>
              <a:rPr dirty="0" sz="1300">
                <a:solidFill>
                  <a:srgbClr val="627B64"/>
                </a:solidFill>
                <a:latin typeface="Calibri"/>
                <a:cs typeface="Calibri"/>
              </a:rPr>
              <a:t>	</a:t>
            </a:r>
            <a:r>
              <a:rPr dirty="0" sz="1300" spc="220">
                <a:solidFill>
                  <a:srgbClr val="5D8060"/>
                </a:solidFill>
                <a:latin typeface="Calibri"/>
                <a:cs typeface="Calibri"/>
              </a:rPr>
              <a:t>{}</a:t>
            </a:r>
            <a:r>
              <a:rPr dirty="0" sz="1300" spc="220">
                <a:solidFill>
                  <a:srgbClr val="70896E"/>
                </a:solidFill>
                <a:latin typeface="Calibri"/>
                <a:cs typeface="Calibri"/>
              </a:rPr>
              <a:t>"</a:t>
            </a:r>
            <a:r>
              <a:rPr dirty="0" sz="1300" spc="220">
                <a:solidFill>
                  <a:srgbClr val="111111"/>
                </a:solidFill>
                <a:latin typeface="Calibri"/>
                <a:cs typeface="Calibri"/>
              </a:rPr>
              <a:t>,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1300" spc="75">
                <a:solidFill>
                  <a:srgbClr val="0C0C0C"/>
                </a:solidFill>
                <a:latin typeface="Calibri"/>
                <a:cs typeface="Calibri"/>
              </a:rPr>
              <a:t>answer</a:t>
            </a:r>
            <a:r>
              <a:rPr dirty="0" sz="1300" spc="4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323"/>
                </a:solidFill>
                <a:latin typeface="Calibri"/>
                <a:cs typeface="Calibri"/>
              </a:rPr>
              <a:t>)</a:t>
            </a:r>
            <a:r>
              <a:rPr dirty="0" sz="1300" spc="4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212121"/>
                </a:solidFill>
                <a:latin typeface="Calibri"/>
                <a:cs typeface="Calibri"/>
              </a:rPr>
              <a:t>;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03AACF"/>
                </a:solidFill>
                <a:latin typeface="Arial MT"/>
                <a:cs typeface="Arial MT"/>
              </a:rPr>
              <a:t>Registering</a:t>
            </a:r>
            <a:r>
              <a:rPr dirty="0" sz="3200" spc="170">
                <a:solidFill>
                  <a:srgbClr val="03AAC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15A5D1"/>
                </a:solidFill>
                <a:latin typeface="Arial MT"/>
                <a:cs typeface="Arial MT"/>
              </a:rPr>
              <a:t>Custom</a:t>
            </a:r>
            <a:r>
              <a:rPr dirty="0" sz="3200" spc="200">
                <a:solidFill>
                  <a:srgbClr val="15A5D1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13AFE2"/>
                </a:solidFill>
                <a:latin typeface="Arial MT"/>
                <a:cs typeface="Arial MT"/>
              </a:rPr>
              <a:t>Functions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5900" marR="280670" indent="-203835">
              <a:lnSpc>
                <a:spcPct val="107300"/>
              </a:lnSpc>
              <a:spcBef>
                <a:spcPts val="100"/>
              </a:spcBef>
              <a:buClr>
                <a:srgbClr val="1D1D1D"/>
              </a:buClr>
              <a:buChar char="•"/>
              <a:tabLst>
                <a:tab pos="219075" algn="l"/>
              </a:tabLst>
            </a:pPr>
            <a:r>
              <a:rPr dirty="0" spc="-70">
                <a:solidFill>
                  <a:srgbClr val="1A1A1A"/>
                </a:solidFill>
              </a:rPr>
              <a:t>The</a:t>
            </a:r>
            <a:r>
              <a:rPr dirty="0" spc="-6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model</a:t>
            </a:r>
            <a:r>
              <a:rPr dirty="0" spc="30">
                <a:solidFill>
                  <a:srgbClr val="181818"/>
                </a:solidFill>
              </a:rPr>
              <a:t> </a:t>
            </a:r>
            <a:r>
              <a:rPr dirty="0" spc="-20">
                <a:solidFill>
                  <a:srgbClr val="0C0C0C"/>
                </a:solidFill>
              </a:rPr>
              <a:t>generates</a:t>
            </a:r>
            <a:r>
              <a:rPr dirty="0" spc="100">
                <a:solidFill>
                  <a:srgbClr val="0C0C0C"/>
                </a:solidFill>
              </a:rPr>
              <a:t> </a:t>
            </a:r>
            <a:r>
              <a:rPr dirty="0" spc="-275">
                <a:solidFill>
                  <a:srgbClr val="212121"/>
                </a:solidFill>
              </a:rPr>
              <a:t>a</a:t>
            </a:r>
            <a:r>
              <a:rPr dirty="0" spc="-10">
                <a:solidFill>
                  <a:srgbClr val="212121"/>
                </a:solidFill>
              </a:rPr>
              <a:t> </a:t>
            </a:r>
            <a:r>
              <a:rPr dirty="0" spc="-185">
                <a:solidFill>
                  <a:srgbClr val="111111"/>
                </a:solidFill>
              </a:rPr>
              <a:t>3SON</a:t>
            </a:r>
            <a:r>
              <a:rPr dirty="0" spc="40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131313"/>
                </a:solidFill>
              </a:rPr>
              <a:t>object</a:t>
            </a:r>
            <a:r>
              <a:rPr dirty="0" spc="100">
                <a:solidFill>
                  <a:srgbClr val="131313"/>
                </a:solidFill>
              </a:rPr>
              <a:t> </a:t>
            </a:r>
            <a:r>
              <a:rPr dirty="0" spc="50">
                <a:solidFill>
                  <a:srgbClr val="1A1A1A"/>
                </a:solidFill>
              </a:rPr>
              <a:t>with</a:t>
            </a:r>
            <a:r>
              <a:rPr dirty="0" spc="3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arguments</a:t>
            </a:r>
            <a:r>
              <a:rPr dirty="0" spc="5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1C1C1C"/>
                </a:solidFill>
              </a:rPr>
              <a:t>for</a:t>
            </a:r>
            <a:r>
              <a:rPr dirty="0" spc="15">
                <a:solidFill>
                  <a:srgbClr val="1C1C1C"/>
                </a:solidFill>
              </a:rPr>
              <a:t> </a:t>
            </a:r>
            <a:r>
              <a:rPr dirty="0">
                <a:solidFill>
                  <a:srgbClr val="1C1C1C"/>
                </a:solidFill>
              </a:rPr>
              <a:t>the</a:t>
            </a:r>
            <a:r>
              <a:rPr dirty="0" spc="-40">
                <a:solidFill>
                  <a:srgbClr val="1C1C1C"/>
                </a:solidFill>
              </a:rPr>
              <a:t> </a:t>
            </a:r>
            <a:r>
              <a:rPr dirty="0" spc="-10"/>
              <a:t>registered 	functions.</a:t>
            </a:r>
          </a:p>
          <a:p>
            <a:pPr marL="215265" indent="-202565">
              <a:lnSpc>
                <a:spcPct val="100000"/>
              </a:lnSpc>
              <a:spcBef>
                <a:spcPts val="660"/>
              </a:spcBef>
              <a:buClr>
                <a:srgbClr val="1C1C1C"/>
              </a:buClr>
              <a:buChar char="•"/>
              <a:tabLst>
                <a:tab pos="215265" algn="l"/>
              </a:tabLst>
            </a:pPr>
            <a:r>
              <a:rPr dirty="0" sz="2100" spc="-114">
                <a:solidFill>
                  <a:srgbClr val="181818"/>
                </a:solidFill>
              </a:rPr>
              <a:t>The</a:t>
            </a:r>
            <a:r>
              <a:rPr dirty="0" sz="2100" spc="-15">
                <a:solidFill>
                  <a:srgbClr val="181818"/>
                </a:solidFill>
              </a:rPr>
              <a:t> </a:t>
            </a:r>
            <a:r>
              <a:rPr dirty="0" sz="2100">
                <a:solidFill>
                  <a:srgbClr val="161616"/>
                </a:solidFill>
              </a:rPr>
              <a:t>model</a:t>
            </a:r>
            <a:r>
              <a:rPr dirty="0" sz="2100" spc="-5">
                <a:solidFill>
                  <a:srgbClr val="161616"/>
                </a:solidFill>
              </a:rPr>
              <a:t> </a:t>
            </a:r>
            <a:r>
              <a:rPr dirty="0" sz="2100" spc="-75"/>
              <a:t>does</a:t>
            </a:r>
            <a:r>
              <a:rPr dirty="0" sz="2100" spc="-55"/>
              <a:t> </a:t>
            </a:r>
            <a:r>
              <a:rPr dirty="0" sz="2100">
                <a:solidFill>
                  <a:srgbClr val="0E0E0E"/>
                </a:solidFill>
              </a:rPr>
              <a:t>not</a:t>
            </a:r>
            <a:r>
              <a:rPr dirty="0" sz="2100" spc="-5">
                <a:solidFill>
                  <a:srgbClr val="0E0E0E"/>
                </a:solidFill>
              </a:rPr>
              <a:t> </a:t>
            </a:r>
            <a:r>
              <a:rPr dirty="0" sz="2100" spc="-35"/>
              <a:t>call</a:t>
            </a:r>
            <a:r>
              <a:rPr dirty="0" sz="2100" spc="-30"/>
              <a:t> </a:t>
            </a:r>
            <a:r>
              <a:rPr dirty="0" sz="2100"/>
              <a:t>the</a:t>
            </a:r>
            <a:r>
              <a:rPr dirty="0" sz="2100" spc="-85"/>
              <a:t> </a:t>
            </a:r>
            <a:r>
              <a:rPr dirty="0" sz="2100"/>
              <a:t>function</a:t>
            </a:r>
            <a:r>
              <a:rPr dirty="0" sz="2100" spc="30"/>
              <a:t> </a:t>
            </a:r>
            <a:r>
              <a:rPr dirty="0" sz="2100" spc="-10"/>
              <a:t>directly.</a:t>
            </a:r>
            <a:endParaRPr sz="2100"/>
          </a:p>
          <a:p>
            <a:pPr marL="221615" indent="-208915">
              <a:lnSpc>
                <a:spcPct val="100000"/>
              </a:lnSpc>
              <a:spcBef>
                <a:spcPts val="625"/>
              </a:spcBef>
              <a:buClr>
                <a:srgbClr val="111111"/>
              </a:buClr>
              <a:buChar char="•"/>
              <a:tabLst>
                <a:tab pos="221615" algn="l"/>
              </a:tabLst>
            </a:pPr>
            <a:r>
              <a:rPr dirty="0" sz="2100" spc="-120">
                <a:solidFill>
                  <a:srgbClr val="0E0E0E"/>
                </a:solidFill>
              </a:rPr>
              <a:t>Vour</a:t>
            </a:r>
            <a:r>
              <a:rPr dirty="0" sz="2100" spc="10">
                <a:solidFill>
                  <a:srgbClr val="0E0E0E"/>
                </a:solidFill>
              </a:rPr>
              <a:t> </a:t>
            </a:r>
            <a:r>
              <a:rPr dirty="0" sz="2100" spc="-45">
                <a:solidFill>
                  <a:srgbClr val="161616"/>
                </a:solidFill>
              </a:rPr>
              <a:t>code</a:t>
            </a:r>
            <a:r>
              <a:rPr dirty="0" sz="2100" spc="-20">
                <a:solidFill>
                  <a:srgbClr val="161616"/>
                </a:solidFill>
              </a:rPr>
              <a:t> </a:t>
            </a:r>
            <a:r>
              <a:rPr dirty="0" sz="2100" spc="-65">
                <a:solidFill>
                  <a:srgbClr val="161616"/>
                </a:solidFill>
              </a:rPr>
              <a:t>executes</a:t>
            </a:r>
            <a:r>
              <a:rPr dirty="0" sz="2100" spc="15">
                <a:solidFill>
                  <a:srgbClr val="161616"/>
                </a:solidFill>
              </a:rPr>
              <a:t> </a:t>
            </a:r>
            <a:r>
              <a:rPr dirty="0" sz="2100">
                <a:solidFill>
                  <a:srgbClr val="0F0F0F"/>
                </a:solidFill>
              </a:rPr>
              <a:t>the</a:t>
            </a:r>
            <a:r>
              <a:rPr dirty="0" sz="2100" spc="-60">
                <a:solidFill>
                  <a:srgbClr val="0F0F0F"/>
                </a:solidFill>
              </a:rPr>
              <a:t> </a:t>
            </a:r>
            <a:r>
              <a:rPr dirty="0" sz="2100"/>
              <a:t>function,</a:t>
            </a:r>
            <a:r>
              <a:rPr dirty="0" sz="2100" spc="-45"/>
              <a:t> </a:t>
            </a:r>
            <a:r>
              <a:rPr dirty="0" sz="2100" spc="-20">
                <a:solidFill>
                  <a:srgbClr val="111111"/>
                </a:solidFill>
              </a:rPr>
              <a:t>and</a:t>
            </a:r>
            <a:r>
              <a:rPr dirty="0" sz="2100" spc="-70">
                <a:solidFill>
                  <a:srgbClr val="111111"/>
                </a:solidFill>
              </a:rPr>
              <a:t> </a:t>
            </a:r>
            <a:r>
              <a:rPr dirty="0" sz="2100">
                <a:solidFill>
                  <a:srgbClr val="181818"/>
                </a:solidFill>
              </a:rPr>
              <a:t>the</a:t>
            </a:r>
            <a:r>
              <a:rPr dirty="0" sz="2100" spc="-90">
                <a:solidFill>
                  <a:srgbClr val="181818"/>
                </a:solidFill>
              </a:rPr>
              <a:t> </a:t>
            </a:r>
            <a:r>
              <a:rPr dirty="0" sz="2100" spc="-20">
                <a:solidFill>
                  <a:srgbClr val="0E0E0E"/>
                </a:solidFill>
              </a:rPr>
              <a:t>result</a:t>
            </a:r>
            <a:r>
              <a:rPr dirty="0" sz="2100">
                <a:solidFill>
                  <a:srgbClr val="0E0E0E"/>
                </a:solidFill>
              </a:rPr>
              <a:t> </a:t>
            </a:r>
            <a:r>
              <a:rPr dirty="0" sz="2100" spc="-85">
                <a:solidFill>
                  <a:srgbClr val="181818"/>
                </a:solidFill>
              </a:rPr>
              <a:t>is</a:t>
            </a:r>
            <a:r>
              <a:rPr dirty="0" sz="2100" spc="-60">
                <a:solidFill>
                  <a:srgbClr val="181818"/>
                </a:solidFill>
              </a:rPr>
              <a:t> </a:t>
            </a:r>
            <a:r>
              <a:rPr dirty="0" sz="2100">
                <a:solidFill>
                  <a:srgbClr val="161616"/>
                </a:solidFill>
              </a:rPr>
              <a:t>returned</a:t>
            </a:r>
            <a:r>
              <a:rPr dirty="0" sz="2100" spc="-70">
                <a:solidFill>
                  <a:srgbClr val="161616"/>
                </a:solidFill>
              </a:rPr>
              <a:t> </a:t>
            </a:r>
            <a:r>
              <a:rPr dirty="0" sz="2100">
                <a:solidFill>
                  <a:srgbClr val="1C1C1C"/>
                </a:solidFill>
              </a:rPr>
              <a:t>to</a:t>
            </a:r>
            <a:r>
              <a:rPr dirty="0" sz="2100" spc="-150">
                <a:solidFill>
                  <a:srgbClr val="1C1C1C"/>
                </a:solidFill>
              </a:rPr>
              <a:t> </a:t>
            </a:r>
            <a:r>
              <a:rPr dirty="0" sz="2100">
                <a:solidFill>
                  <a:srgbClr val="111111"/>
                </a:solidFill>
              </a:rPr>
              <a:t>the</a:t>
            </a:r>
            <a:r>
              <a:rPr dirty="0" sz="2100" spc="-90">
                <a:solidFill>
                  <a:srgbClr val="111111"/>
                </a:solidFill>
              </a:rPr>
              <a:t> </a:t>
            </a:r>
            <a:r>
              <a:rPr dirty="0" sz="2100" spc="-10">
                <a:solidFill>
                  <a:srgbClr val="0C0C0C"/>
                </a:solidFill>
              </a:rPr>
              <a:t>model.</a:t>
            </a:r>
            <a:endParaRPr sz="2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2992" y="2548756"/>
            <a:ext cx="390144" cy="19633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1048770"/>
            <a:ext cx="377951" cy="40853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48143" y="1054868"/>
            <a:ext cx="347472" cy="19999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48143" y="4207278"/>
            <a:ext cx="292607" cy="1463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7887" y="5063978"/>
            <a:ext cx="1883664" cy="10060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078" rIns="0" bIns="0" rtlCol="0" vert="horz">
            <a:spAutoFit/>
          </a:bodyPr>
          <a:lstStyle/>
          <a:p>
            <a:pPr marL="157734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7024C8"/>
                </a:solidFill>
                <a:latin typeface="Arial MT"/>
                <a:cs typeface="Arial MT"/>
              </a:rPr>
              <a:t>Your</a:t>
            </a:r>
            <a:r>
              <a:rPr dirty="0" sz="1300" spc="-15">
                <a:solidFill>
                  <a:srgbClr val="7024C8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6926A3"/>
                </a:solidFill>
                <a:latin typeface="Arial MT"/>
                <a:cs typeface="Arial MT"/>
              </a:rPr>
              <a:t>code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15247" y="1046232"/>
            <a:ext cx="3191510" cy="37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910" marR="5080" indent="-283845">
              <a:lnSpc>
                <a:spcPct val="115999"/>
              </a:lnSpc>
              <a:spcBef>
                <a:spcPts val="100"/>
              </a:spcBef>
            </a:pPr>
            <a:r>
              <a:rPr dirty="0" sz="1000">
                <a:solidFill>
                  <a:srgbClr val="0C0C0C"/>
                </a:solidFill>
                <a:latin typeface="Arial MT"/>
                <a:cs typeface="Arial MT"/>
              </a:rPr>
              <a:t>1.</a:t>
            </a:r>
            <a:r>
              <a:rPr dirty="0" sz="1000" spc="9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31313"/>
                </a:solidFill>
                <a:latin typeface="Arial MT"/>
                <a:cs typeface="Arial MT"/>
              </a:rPr>
              <a:t>Your</a:t>
            </a:r>
            <a:r>
              <a:rPr dirty="0" sz="1000" spc="7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application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calls</a:t>
            </a:r>
            <a:r>
              <a:rPr dirty="0" sz="1000" spc="114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API</a:t>
            </a:r>
            <a:r>
              <a:rPr dirty="0" sz="1000" spc="114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31313"/>
                </a:solidFill>
                <a:latin typeface="Arial MT"/>
                <a:cs typeface="Arial MT"/>
              </a:rPr>
              <a:t>your</a:t>
            </a:r>
            <a:r>
              <a:rPr dirty="0" sz="1000" spc="1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11111"/>
                </a:solidFill>
                <a:latin typeface="Arial MT"/>
                <a:cs typeface="Arial MT"/>
              </a:rPr>
              <a:t>prompt</a:t>
            </a:r>
            <a:r>
              <a:rPr dirty="0" sz="1000" spc="1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F0F0F"/>
                </a:solidFill>
                <a:latin typeface="Arial MT"/>
                <a:cs typeface="Arial MT"/>
              </a:rPr>
              <a:t>and </a:t>
            </a:r>
            <a:r>
              <a:rPr dirty="0" sz="1000" spc="20">
                <a:solidFill>
                  <a:srgbClr val="0C0C0C"/>
                </a:solidFill>
                <a:latin typeface="Arial MT"/>
                <a:cs typeface="Arial MT"/>
              </a:rPr>
              <a:t>definitions</a:t>
            </a:r>
            <a:r>
              <a:rPr dirty="0" sz="1000" spc="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181818"/>
                </a:solidFill>
                <a:latin typeface="Arial MT"/>
                <a:cs typeface="Arial MT"/>
              </a:rPr>
              <a:t>of</a:t>
            </a:r>
            <a:r>
              <a:rPr dirty="0" sz="1000" spc="9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1000" spc="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functions</a:t>
            </a:r>
            <a:r>
              <a:rPr dirty="0" sz="1000" spc="114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the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LLM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151515"/>
                </a:solidFill>
                <a:latin typeface="Arial MT"/>
                <a:cs typeface="Arial MT"/>
              </a:rPr>
              <a:t>can</a:t>
            </a:r>
            <a:r>
              <a:rPr dirty="0" sz="100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F0F0F"/>
                </a:solidFill>
                <a:latin typeface="Arial MT"/>
                <a:cs typeface="Arial MT"/>
              </a:rPr>
              <a:t>call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89906" y="1790129"/>
            <a:ext cx="3299460" cy="37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885">
              <a:lnSpc>
                <a:spcPct val="115999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2.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dirty="0" sz="1000" spc="3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51515"/>
                </a:solidFill>
                <a:latin typeface="Arial MT"/>
                <a:cs typeface="Arial MT"/>
              </a:rPr>
              <a:t>model</a:t>
            </a:r>
            <a:r>
              <a:rPr dirty="0" sz="1000" spc="114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decides</a:t>
            </a:r>
            <a:r>
              <a:rPr dirty="0" sz="1000" spc="1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whether</a:t>
            </a:r>
            <a:r>
              <a:rPr dirty="0" sz="1000" spc="17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respond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dirty="0" sz="1000" spc="8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dirty="0" sz="1000" spc="10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user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or </a:t>
            </a:r>
            <a:r>
              <a:rPr dirty="0" sz="1000" spc="20">
                <a:latin typeface="Arial MT"/>
                <a:cs typeface="Arial MT"/>
              </a:rPr>
              <a:t>whether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111111"/>
                </a:solidFill>
                <a:latin typeface="Arial MT"/>
                <a:cs typeface="Arial MT"/>
              </a:rPr>
              <a:t>one</a:t>
            </a:r>
            <a:r>
              <a:rPr dirty="0" sz="10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or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more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functions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0F0F0F"/>
                </a:solidFill>
                <a:latin typeface="Arial MT"/>
                <a:cs typeface="Arial MT"/>
              </a:rPr>
              <a:t>should</a:t>
            </a:r>
            <a:r>
              <a:rPr dirty="0" sz="10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be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called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17646" y="2546220"/>
            <a:ext cx="3234690" cy="37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" marR="5080" indent="-34925">
              <a:lnSpc>
                <a:spcPct val="115999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3.</a:t>
            </a:r>
            <a:r>
              <a:rPr dirty="0" sz="1000" spc="13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1000" spc="1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C0C0C"/>
                </a:solidFill>
                <a:latin typeface="Arial MT"/>
                <a:cs typeface="Arial MT"/>
              </a:rPr>
              <a:t>API</a:t>
            </a:r>
            <a:r>
              <a:rPr dirty="0" sz="100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responds</a:t>
            </a:r>
            <a:r>
              <a:rPr dirty="0" sz="1000" spc="1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20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31313"/>
                </a:solidFill>
                <a:latin typeface="Arial MT"/>
                <a:cs typeface="Arial MT"/>
              </a:rPr>
              <a:t>your</a:t>
            </a:r>
            <a:r>
              <a:rPr dirty="0" sz="1000" spc="18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E0E0E"/>
                </a:solidFill>
                <a:latin typeface="Arial MT"/>
                <a:cs typeface="Arial MT"/>
              </a:rPr>
              <a:t>application</a:t>
            </a:r>
            <a:r>
              <a:rPr dirty="0" sz="1000" spc="19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specifying</a:t>
            </a:r>
            <a:r>
              <a:rPr dirty="0" sz="1000" spc="10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10">
                <a:latin typeface="Arial MT"/>
                <a:cs typeface="Arial MT"/>
              </a:rPr>
              <a:t>function</a:t>
            </a:r>
            <a:r>
              <a:rPr dirty="0" sz="1000" spc="150"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151515"/>
                </a:solidFill>
                <a:latin typeface="Arial MT"/>
                <a:cs typeface="Arial MT"/>
              </a:rPr>
              <a:t>to</a:t>
            </a:r>
            <a:r>
              <a:rPr dirty="0" sz="1000" spc="5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be </a:t>
            </a:r>
            <a:r>
              <a:rPr dirty="0" sz="1000" spc="10">
                <a:solidFill>
                  <a:srgbClr val="0C0C0C"/>
                </a:solidFill>
                <a:latin typeface="Arial MT"/>
                <a:cs typeface="Arial MT"/>
              </a:rPr>
              <a:t>called</a:t>
            </a:r>
            <a:r>
              <a:rPr dirty="0" sz="1000" spc="1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and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the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arguments</a:t>
            </a:r>
            <a:r>
              <a:rPr dirty="0" sz="1000" spc="18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to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call </a:t>
            </a:r>
            <a:r>
              <a:rPr dirty="0" sz="1000" spc="10">
                <a:solidFill>
                  <a:srgbClr val="151515"/>
                </a:solidFill>
                <a:latin typeface="Arial MT"/>
                <a:cs typeface="Arial MT"/>
              </a:rPr>
              <a:t>it</a:t>
            </a:r>
            <a:r>
              <a:rPr dirty="0" sz="1000" spc="15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344583" y="3293163"/>
            <a:ext cx="2974340" cy="373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2819" marR="5080" indent="-960755">
              <a:lnSpc>
                <a:spcPct val="113999"/>
              </a:lnSpc>
              <a:spcBef>
                <a:spcPts val="100"/>
              </a:spcBef>
            </a:pPr>
            <a:r>
              <a:rPr dirty="0" sz="1000" spc="55">
                <a:latin typeface="Arial MT"/>
                <a:cs typeface="Arial MT"/>
              </a:rPr>
              <a:t>4.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Your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application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executes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1000" spc="1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function</a:t>
            </a:r>
            <a:r>
              <a:rPr dirty="0" sz="1000" spc="21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with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>
                <a:solidFill>
                  <a:srgbClr val="111111"/>
                </a:solidFill>
                <a:latin typeface="Arial MT"/>
                <a:cs typeface="Arial MT"/>
              </a:rPr>
              <a:t>given</a:t>
            </a:r>
            <a:r>
              <a:rPr dirty="0" sz="1000" spc="3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arguments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365309" y="4082789"/>
            <a:ext cx="3487420" cy="367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1925" marR="5080" indent="-149860">
              <a:lnSpc>
                <a:spcPct val="112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5.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Your</a:t>
            </a:r>
            <a:r>
              <a:rPr dirty="0" sz="1000" spc="1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application</a:t>
            </a:r>
            <a:r>
              <a:rPr dirty="0" sz="1000" spc="1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calls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1000" spc="18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API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providing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your</a:t>
            </a:r>
            <a:r>
              <a:rPr dirty="0" sz="1000" spc="114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prompt</a:t>
            </a:r>
            <a:r>
              <a:rPr dirty="0" sz="1000" spc="1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and </a:t>
            </a:r>
            <a:r>
              <a:rPr dirty="0" sz="1000" spc="3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result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of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0C0C0C"/>
                </a:solidFill>
                <a:latin typeface="Arial MT"/>
                <a:cs typeface="Arial MT"/>
              </a:rPr>
              <a:t>function</a:t>
            </a:r>
            <a:r>
              <a:rPr dirty="0" sz="1000" spc="-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call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your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code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0F0F0F"/>
                </a:solidFill>
                <a:latin typeface="Arial MT"/>
                <a:cs typeface="Arial MT"/>
              </a:rPr>
              <a:t>just </a:t>
            </a:r>
            <a:r>
              <a:rPr dirty="0" sz="1000" spc="-10">
                <a:solidFill>
                  <a:srgbClr val="0F0F0F"/>
                </a:solidFill>
                <a:latin typeface="Arial MT"/>
                <a:cs typeface="Arial MT"/>
              </a:rPr>
              <a:t>executed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82776" y="636684"/>
            <a:ext cx="3397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4182D6"/>
                </a:solidFill>
                <a:latin typeface="Arial MT"/>
                <a:cs typeface="Arial MT"/>
              </a:rPr>
              <a:t>LLM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9071" y="5359706"/>
            <a:ext cx="97535" cy="853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8916" y="436991"/>
            <a:ext cx="294576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2755" algn="l"/>
              </a:tabLst>
            </a:pPr>
            <a:r>
              <a:rPr dirty="0" spc="45">
                <a:solidFill>
                  <a:srgbClr val="23AFC8"/>
                </a:solidFill>
                <a:latin typeface="Times New Roman"/>
                <a:cs typeface="Times New Roman"/>
              </a:rPr>
              <a:t>Function</a:t>
            </a:r>
            <a:r>
              <a:rPr dirty="0">
                <a:solidFill>
                  <a:srgbClr val="23AFC8"/>
                </a:solidFill>
                <a:latin typeface="Times New Roman"/>
                <a:cs typeface="Times New Roman"/>
              </a:rPr>
              <a:t>	</a:t>
            </a:r>
            <a:r>
              <a:rPr dirty="0" spc="-25">
                <a:solidFill>
                  <a:srgbClr val="00B1C1"/>
                </a:solidFill>
                <a:latin typeface="Times New Roman"/>
                <a:cs typeface="Times New Roman"/>
              </a:rPr>
              <a:t>Calling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08123" y="1495416"/>
            <a:ext cx="8047355" cy="791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35"/>
              </a:lnSpc>
              <a:spcBef>
                <a:spcPts val="100"/>
              </a:spcBef>
            </a:pPr>
            <a:r>
              <a:rPr dirty="0" sz="1400" spc="-10">
                <a:solidFill>
                  <a:srgbClr val="6E85DA"/>
                </a:solidFill>
                <a:latin typeface="Calibri"/>
                <a:cs typeface="Calibri"/>
              </a:rPr>
              <a:t>gBean</a:t>
            </a:r>
            <a:endParaRPr sz="1400">
              <a:latin typeface="Calibri"/>
              <a:cs typeface="Calibri"/>
            </a:endParaRPr>
          </a:p>
          <a:p>
            <a:pPr marL="35560">
              <a:lnSpc>
                <a:spcPts val="1440"/>
              </a:lnSpc>
            </a:pPr>
            <a:r>
              <a:rPr dirty="0" sz="1400" spc="10" i="1">
                <a:solidFill>
                  <a:srgbClr val="959595"/>
                </a:solidFill>
                <a:latin typeface="Calibri"/>
                <a:cs typeface="Calibri"/>
              </a:rPr>
              <a:t>//</a:t>
            </a:r>
            <a:r>
              <a:rPr dirty="0" sz="1400" spc="175" i="1">
                <a:solidFill>
                  <a:srgbClr val="959595"/>
                </a:solidFill>
                <a:latin typeface="Calibri"/>
                <a:cs typeface="Calibri"/>
              </a:rPr>
              <a:t>  </a:t>
            </a:r>
            <a:r>
              <a:rPr dirty="0" sz="1400" spc="10" i="1">
                <a:solidFill>
                  <a:srgbClr val="909090"/>
                </a:solidFill>
                <a:latin typeface="Calibri"/>
                <a:cs typeface="Calibri"/>
              </a:rPr>
              <a:t>Reques</a:t>
            </a:r>
            <a:r>
              <a:rPr dirty="0" sz="1400" spc="-60" i="1">
                <a:solidFill>
                  <a:srgbClr val="909090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A5A5A5"/>
                </a:solidFill>
                <a:latin typeface="Calibri"/>
                <a:cs typeface="Calibri"/>
              </a:rPr>
              <a:t>I</a:t>
            </a:r>
            <a:r>
              <a:rPr dirty="0" sz="1400" spc="180" i="1">
                <a:solidFill>
                  <a:srgbClr val="A5A5A5"/>
                </a:solidFill>
                <a:latin typeface="Calibri"/>
                <a:cs typeface="Calibri"/>
              </a:rPr>
              <a:t>  </a:t>
            </a:r>
            <a:r>
              <a:rPr dirty="0" sz="1400" spc="10" i="1">
                <a:solidFill>
                  <a:srgbClr val="909090"/>
                </a:solidFill>
                <a:latin typeface="Calibri"/>
                <a:cs typeface="Calibri"/>
              </a:rPr>
              <a:t>anno</a:t>
            </a:r>
            <a:r>
              <a:rPr dirty="0" sz="1400" spc="-160" i="1">
                <a:solidFill>
                  <a:srgbClr val="909090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909090"/>
                </a:solidFill>
                <a:latin typeface="Calibri"/>
                <a:cs typeface="Calibri"/>
              </a:rPr>
              <a:t>ta</a:t>
            </a:r>
            <a:r>
              <a:rPr dirty="0" sz="1400" spc="-55" i="1">
                <a:solidFill>
                  <a:srgbClr val="909090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898989"/>
                </a:solidFill>
                <a:latin typeface="Calibri"/>
                <a:cs typeface="Calibri"/>
              </a:rPr>
              <a:t>ted</a:t>
            </a:r>
            <a:r>
              <a:rPr dirty="0" sz="1400" spc="175" i="1">
                <a:solidFill>
                  <a:srgbClr val="898989"/>
                </a:solidFill>
                <a:latin typeface="Calibri"/>
                <a:cs typeface="Calibri"/>
              </a:rPr>
              <a:t>  </a:t>
            </a:r>
            <a:r>
              <a:rPr dirty="0" sz="1400" spc="85" i="1">
                <a:solidFill>
                  <a:srgbClr val="939393"/>
                </a:solidFill>
                <a:latin typeface="Calibri"/>
                <a:cs typeface="Calibri"/>
              </a:rPr>
              <a:t>u1th</a:t>
            </a:r>
            <a:r>
              <a:rPr dirty="0" sz="1400" spc="459" i="1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919191"/>
                </a:solidFill>
                <a:latin typeface="Calibri"/>
                <a:cs typeface="Calibri"/>
              </a:rPr>
              <a:t>I</a:t>
            </a:r>
            <a:r>
              <a:rPr dirty="0" sz="1400" spc="365" i="1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dirty="0" sz="1400" spc="55" i="1">
                <a:solidFill>
                  <a:srgbClr val="919191"/>
                </a:solidFill>
                <a:latin typeface="Calibri"/>
                <a:cs typeface="Calibri"/>
              </a:rPr>
              <a:t>JsonC</a:t>
            </a:r>
            <a:r>
              <a:rPr dirty="0" sz="1400" spc="70" i="1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939393"/>
                </a:solidFill>
                <a:latin typeface="Calibri"/>
                <a:cs typeface="Calibri"/>
              </a:rPr>
              <a:t>I</a:t>
            </a:r>
            <a:r>
              <a:rPr dirty="0" sz="1400" spc="-175" i="1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dirty="0" sz="1400" spc="90" i="1">
                <a:solidFill>
                  <a:srgbClr val="8A8A8A"/>
                </a:solidFill>
                <a:latin typeface="Calibri"/>
                <a:cs typeface="Calibri"/>
              </a:rPr>
              <a:t>assDescr1p</a:t>
            </a:r>
            <a:r>
              <a:rPr dirty="0" sz="1400" spc="-25" i="1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dirty="0" sz="1400" spc="50" i="1">
                <a:solidFill>
                  <a:srgbClr val="898989"/>
                </a:solidFill>
                <a:latin typeface="Calibri"/>
                <a:cs typeface="Calibri"/>
              </a:rPr>
              <a:t>II</a:t>
            </a:r>
            <a:r>
              <a:rPr dirty="0" sz="1400" spc="229" i="1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9C9C9C"/>
                </a:solidFill>
                <a:latin typeface="Calibri"/>
                <a:cs typeface="Calibri"/>
              </a:rPr>
              <a:t>on</a:t>
            </a:r>
            <a:r>
              <a:rPr dirty="0" sz="1400" spc="465" i="1">
                <a:solidFill>
                  <a:srgbClr val="9C9C9C"/>
                </a:solidFill>
                <a:latin typeface="Calibri"/>
                <a:cs typeface="Calibri"/>
              </a:rPr>
              <a:t> </a:t>
            </a:r>
            <a:r>
              <a:rPr dirty="0" sz="1400" spc="10" i="1">
                <a:solidFill>
                  <a:srgbClr val="979797"/>
                </a:solidFill>
                <a:latin typeface="Calibri"/>
                <a:cs typeface="Calibri"/>
              </a:rPr>
              <a:t>and</a:t>
            </a:r>
            <a:r>
              <a:rPr dirty="0" sz="1400" spc="185" i="1">
                <a:solidFill>
                  <a:srgbClr val="979797"/>
                </a:solidFill>
                <a:latin typeface="Calibri"/>
                <a:cs typeface="Calibri"/>
              </a:rPr>
              <a:t>  </a:t>
            </a:r>
            <a:r>
              <a:rPr dirty="0" sz="1400" spc="70" i="1">
                <a:solidFill>
                  <a:srgbClr val="959595"/>
                </a:solidFill>
                <a:latin typeface="Calibri"/>
                <a:cs typeface="Calibri"/>
              </a:rPr>
              <a:t>JsonPrope</a:t>
            </a:r>
            <a:r>
              <a:rPr dirty="0" sz="1400" spc="-5" i="1">
                <a:solidFill>
                  <a:srgbClr val="959595"/>
                </a:solidFill>
                <a:latin typeface="Calibri"/>
                <a:cs typeface="Calibri"/>
              </a:rPr>
              <a:t> </a:t>
            </a:r>
            <a:r>
              <a:rPr dirty="0" sz="1400" spc="50" i="1">
                <a:solidFill>
                  <a:srgbClr val="979797"/>
                </a:solidFill>
                <a:latin typeface="Calibri"/>
                <a:cs typeface="Calibri"/>
              </a:rPr>
              <a:t>r</a:t>
            </a:r>
            <a:r>
              <a:rPr dirty="0" sz="1400" spc="-105" i="1">
                <a:solidFill>
                  <a:srgbClr val="979797"/>
                </a:solidFill>
                <a:latin typeface="Calibri"/>
                <a:cs typeface="Calibri"/>
              </a:rPr>
              <a:t> </a:t>
            </a:r>
            <a:r>
              <a:rPr dirty="0" sz="1400" spc="90" i="1">
                <a:solidFill>
                  <a:srgbClr val="898989"/>
                </a:solidFill>
                <a:latin typeface="Calibri"/>
                <a:cs typeface="Calibri"/>
              </a:rPr>
              <a:t>tyDescr1p</a:t>
            </a:r>
            <a:r>
              <a:rPr dirty="0" sz="1400" spc="-50" i="1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1400" spc="125">
                <a:solidFill>
                  <a:srgbClr val="909090"/>
                </a:solidFill>
                <a:latin typeface="Calibri"/>
                <a:cs typeface="Calibri"/>
              </a:rPr>
              <a:t>tion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ts val="1390"/>
              </a:lnSpc>
            </a:pPr>
            <a:r>
              <a:rPr dirty="0" sz="1400" spc="-105">
                <a:solidFill>
                  <a:srgbClr val="754F67"/>
                </a:solidFill>
                <a:latin typeface="Courier New"/>
                <a:cs typeface="Courier New"/>
              </a:rPr>
              <a:t>public</a:t>
            </a:r>
            <a:r>
              <a:rPr dirty="0" sz="1400" spc="80">
                <a:solidFill>
                  <a:srgbClr val="754F67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latin typeface="Courier New"/>
                <a:cs typeface="Courier New"/>
              </a:rPr>
              <a:t>Function</a:t>
            </a:r>
            <a:r>
              <a:rPr dirty="0" sz="1400" spc="120">
                <a:latin typeface="Courier New"/>
                <a:cs typeface="Courier New"/>
              </a:rPr>
              <a:t> </a:t>
            </a:r>
            <a:r>
              <a:rPr dirty="0" sz="1400" spc="-95">
                <a:latin typeface="Courier New"/>
                <a:cs typeface="Courier New"/>
              </a:rPr>
              <a:t>WeatherService.Request,</a:t>
            </a:r>
            <a:r>
              <a:rPr dirty="0" sz="1400" spc="-90">
                <a:latin typeface="Courier New"/>
                <a:cs typeface="Courier New"/>
              </a:rPr>
              <a:t> </a:t>
            </a:r>
            <a:r>
              <a:rPr dirty="0" sz="1400" spc="-95">
                <a:latin typeface="Courier New"/>
                <a:cs typeface="Courier New"/>
              </a:rPr>
              <a:t>WeatherService.Response»</a:t>
            </a:r>
            <a:r>
              <a:rPr dirty="0" sz="1400" spc="-145">
                <a:latin typeface="Courier New"/>
                <a:cs typeface="Courier New"/>
              </a:rPr>
              <a:t> </a:t>
            </a:r>
            <a:r>
              <a:rPr dirty="0" sz="1400" spc="-90">
                <a:latin typeface="Courier New"/>
                <a:cs typeface="Courier New"/>
              </a:rPr>
              <a:t>weatherFunction()</a:t>
            </a:r>
            <a:r>
              <a:rPr dirty="0" sz="1400" spc="-365"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181818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07645">
              <a:lnSpc>
                <a:spcPts val="1664"/>
              </a:lnSpc>
            </a:pPr>
            <a:r>
              <a:rPr dirty="0" sz="1550" spc="-204">
                <a:solidFill>
                  <a:srgbClr val="7C1D67"/>
                </a:solidFill>
                <a:latin typeface="Courier New"/>
                <a:cs typeface="Courier New"/>
              </a:rPr>
              <a:t>return</a:t>
            </a:r>
            <a:r>
              <a:rPr dirty="0" sz="1550" spc="-5">
                <a:solidFill>
                  <a:srgbClr val="7C1D67"/>
                </a:solidFill>
                <a:latin typeface="Courier New"/>
                <a:cs typeface="Courier New"/>
              </a:rPr>
              <a:t> </a:t>
            </a:r>
            <a:r>
              <a:rPr dirty="0" sz="1550" spc="-204">
                <a:solidFill>
                  <a:srgbClr val="935293"/>
                </a:solidFill>
                <a:latin typeface="Courier New"/>
                <a:cs typeface="Courier New"/>
              </a:rPr>
              <a:t>new</a:t>
            </a:r>
            <a:r>
              <a:rPr dirty="0" sz="1550" spc="-150">
                <a:solidFill>
                  <a:srgbClr val="935293"/>
                </a:solidFill>
                <a:latin typeface="Courier New"/>
                <a:cs typeface="Courier New"/>
              </a:rPr>
              <a:t> </a:t>
            </a:r>
            <a:r>
              <a:rPr dirty="0" sz="1550" spc="-125">
                <a:solidFill>
                  <a:srgbClr val="0E0E0E"/>
                </a:solidFill>
                <a:latin typeface="Courier New"/>
                <a:cs typeface="Courier New"/>
              </a:rPr>
              <a:t>WeatherService();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9526" y="2910291"/>
            <a:ext cx="5172710" cy="133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dirty="0" sz="1350">
                <a:solidFill>
                  <a:srgbClr val="80753B"/>
                </a:solidFill>
                <a:latin typeface="Consolas"/>
                <a:cs typeface="Consolas"/>
              </a:rPr>
              <a:t>String</a:t>
            </a:r>
            <a:r>
              <a:rPr dirty="0" sz="1350" spc="80">
                <a:solidFill>
                  <a:srgbClr val="80753B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918342"/>
                </a:solidFill>
                <a:latin typeface="Consolas"/>
                <a:cs typeface="Consolas"/>
              </a:rPr>
              <a:t>answer</a:t>
            </a:r>
            <a:r>
              <a:rPr dirty="0" sz="1350" spc="55">
                <a:solidFill>
                  <a:srgbClr val="918342"/>
                </a:solidFill>
                <a:latin typeface="Consolas"/>
                <a:cs typeface="Consolas"/>
              </a:rPr>
              <a:t> </a:t>
            </a:r>
            <a:r>
              <a:rPr dirty="0" sz="1350" spc="55">
                <a:solidFill>
                  <a:srgbClr val="113F66"/>
                </a:solidFill>
                <a:latin typeface="Consolas"/>
                <a:cs typeface="Consolas"/>
              </a:rPr>
              <a:t>=</a:t>
            </a:r>
            <a:r>
              <a:rPr dirty="0" sz="1350" spc="-105">
                <a:solidFill>
                  <a:srgbClr val="113F66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latin typeface="Consolas"/>
                <a:cs typeface="Consolas"/>
              </a:rPr>
              <a:t>chatCIient.prompt()</a:t>
            </a:r>
            <a:endParaRPr sz="1350">
              <a:latin typeface="Consolas"/>
              <a:cs typeface="Consolas"/>
            </a:endParaRPr>
          </a:p>
          <a:p>
            <a:pPr marL="202565">
              <a:lnSpc>
                <a:spcPts val="1490"/>
              </a:lnSpc>
            </a:pPr>
            <a:r>
              <a:rPr dirty="0" sz="1350" spc="-65">
                <a:latin typeface="Courier New"/>
                <a:cs typeface="Courier New"/>
              </a:rPr>
              <a:t>.user("What's</a:t>
            </a:r>
            <a:r>
              <a:rPr dirty="0" sz="1350" spc="-120">
                <a:latin typeface="Courier New"/>
                <a:cs typeface="Courier New"/>
              </a:rPr>
              <a:t> </a:t>
            </a:r>
            <a:r>
              <a:rPr dirty="0" sz="1350" spc="-45">
                <a:solidFill>
                  <a:srgbClr val="6E896B"/>
                </a:solidFill>
                <a:latin typeface="Courier New"/>
                <a:cs typeface="Courier New"/>
              </a:rPr>
              <a:t>the</a:t>
            </a:r>
            <a:r>
              <a:rPr dirty="0" sz="1350" spc="-155">
                <a:solidFill>
                  <a:srgbClr val="6E896B"/>
                </a:solidFill>
                <a:latin typeface="Courier New"/>
                <a:cs typeface="Courier New"/>
              </a:rPr>
              <a:t> </a:t>
            </a:r>
            <a:r>
              <a:rPr dirty="0" sz="1350" spc="-55">
                <a:solidFill>
                  <a:srgbClr val="5E795B"/>
                </a:solidFill>
                <a:latin typeface="Courier New"/>
                <a:cs typeface="Courier New"/>
              </a:rPr>
              <a:t>weather</a:t>
            </a:r>
            <a:r>
              <a:rPr dirty="0" sz="1350" spc="-25">
                <a:solidFill>
                  <a:srgbClr val="5E795B"/>
                </a:solidFill>
                <a:latin typeface="Courier New"/>
                <a:cs typeface="Courier New"/>
              </a:rPr>
              <a:t> </a:t>
            </a:r>
            <a:r>
              <a:rPr dirty="0" sz="1350" spc="-70">
                <a:solidFill>
                  <a:srgbClr val="6E896B"/>
                </a:solidFill>
                <a:latin typeface="Courier New"/>
                <a:cs typeface="Courier New"/>
              </a:rPr>
              <a:t>like</a:t>
            </a:r>
            <a:r>
              <a:rPr dirty="0" sz="1350" spc="-135">
                <a:solidFill>
                  <a:srgbClr val="6E896B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7E7E7E"/>
                </a:solidFill>
                <a:latin typeface="Courier New"/>
                <a:cs typeface="Courier New"/>
              </a:rPr>
              <a:t>in</a:t>
            </a:r>
            <a:r>
              <a:rPr dirty="0" sz="1350" spc="-19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808080"/>
                </a:solidFill>
                <a:latin typeface="Courier New"/>
                <a:cs typeface="Courier New"/>
              </a:rPr>
              <a:t>Stockholm,</a:t>
            </a:r>
            <a:r>
              <a:rPr dirty="0" sz="1350" spc="-13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678564"/>
                </a:solidFill>
                <a:latin typeface="Courier New"/>
                <a:cs typeface="Courier New"/>
              </a:rPr>
              <a:t>Zurich,</a:t>
            </a:r>
            <a:endParaRPr sz="1350">
              <a:latin typeface="Courier New"/>
              <a:cs typeface="Courier New"/>
            </a:endParaRPr>
          </a:p>
          <a:p>
            <a:pPr marL="229235">
              <a:lnSpc>
                <a:spcPts val="1435"/>
              </a:lnSpc>
            </a:pPr>
            <a:r>
              <a:rPr dirty="0" sz="1300">
                <a:solidFill>
                  <a:srgbClr val="181818"/>
                </a:solidFill>
                <a:latin typeface="Calibri"/>
                <a:cs typeface="Calibri"/>
              </a:rPr>
              <a:t>.</a:t>
            </a:r>
            <a:r>
              <a:rPr dirty="0" sz="1300" spc="-1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F1F1F"/>
                </a:solidFill>
                <a:latin typeface="Calibri"/>
                <a:cs typeface="Calibri"/>
              </a:rPr>
              <a:t>f</a:t>
            </a:r>
            <a:r>
              <a:rPr dirty="0" sz="13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unc</a:t>
            </a:r>
            <a:r>
              <a:rPr dirty="0" sz="1300" spc="195">
                <a:latin typeface="Calibri"/>
                <a:cs typeface="Calibri"/>
              </a:rPr>
              <a:t> </a:t>
            </a:r>
            <a:r>
              <a:rPr dirty="0" sz="1300" spc="-35">
                <a:solidFill>
                  <a:srgbClr val="131313"/>
                </a:solidFill>
                <a:latin typeface="Calibri"/>
                <a:cs typeface="Calibri"/>
              </a:rPr>
              <a:t>t</a:t>
            </a:r>
            <a:r>
              <a:rPr dirty="0" sz="1300" spc="-8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00" spc="155">
                <a:latin typeface="Calibri"/>
                <a:cs typeface="Calibri"/>
              </a:rPr>
              <a:t>1ans(</a:t>
            </a:r>
            <a:r>
              <a:rPr dirty="0" sz="1300" spc="-130">
                <a:latin typeface="Calibri"/>
                <a:cs typeface="Calibri"/>
              </a:rPr>
              <a:t> </a:t>
            </a:r>
            <a:r>
              <a:rPr dirty="0" sz="1300" spc="75">
                <a:solidFill>
                  <a:srgbClr val="6D956E"/>
                </a:solidFill>
                <a:latin typeface="Calibri"/>
                <a:cs typeface="Calibri"/>
              </a:rPr>
              <a:t>"weat</a:t>
            </a:r>
            <a:r>
              <a:rPr dirty="0" sz="1300" spc="-155">
                <a:solidFill>
                  <a:srgbClr val="6D956E"/>
                </a:solidFill>
                <a:latin typeface="Calibri"/>
                <a:cs typeface="Calibri"/>
              </a:rPr>
              <a:t> </a:t>
            </a:r>
            <a:r>
              <a:rPr dirty="0" sz="1300" spc="110">
                <a:solidFill>
                  <a:srgbClr val="6E8C70"/>
                </a:solidFill>
                <a:latin typeface="Calibri"/>
                <a:cs typeface="Calibri"/>
              </a:rPr>
              <a:t>he</a:t>
            </a:r>
            <a:r>
              <a:rPr dirty="0" sz="1300" spc="110">
                <a:solidFill>
                  <a:srgbClr val="6E8C75"/>
                </a:solidFill>
                <a:latin typeface="Calibri"/>
                <a:cs typeface="Calibri"/>
              </a:rPr>
              <a:t>rFunc</a:t>
            </a:r>
            <a:r>
              <a:rPr dirty="0" sz="1300" spc="-90">
                <a:solidFill>
                  <a:srgbClr val="6E8C75"/>
                </a:solidFill>
                <a:latin typeface="Calibri"/>
                <a:cs typeface="Calibri"/>
              </a:rPr>
              <a:t> </a:t>
            </a:r>
            <a:r>
              <a:rPr dirty="0" sz="1300" spc="105">
                <a:solidFill>
                  <a:srgbClr val="999999"/>
                </a:solidFill>
                <a:latin typeface="Calibri"/>
                <a:cs typeface="Calibri"/>
              </a:rPr>
              <a:t>t1on</a:t>
            </a:r>
            <a:r>
              <a:rPr dirty="0" sz="1300" spc="105">
                <a:solidFill>
                  <a:srgbClr val="69806B"/>
                </a:solidFill>
                <a:latin typeface="Calibri"/>
                <a:cs typeface="Calibri"/>
              </a:rPr>
              <a:t>"</a:t>
            </a:r>
            <a:r>
              <a:rPr dirty="0" sz="1300" spc="-75">
                <a:solidFill>
                  <a:srgbClr val="69806B"/>
                </a:solidFill>
                <a:latin typeface="Calibri"/>
                <a:cs typeface="Calibri"/>
              </a:rPr>
              <a:t> </a:t>
            </a:r>
            <a:r>
              <a:rPr dirty="0" sz="1300" spc="15">
                <a:solidFill>
                  <a:srgbClr val="232323"/>
                </a:solidFill>
                <a:latin typeface="Calibri"/>
                <a:cs typeface="Calibri"/>
              </a:rPr>
              <a:t>)</a:t>
            </a:r>
            <a:endParaRPr sz="1300">
              <a:latin typeface="Calibri"/>
              <a:cs typeface="Calibri"/>
            </a:endParaRPr>
          </a:p>
          <a:p>
            <a:pPr marL="228600">
              <a:lnSpc>
                <a:spcPts val="1445"/>
              </a:lnSpc>
            </a:pPr>
            <a:r>
              <a:rPr dirty="0" sz="1350" spc="65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r>
              <a:rPr dirty="0" sz="1350" spc="-14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50" spc="280">
                <a:latin typeface="Calibri"/>
                <a:cs typeface="Calibri"/>
              </a:rPr>
              <a:t>call(</a:t>
            </a:r>
            <a:r>
              <a:rPr dirty="0" sz="1350" spc="-90">
                <a:latin typeface="Calibri"/>
                <a:cs typeface="Calibri"/>
              </a:rPr>
              <a:t> </a:t>
            </a:r>
            <a:r>
              <a:rPr dirty="0" sz="1350" spc="204">
                <a:solidFill>
                  <a:srgbClr val="131313"/>
                </a:solidFill>
                <a:latin typeface="Calibri"/>
                <a:cs typeface="Calibri"/>
              </a:rPr>
              <a:t>)</a:t>
            </a:r>
            <a:endParaRPr sz="1350">
              <a:latin typeface="Calibri"/>
              <a:cs typeface="Calibri"/>
            </a:endParaRPr>
          </a:p>
          <a:p>
            <a:pPr marL="228600">
              <a:lnSpc>
                <a:spcPts val="1530"/>
              </a:lnSpc>
            </a:pPr>
            <a:r>
              <a:rPr dirty="0" sz="1350" spc="125">
                <a:latin typeface="Calibri"/>
                <a:cs typeface="Calibri"/>
              </a:rPr>
              <a:t>.content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75">
                <a:solidFill>
                  <a:srgbClr val="161616"/>
                </a:solidFill>
                <a:latin typeface="Calibri"/>
                <a:cs typeface="Calibri"/>
              </a:rPr>
              <a:t>(</a:t>
            </a:r>
            <a:r>
              <a:rPr dirty="0" sz="1350" spc="-2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350" spc="75">
                <a:solidFill>
                  <a:srgbClr val="131313"/>
                </a:solidFill>
                <a:latin typeface="Calibri"/>
                <a:cs typeface="Calibri"/>
              </a:rPr>
              <a:t>)</a:t>
            </a:r>
            <a:r>
              <a:rPr dirty="0" sz="1350" spc="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151515"/>
                </a:solidFill>
                <a:latin typeface="Calibri"/>
                <a:cs typeface="Calibri"/>
              </a:rPr>
              <a:t>;</a:t>
            </a:r>
            <a:endParaRPr sz="13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310"/>
              </a:spcBef>
              <a:tabLst>
                <a:tab pos="2703195" algn="l"/>
                <a:tab pos="3171825" algn="l"/>
              </a:tabLst>
            </a:pPr>
            <a:r>
              <a:rPr dirty="0" sz="1300" spc="20">
                <a:solidFill>
                  <a:srgbClr val="131313"/>
                </a:solidFill>
                <a:latin typeface="Calibri"/>
                <a:cs typeface="Calibri"/>
              </a:rPr>
              <a:t>log</a:t>
            </a:r>
            <a:r>
              <a:rPr dirty="0" sz="1300" spc="40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300" spc="2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r>
              <a:rPr dirty="0" sz="1300" spc="-13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300" spc="165">
                <a:solidFill>
                  <a:srgbClr val="0F0F0F"/>
                </a:solidFill>
                <a:latin typeface="Calibri"/>
                <a:cs typeface="Calibri"/>
              </a:rPr>
              <a:t>1nfo(</a:t>
            </a:r>
            <a:r>
              <a:rPr dirty="0" sz="1300" spc="-6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300" spc="20">
                <a:solidFill>
                  <a:srgbClr val="A1A1A1"/>
                </a:solidFill>
                <a:latin typeface="Calibri"/>
                <a:cs typeface="Calibri"/>
              </a:rPr>
              <a:t>"</a:t>
            </a:r>
            <a:r>
              <a:rPr dirty="0" sz="1300" spc="20">
                <a:solidFill>
                  <a:srgbClr val="598259"/>
                </a:solidFill>
                <a:latin typeface="Calibri"/>
                <a:cs typeface="Calibri"/>
              </a:rPr>
              <a:t>Chat</a:t>
            </a:r>
            <a:r>
              <a:rPr dirty="0" sz="1300" spc="355">
                <a:solidFill>
                  <a:srgbClr val="598259"/>
                </a:solidFill>
                <a:latin typeface="Calibri"/>
                <a:cs typeface="Calibri"/>
              </a:rPr>
              <a:t> </a:t>
            </a:r>
            <a:r>
              <a:rPr dirty="0" sz="1300" spc="20">
                <a:solidFill>
                  <a:srgbClr val="678A67"/>
                </a:solidFill>
                <a:latin typeface="Calibri"/>
                <a:cs typeface="Calibri"/>
              </a:rPr>
              <a:t>GPT</a:t>
            </a:r>
            <a:r>
              <a:rPr dirty="0" sz="1300" spc="155">
                <a:solidFill>
                  <a:srgbClr val="678A67"/>
                </a:solidFill>
                <a:latin typeface="Calibri"/>
                <a:cs typeface="Calibri"/>
              </a:rPr>
              <a:t>  </a:t>
            </a:r>
            <a:r>
              <a:rPr dirty="0" sz="1300" spc="20">
                <a:solidFill>
                  <a:srgbClr val="6B9067"/>
                </a:solidFill>
                <a:latin typeface="Calibri"/>
                <a:cs typeface="Calibri"/>
              </a:rPr>
              <a:t>answe</a:t>
            </a:r>
            <a:r>
              <a:rPr dirty="0" sz="1300" spc="-145">
                <a:solidFill>
                  <a:srgbClr val="6B9067"/>
                </a:solidFill>
                <a:latin typeface="Calibri"/>
                <a:cs typeface="Calibri"/>
              </a:rPr>
              <a:t> </a:t>
            </a:r>
            <a:r>
              <a:rPr dirty="0" sz="1300" spc="20">
                <a:solidFill>
                  <a:srgbClr val="709067"/>
                </a:solidFill>
                <a:latin typeface="Calibri"/>
                <a:cs typeface="Calibri"/>
              </a:rPr>
              <a:t>red</a:t>
            </a:r>
            <a:r>
              <a:rPr dirty="0" sz="1300" spc="195">
                <a:solidFill>
                  <a:srgbClr val="709067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69796B"/>
                </a:solidFill>
                <a:latin typeface="Calibri"/>
                <a:cs typeface="Calibri"/>
              </a:rPr>
              <a:t>:</a:t>
            </a:r>
            <a:r>
              <a:rPr dirty="0" sz="1300">
                <a:solidFill>
                  <a:srgbClr val="69796B"/>
                </a:solidFill>
                <a:latin typeface="Calibri"/>
                <a:cs typeface="Calibri"/>
              </a:rPr>
              <a:t>	</a:t>
            </a:r>
            <a:r>
              <a:rPr dirty="0" sz="1300" spc="160">
                <a:solidFill>
                  <a:srgbClr val="748C70"/>
                </a:solidFill>
                <a:latin typeface="Calibri"/>
                <a:cs typeface="Calibri"/>
              </a:rPr>
              <a:t>{}</a:t>
            </a:r>
            <a:r>
              <a:rPr dirty="0" sz="1300" spc="160">
                <a:solidFill>
                  <a:srgbClr val="111111"/>
                </a:solidFill>
                <a:latin typeface="Calibri"/>
                <a:cs typeface="Calibri"/>
              </a:rPr>
              <a:t>",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1300" spc="75">
                <a:solidFill>
                  <a:srgbClr val="1A1A1A"/>
                </a:solidFill>
                <a:latin typeface="Calibri"/>
                <a:cs typeface="Calibri"/>
              </a:rPr>
              <a:t>answer</a:t>
            </a:r>
            <a:r>
              <a:rPr dirty="0" sz="130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11111"/>
                </a:solidFill>
                <a:latin typeface="Calibri"/>
                <a:cs typeface="Calibri"/>
              </a:rPr>
              <a:t>)</a:t>
            </a:r>
            <a:r>
              <a:rPr dirty="0" sz="1300" spc="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0E0E0E"/>
                </a:solidFill>
                <a:latin typeface="Calibri"/>
                <a:cs typeface="Calibri"/>
              </a:rPr>
              <a:t>;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73709" y="3093216"/>
            <a:ext cx="146939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669C6B"/>
                </a:solidFill>
                <a:latin typeface="Courier New"/>
                <a:cs typeface="Courier New"/>
              </a:rPr>
              <a:t>and</a:t>
            </a:r>
            <a:r>
              <a:rPr dirty="0" sz="1350" spc="-165">
                <a:solidFill>
                  <a:srgbClr val="669C6B"/>
                </a:solidFill>
                <a:latin typeface="Courier New"/>
                <a:cs typeface="Courier New"/>
              </a:rPr>
              <a:t> </a:t>
            </a:r>
            <a:r>
              <a:rPr dirty="0" sz="1350" spc="-75">
                <a:solidFill>
                  <a:srgbClr val="79A17E"/>
                </a:solidFill>
                <a:latin typeface="Courier New"/>
                <a:cs typeface="Courier New"/>
              </a:rPr>
              <a:t>New</a:t>
            </a:r>
            <a:r>
              <a:rPr dirty="0" sz="1350" spc="-125">
                <a:solidFill>
                  <a:srgbClr val="79A17E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0F0F0F"/>
                </a:solidFill>
                <a:latin typeface="Courier New"/>
                <a:cs typeface="Courier New"/>
              </a:rPr>
              <a:t>York?”)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9551" y="5289588"/>
            <a:ext cx="2179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45454"/>
                </a:solidFill>
                <a:latin typeface="Calibri"/>
                <a:cs typeface="Calibri"/>
              </a:rPr>
              <a:t>Intelligent</a:t>
            </a:r>
            <a:r>
              <a:rPr dirty="0" sz="1100" spc="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25252"/>
                </a:solidFill>
                <a:latin typeface="Calibri"/>
                <a:cs typeface="Calibri"/>
              </a:rPr>
              <a:t>Applications</a:t>
            </a:r>
            <a:r>
              <a:rPr dirty="0" sz="1100" spc="-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100" spc="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100" spc="8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Calibri"/>
                <a:cs typeface="Calibri"/>
              </a:rPr>
              <a:t>AI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5" y="378044"/>
            <a:ext cx="4986527" cy="488410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4688" y="5359706"/>
            <a:ext cx="121920" cy="853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8511" y="621945"/>
            <a:ext cx="188975" cy="9756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686236" y="1257866"/>
            <a:ext cx="107188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0">
                <a:solidFill>
                  <a:srgbClr val="42467E"/>
                </a:solidFill>
                <a:latin typeface="Times New Roman"/>
                <a:cs typeface="Times New Roman"/>
              </a:rPr>
              <a:t>Your</a:t>
            </a:r>
            <a:r>
              <a:rPr dirty="0" sz="1350" spc="-15">
                <a:solidFill>
                  <a:srgbClr val="42467E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imes New Roman"/>
                <a:cs typeface="Times New Roman"/>
              </a:rPr>
              <a:t>Computer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7962" y="5295940"/>
            <a:ext cx="21628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F4F4F"/>
                </a:solidFill>
                <a:latin typeface="Times New Roman"/>
                <a:cs typeface="Times New Roman"/>
              </a:rPr>
              <a:t>Intelligent</a:t>
            </a:r>
            <a:r>
              <a:rPr dirty="0" sz="1050" spc="15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94949"/>
                </a:solidFill>
                <a:latin typeface="Times New Roman"/>
                <a:cs typeface="Times New Roman"/>
              </a:rPr>
              <a:t>Applications</a:t>
            </a:r>
            <a:r>
              <a:rPr dirty="0" sz="1050" spc="8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D4D4D"/>
                </a:solidFill>
                <a:latin typeface="Times New Roman"/>
                <a:cs typeface="Times New Roman"/>
              </a:rPr>
              <a:t>with</a:t>
            </a:r>
            <a:r>
              <a:rPr dirty="0" sz="1050" spc="10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F4F4F"/>
                </a:solidFill>
                <a:latin typeface="Times New Roman"/>
                <a:cs typeface="Times New Roman"/>
              </a:rPr>
              <a:t>Spring</a:t>
            </a:r>
            <a:r>
              <a:rPr dirty="0" sz="1050" spc="18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050" spc="-60">
                <a:solidFill>
                  <a:srgbClr val="595959"/>
                </a:solidFill>
                <a:latin typeface="Times New Roman"/>
                <a:cs typeface="Times New Roman"/>
              </a:rPr>
              <a:t>AI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2708" y="3668923"/>
            <a:ext cx="44640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727272"/>
                </a:solidFill>
                <a:latin typeface="Times New Roman"/>
                <a:cs typeface="Times New Roman"/>
              </a:rPr>
              <a:t>Web</a:t>
            </a:r>
            <a:r>
              <a:rPr dirty="0" sz="850" spc="-45">
                <a:solidFill>
                  <a:srgbClr val="727272"/>
                </a:solidFill>
                <a:latin typeface="Times New Roman"/>
                <a:cs typeface="Times New Roman"/>
              </a:rPr>
              <a:t> </a:t>
            </a:r>
            <a:r>
              <a:rPr dirty="0" sz="850" spc="-35">
                <a:solidFill>
                  <a:srgbClr val="414141"/>
                </a:solidFill>
                <a:latin typeface="Times New Roman"/>
                <a:cs typeface="Times New Roman"/>
              </a:rPr>
              <a:t>APIs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101170" y="3434677"/>
            <a:ext cx="50800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35">
                <a:solidFill>
                  <a:srgbClr val="363636"/>
                </a:solidFill>
                <a:latin typeface="Times New Roman"/>
                <a:cs typeface="Times New Roman"/>
              </a:rPr>
              <a:t>tssfi</a:t>
            </a:r>
            <a:r>
              <a:rPr dirty="0" sz="75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464646"/>
                </a:solidFill>
                <a:latin typeface="Times New Roman"/>
                <a:cs typeface="Times New Roman"/>
              </a:rPr>
              <a:t>transport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4">
                <a:solidFill>
                  <a:srgbClr val="2D3350"/>
                </a:solidFill>
                <a:latin typeface="Times New Roman"/>
                <a:cs typeface="Times New Roman"/>
              </a:rPr>
              <a:t>AI</a:t>
            </a:r>
            <a:r>
              <a:rPr dirty="0" sz="1300" spc="120">
                <a:solidFill>
                  <a:srgbClr val="2D3350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464646"/>
                </a:solidFill>
                <a:latin typeface="Times New Roman"/>
                <a:cs typeface="Times New Roman"/>
              </a:rPr>
              <a:t>Models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10898" y="595017"/>
            <a:ext cx="2565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9AB5CA"/>
                </a:solidFill>
                <a:latin typeface="Courier New"/>
                <a:cs typeface="Courier New"/>
              </a:rPr>
              <a:t>emn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52872" y="2977871"/>
            <a:ext cx="47307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85">
                <a:solidFill>
                  <a:srgbClr val="9A9A9A"/>
                </a:solidFill>
                <a:latin typeface="Times New Roman"/>
                <a:cs typeface="Times New Roman"/>
              </a:rPr>
              <a:t>MCP</a:t>
            </a:r>
            <a:r>
              <a:rPr dirty="0" sz="650" spc="35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9A9A9A"/>
                </a:solidFill>
                <a:latin typeface="Times New Roman"/>
                <a:cs typeface="Times New Roman"/>
              </a:rPr>
              <a:t>Protocol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22089" y="4803058"/>
            <a:ext cx="396875" cy="2895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29209">
              <a:lnSpc>
                <a:spcPct val="103600"/>
              </a:lnSpc>
              <a:spcBef>
                <a:spcPts val="60"/>
              </a:spcBef>
            </a:pPr>
            <a:r>
              <a:rPr dirty="0" sz="850" spc="-10">
                <a:solidFill>
                  <a:srgbClr val="575757"/>
                </a:solidFill>
                <a:latin typeface="Calibri"/>
                <a:cs typeface="Calibri"/>
              </a:rPr>
              <a:t>Search</a:t>
            </a:r>
            <a:r>
              <a:rPr dirty="0" sz="850" spc="50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F4F4F"/>
                </a:solidFill>
                <a:latin typeface="Calibri"/>
                <a:cs typeface="Calibri"/>
              </a:rPr>
              <a:t>Internet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118504" y="2968726"/>
            <a:ext cx="47879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8C8CAC"/>
                </a:solidFill>
                <a:latin typeface="Times New Roman"/>
                <a:cs typeface="Times New Roman"/>
              </a:rPr>
              <a:t>MCP</a:t>
            </a:r>
            <a:r>
              <a:rPr dirty="0" sz="650" spc="25">
                <a:solidFill>
                  <a:srgbClr val="8C8CAC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4B4B4B"/>
                </a:solidFill>
                <a:latin typeface="Times New Roman"/>
                <a:cs typeface="Times New Roman"/>
              </a:rPr>
              <a:t>Protocol</a:t>
            </a:r>
            <a:endParaRPr sz="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4911" y="634140"/>
            <a:ext cx="4541520" cy="44328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08846" y="5295940"/>
            <a:ext cx="21799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F4F4F"/>
                </a:solidFill>
                <a:latin typeface="Arial MT"/>
                <a:cs typeface="Arial MT"/>
              </a:rPr>
              <a:t>Intelligent</a:t>
            </a:r>
            <a:r>
              <a:rPr dirty="0" sz="1050" spc="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494949"/>
                </a:solidFill>
                <a:latin typeface="Arial MT"/>
                <a:cs typeface="Arial MT"/>
              </a:rPr>
              <a:t>Applications</a:t>
            </a:r>
            <a:r>
              <a:rPr dirty="0" sz="1050" spc="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050" spc="-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4F4F4F"/>
                </a:solidFill>
                <a:latin typeface="Arial MT"/>
                <a:cs typeface="Arial MT"/>
              </a:rPr>
              <a:t>Spring</a:t>
            </a:r>
            <a:r>
              <a:rPr dirty="0" sz="1050" spc="2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Arial MT"/>
                <a:cs typeface="Arial MT"/>
              </a:rPr>
              <a:t>AI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62719" y="729163"/>
            <a:ext cx="1351280" cy="269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40">
                <a:solidFill>
                  <a:srgbClr val="000000"/>
                </a:solidFill>
                <a:latin typeface="Arial MT"/>
                <a:cs typeface="Arial MT"/>
              </a:rPr>
              <a:t>Your</a:t>
            </a:r>
            <a:r>
              <a:rPr dirty="0" sz="1600" spc="-5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000000"/>
                </a:solidFill>
                <a:latin typeface="Arial MT"/>
                <a:cs typeface="Arial MT"/>
              </a:rPr>
              <a:t>Computer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99820" y="2484482"/>
            <a:ext cx="6673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799A69"/>
                </a:solidFill>
                <a:latin typeface="Arial MT"/>
                <a:cs typeface="Arial MT"/>
              </a:rPr>
              <a:t>McpClient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76722" y="3664349"/>
            <a:ext cx="1630680" cy="92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5330"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Arial MT"/>
                <a:cs typeface="Arial MT"/>
              </a:rPr>
              <a:t>MCP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Protocol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50" spc="-145">
                <a:latin typeface="Arial MT"/>
                <a:cs typeface="Arial MT"/>
              </a:rPr>
              <a:t>MCP</a:t>
            </a:r>
            <a:r>
              <a:rPr dirty="0" sz="1550" spc="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Server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A1A1A"/>
                </a:solidFill>
                <a:latin typeface="Arial MT"/>
                <a:cs typeface="Arial MT"/>
              </a:rPr>
              <a:t>4’</a:t>
            </a:r>
            <a:endParaRPr sz="1550">
              <a:latin typeface="Arial MT"/>
              <a:cs typeface="Arial MT"/>
            </a:endParaRPr>
          </a:p>
          <a:p>
            <a:pPr marL="204470">
              <a:lnSpc>
                <a:spcPct val="100000"/>
              </a:lnSpc>
              <a:spcBef>
                <a:spcPts val="204"/>
              </a:spcBef>
            </a:pPr>
            <a:r>
              <a:rPr dirty="0" sz="1500" spc="-10">
                <a:latin typeface="Arial MT"/>
                <a:cs typeface="Arial MT"/>
              </a:rPr>
              <a:t>(Brave)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39749" y="1144047"/>
            <a:ext cx="87693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45">
                <a:latin typeface="Arial MT"/>
                <a:cs typeface="Arial MT"/>
              </a:rPr>
              <a:t>AI</a:t>
            </a:r>
            <a:r>
              <a:rPr dirty="0" sz="1550" spc="-6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Models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43720" y="1735759"/>
            <a:ext cx="73596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5">
                <a:latin typeface="Calibri"/>
                <a:cs typeface="Calibri"/>
              </a:rPr>
              <a:t>ANTHROP\C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10315" y="1680119"/>
            <a:ext cx="435609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809ECA"/>
                </a:solidFill>
                <a:latin typeface="Arial MT"/>
                <a:cs typeface="Arial MT"/>
              </a:rPr>
              <a:t>Gemini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39160" y="1765231"/>
            <a:ext cx="294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30">
                <a:solidFill>
                  <a:srgbClr val="4F729C"/>
                </a:solidFill>
                <a:latin typeface="Courier New"/>
                <a:cs typeface="Courier New"/>
              </a:rPr>
              <a:t>Goog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36333" y="2982191"/>
            <a:ext cx="71374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 MT"/>
                <a:cs typeface="Arial MT"/>
              </a:rPr>
              <a:t>Internet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295972" y="5302291"/>
            <a:ext cx="1625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595959"/>
                </a:solidFill>
                <a:latin typeface="Arial MT"/>
                <a:cs typeface="Arial MT"/>
              </a:rPr>
              <a:t>74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1D6"/>
                </a:solidFill>
              </a:rPr>
              <a:t>Model</a:t>
            </a:r>
            <a:r>
              <a:rPr dirty="0" spc="235">
                <a:solidFill>
                  <a:srgbClr val="00B1D6"/>
                </a:solidFill>
              </a:rPr>
              <a:t> </a:t>
            </a:r>
            <a:r>
              <a:rPr dirty="0" spc="110">
                <a:solidFill>
                  <a:srgbClr val="00A3BC"/>
                </a:solidFill>
              </a:rPr>
              <a:t>Contexî</a:t>
            </a:r>
            <a:r>
              <a:rPr dirty="0" spc="459">
                <a:solidFill>
                  <a:srgbClr val="00A3BC"/>
                </a:solidFill>
              </a:rPr>
              <a:t> </a:t>
            </a:r>
            <a:r>
              <a:rPr dirty="0">
                <a:solidFill>
                  <a:srgbClr val="1FA7DB"/>
                </a:solidFill>
              </a:rPr>
              <a:t>Protocoİ</a:t>
            </a:r>
            <a:r>
              <a:rPr dirty="0" spc="409">
                <a:solidFill>
                  <a:srgbClr val="1FA7DB"/>
                </a:solidFill>
              </a:rPr>
              <a:t> </a:t>
            </a:r>
            <a:r>
              <a:rPr dirty="0" spc="-10">
                <a:solidFill>
                  <a:srgbClr val="1AA7DF"/>
                </a:solidFill>
              </a:rPr>
              <a:t>(MCP)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3331" y="1489319"/>
            <a:ext cx="7489190" cy="239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>
              <a:lnSpc>
                <a:spcPts val="1570"/>
              </a:lnSpc>
              <a:spcBef>
                <a:spcPts val="100"/>
              </a:spcBef>
              <a:tabLst>
                <a:tab pos="299085" algn="l"/>
              </a:tabLst>
            </a:pPr>
            <a:r>
              <a:rPr dirty="0" sz="1400" spc="-25" i="1">
                <a:solidFill>
                  <a:srgbClr val="A1A1A1"/>
                </a:solidFill>
                <a:latin typeface="Calibri"/>
                <a:cs typeface="Calibri"/>
              </a:rPr>
              <a:t>//</a:t>
            </a:r>
            <a:r>
              <a:rPr dirty="0" sz="1400" i="1">
                <a:solidFill>
                  <a:srgbClr val="A1A1A1"/>
                </a:solidFill>
                <a:latin typeface="Calibri"/>
                <a:cs typeface="Calibri"/>
              </a:rPr>
              <a:t>	</a:t>
            </a:r>
            <a:r>
              <a:rPr dirty="0" sz="1400" spc="60" i="1">
                <a:solidFill>
                  <a:srgbClr val="909090"/>
                </a:solidFill>
                <a:latin typeface="Calibri"/>
                <a:cs typeface="Calibri"/>
              </a:rPr>
              <a:t>h</a:t>
            </a:r>
            <a:r>
              <a:rPr dirty="0" sz="1400" spc="60" i="1">
                <a:solidFill>
                  <a:srgbClr val="959595"/>
                </a:solidFill>
                <a:latin typeface="Calibri"/>
                <a:cs typeface="Calibri"/>
              </a:rPr>
              <a:t>I</a:t>
            </a:r>
            <a:r>
              <a:rPr dirty="0" sz="1400" spc="120" i="1">
                <a:solidFill>
                  <a:srgbClr val="95959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909090"/>
                </a:solidFill>
                <a:latin typeface="Calibri"/>
                <a:cs typeface="Calibri"/>
              </a:rPr>
              <a:t>tps</a:t>
            </a:r>
            <a:r>
              <a:rPr dirty="0" sz="1400" spc="335" i="1">
                <a:solidFill>
                  <a:srgbClr val="909090"/>
                </a:solidFill>
                <a:latin typeface="Calibri"/>
                <a:cs typeface="Calibri"/>
              </a:rPr>
              <a:t> </a:t>
            </a:r>
            <a:r>
              <a:rPr dirty="0" sz="1400" spc="125" i="1">
                <a:solidFill>
                  <a:srgbClr val="9E9E9E"/>
                </a:solidFill>
                <a:latin typeface="Calibri"/>
                <a:cs typeface="Calibri"/>
              </a:rPr>
              <a:t>://g1</a:t>
            </a:r>
            <a:r>
              <a:rPr dirty="0" sz="1400" spc="-155" i="1">
                <a:solidFill>
                  <a:srgbClr val="9E9E9E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E8E8E"/>
                </a:solidFill>
                <a:latin typeface="Calibri"/>
                <a:cs typeface="Calibri"/>
              </a:rPr>
              <a:t>thub</a:t>
            </a:r>
            <a:r>
              <a:rPr dirty="0" sz="1400" spc="-30" i="1">
                <a:solidFill>
                  <a:srgbClr val="8E8E8E"/>
                </a:solidFill>
                <a:latin typeface="Calibri"/>
                <a:cs typeface="Calibri"/>
              </a:rPr>
              <a:t> </a:t>
            </a:r>
            <a:r>
              <a:rPr dirty="0" sz="1400" spc="-35" i="1">
                <a:solidFill>
                  <a:srgbClr val="959595"/>
                </a:solidFill>
                <a:latin typeface="Calibri"/>
                <a:cs typeface="Calibri"/>
              </a:rPr>
              <a:t>. </a:t>
            </a:r>
            <a:r>
              <a:rPr dirty="0" sz="1400" i="1">
                <a:solidFill>
                  <a:srgbClr val="8E8E8E"/>
                </a:solidFill>
                <a:latin typeface="Calibri"/>
                <a:cs typeface="Calibri"/>
              </a:rPr>
              <a:t>commode</a:t>
            </a:r>
            <a:r>
              <a:rPr dirty="0" sz="1400" spc="125" i="1">
                <a:solidFill>
                  <a:srgbClr val="8E8E8E"/>
                </a:solidFill>
                <a:latin typeface="Calibri"/>
                <a:cs typeface="Calibri"/>
              </a:rPr>
              <a:t> </a:t>
            </a:r>
            <a:r>
              <a:rPr dirty="0" sz="1400" spc="95" i="1">
                <a:solidFill>
                  <a:srgbClr val="979797"/>
                </a:solidFill>
                <a:latin typeface="Calibri"/>
                <a:cs typeface="Calibri"/>
              </a:rPr>
              <a:t>Icon</a:t>
            </a:r>
            <a:r>
              <a:rPr dirty="0" sz="1400" spc="95" i="1">
                <a:solidFill>
                  <a:srgbClr val="919191"/>
                </a:solidFill>
                <a:latin typeface="Calibri"/>
                <a:cs typeface="Calibri"/>
              </a:rPr>
              <a:t>tex</a:t>
            </a:r>
            <a:r>
              <a:rPr dirty="0" sz="1400" spc="-15" i="1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dirty="0" sz="1400" spc="70" i="1">
                <a:solidFill>
                  <a:srgbClr val="9A9A9A"/>
                </a:solidFill>
                <a:latin typeface="Calibri"/>
                <a:cs typeface="Calibri"/>
              </a:rPr>
              <a:t>ip</a:t>
            </a:r>
            <a:r>
              <a:rPr dirty="0" sz="1400" spc="-5" i="1">
                <a:solidFill>
                  <a:srgbClr val="9A9A9A"/>
                </a:solidFill>
                <a:latin typeface="Calibri"/>
                <a:cs typeface="Calibri"/>
              </a:rPr>
              <a:t> </a:t>
            </a:r>
            <a:r>
              <a:rPr dirty="0" sz="1400" spc="114" i="1">
                <a:solidFill>
                  <a:srgbClr val="8E8E8E"/>
                </a:solidFill>
                <a:latin typeface="Calibri"/>
                <a:cs typeface="Calibri"/>
              </a:rPr>
              <a:t>ro</a:t>
            </a:r>
            <a:r>
              <a:rPr dirty="0" sz="1400" spc="114" i="1">
                <a:solidFill>
                  <a:srgbClr val="8C8C8C"/>
                </a:solidFill>
                <a:latin typeface="Calibri"/>
                <a:cs typeface="Calibri"/>
              </a:rPr>
              <a:t>toco</a:t>
            </a:r>
            <a:r>
              <a:rPr dirty="0" sz="1400" spc="-30" i="1">
                <a:solidFill>
                  <a:srgbClr val="8C8C8C"/>
                </a:solidFill>
                <a:latin typeface="Calibri"/>
                <a:cs typeface="Calibri"/>
              </a:rPr>
              <a:t> </a:t>
            </a:r>
            <a:r>
              <a:rPr dirty="0" sz="1400" spc="155" i="1">
                <a:solidFill>
                  <a:srgbClr val="A1A1A1"/>
                </a:solidFill>
                <a:latin typeface="Calibri"/>
                <a:cs typeface="Calibri"/>
              </a:rPr>
              <a:t>I/servers/</a:t>
            </a:r>
            <a:r>
              <a:rPr dirty="0" sz="1400" spc="75" i="1">
                <a:solidFill>
                  <a:srgbClr val="A1A1A1"/>
                </a:solidFill>
                <a:latin typeface="Calibri"/>
                <a:cs typeface="Calibri"/>
              </a:rPr>
              <a:t> </a:t>
            </a:r>
            <a:r>
              <a:rPr dirty="0" sz="1400" spc="130" i="1">
                <a:solidFill>
                  <a:srgbClr val="9E9E9E"/>
                </a:solidFill>
                <a:latin typeface="Calibri"/>
                <a:cs typeface="Calibri"/>
              </a:rPr>
              <a:t>t</a:t>
            </a:r>
            <a:r>
              <a:rPr dirty="0" sz="1400" spc="-155" i="1">
                <a:solidFill>
                  <a:srgbClr val="9E9E9E"/>
                </a:solidFill>
                <a:latin typeface="Calibri"/>
                <a:cs typeface="Calibri"/>
              </a:rPr>
              <a:t> </a:t>
            </a:r>
            <a:r>
              <a:rPr dirty="0" sz="1400" spc="110" i="1">
                <a:solidFill>
                  <a:srgbClr val="909090"/>
                </a:solidFill>
                <a:latin typeface="Calibri"/>
                <a:cs typeface="Calibri"/>
              </a:rPr>
              <a:t>ree/na1</a:t>
            </a:r>
            <a:r>
              <a:rPr dirty="0" sz="1400" spc="110" i="1">
                <a:solidFill>
                  <a:srgbClr val="878787"/>
                </a:solidFill>
                <a:latin typeface="Calibri"/>
                <a:cs typeface="Calibri"/>
              </a:rPr>
              <a:t>n/src/brave</a:t>
            </a:r>
            <a:r>
              <a:rPr dirty="0" sz="1400" spc="2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959595"/>
                </a:solidFill>
                <a:latin typeface="Calibri"/>
                <a:cs typeface="Calibri"/>
              </a:rPr>
              <a:t>-</a:t>
            </a:r>
            <a:r>
              <a:rPr dirty="0" sz="1400" spc="-90" i="1">
                <a:solidFill>
                  <a:srgbClr val="959595"/>
                </a:solidFill>
                <a:latin typeface="Calibri"/>
                <a:cs typeface="Calibri"/>
              </a:rPr>
              <a:t> </a:t>
            </a:r>
            <a:r>
              <a:rPr dirty="0" sz="1400" spc="50" i="1">
                <a:solidFill>
                  <a:srgbClr val="939393"/>
                </a:solidFill>
                <a:latin typeface="Calibri"/>
                <a:cs typeface="Calibri"/>
              </a:rPr>
              <a:t>sea</a:t>
            </a:r>
            <a:r>
              <a:rPr dirty="0" sz="1400" spc="-105" i="1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919191"/>
                </a:solidFill>
                <a:latin typeface="Calibri"/>
                <a:cs typeface="Calibri"/>
              </a:rPr>
              <a:t>rch</a:t>
            </a:r>
            <a:endParaRPr sz="1400">
              <a:latin typeface="Calibri"/>
              <a:cs typeface="Calibri"/>
            </a:endParaRPr>
          </a:p>
          <a:p>
            <a:pPr marL="14604">
              <a:lnSpc>
                <a:spcPts val="1465"/>
              </a:lnSpc>
              <a:tabLst>
                <a:tab pos="400685" algn="l"/>
              </a:tabLst>
            </a:pPr>
            <a:r>
              <a:rPr dirty="0" sz="1400" spc="25">
                <a:solidFill>
                  <a:srgbClr val="6B642F"/>
                </a:solidFill>
                <a:latin typeface="Calibri"/>
                <a:cs typeface="Calibri"/>
              </a:rPr>
              <a:t>var</a:t>
            </a:r>
            <a:r>
              <a:rPr dirty="0" sz="1400">
                <a:solidFill>
                  <a:srgbClr val="6B642F"/>
                </a:solidFill>
                <a:latin typeface="Calibri"/>
                <a:cs typeface="Calibri"/>
              </a:rPr>
              <a:t>	</a:t>
            </a:r>
            <a:r>
              <a:rPr dirty="0" sz="1400" spc="130">
                <a:solidFill>
                  <a:srgbClr val="675B26"/>
                </a:solidFill>
                <a:latin typeface="Calibri"/>
                <a:cs typeface="Calibri"/>
              </a:rPr>
              <a:t>stdioPar</a:t>
            </a:r>
            <a:r>
              <a:rPr dirty="0" sz="1400" spc="-135">
                <a:solidFill>
                  <a:srgbClr val="675B26"/>
                </a:solidFill>
                <a:latin typeface="Calibri"/>
                <a:cs typeface="Calibri"/>
              </a:rPr>
              <a:t> </a:t>
            </a:r>
            <a:r>
              <a:rPr dirty="0" sz="1400" spc="135">
                <a:solidFill>
                  <a:srgbClr val="7C6426"/>
                </a:solidFill>
                <a:latin typeface="Calibri"/>
                <a:cs typeface="Calibri"/>
              </a:rPr>
              <a:t>acs</a:t>
            </a:r>
            <a:r>
              <a:rPr dirty="0" sz="1400" spc="390">
                <a:solidFill>
                  <a:srgbClr val="7C6426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84672"/>
                </a:solidFill>
                <a:latin typeface="Calibri"/>
                <a:cs typeface="Calibri"/>
              </a:rPr>
              <a:t>=</a:t>
            </a:r>
            <a:r>
              <a:rPr dirty="0" sz="1400" spc="390">
                <a:solidFill>
                  <a:srgbClr val="284672"/>
                </a:solidFill>
                <a:latin typeface="Calibri"/>
                <a:cs typeface="Calibri"/>
              </a:rPr>
              <a:t> </a:t>
            </a:r>
            <a:r>
              <a:rPr dirty="0" sz="1400" spc="95">
                <a:latin typeface="Calibri"/>
                <a:cs typeface="Calibri"/>
              </a:rPr>
              <a:t>ServerParameter</a:t>
            </a:r>
            <a:r>
              <a:rPr dirty="0" sz="1400" spc="-185"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212121"/>
                </a:solidFill>
                <a:latin typeface="Calibri"/>
                <a:cs typeface="Calibri"/>
              </a:rPr>
              <a:t>s </a:t>
            </a:r>
            <a:r>
              <a:rPr dirty="0" sz="1400" i="1">
                <a:solidFill>
                  <a:srgbClr val="1C1C1C"/>
                </a:solidFill>
                <a:latin typeface="Calibri"/>
                <a:cs typeface="Calibri"/>
              </a:rPr>
              <a:t>.</a:t>
            </a:r>
            <a:r>
              <a:rPr dirty="0" sz="1400" spc="-155" i="1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bui</a:t>
            </a:r>
            <a:r>
              <a:rPr dirty="0" sz="1400" spc="1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lder</a:t>
            </a:r>
            <a:r>
              <a:rPr dirty="0" sz="1400" spc="-140"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151515"/>
                </a:solidFill>
                <a:latin typeface="Calibri"/>
                <a:cs typeface="Calibri"/>
              </a:rPr>
              <a:t>(</a:t>
            </a:r>
            <a:r>
              <a:rPr dirty="0" sz="1400" spc="-1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70">
                <a:solidFill>
                  <a:srgbClr val="74976E"/>
                </a:solidFill>
                <a:latin typeface="Calibri"/>
                <a:cs typeface="Calibri"/>
              </a:rPr>
              <a:t>"npx"</a:t>
            </a:r>
            <a:r>
              <a:rPr dirty="0" sz="1400" spc="-114">
                <a:solidFill>
                  <a:srgbClr val="74976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197485">
              <a:lnSpc>
                <a:spcPts val="1525"/>
              </a:lnSpc>
            </a:pPr>
            <a:r>
              <a:rPr dirty="0" sz="1400" spc="-114">
                <a:solidFill>
                  <a:srgbClr val="111111"/>
                </a:solidFill>
                <a:latin typeface="Courier New"/>
                <a:cs typeface="Courier New"/>
              </a:rPr>
              <a:t>.args("-</a:t>
            </a:r>
            <a:r>
              <a:rPr dirty="0" sz="1400" spc="-10">
                <a:solidFill>
                  <a:srgbClr val="111111"/>
                </a:solidFill>
                <a:latin typeface="Courier New"/>
                <a:cs typeface="Courier New"/>
              </a:rPr>
              <a:t>y",</a:t>
            </a:r>
            <a:r>
              <a:rPr dirty="0" sz="1400" spc="10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400" spc="-95">
                <a:solidFill>
                  <a:srgbClr val="2F2F2F"/>
                </a:solidFill>
                <a:latin typeface="Courier New"/>
                <a:cs typeface="Courier New"/>
              </a:rPr>
              <a:t>"8modelcontextprotocol/server-brave-</a:t>
            </a:r>
            <a:r>
              <a:rPr dirty="0" sz="1400" spc="-10">
                <a:solidFill>
                  <a:srgbClr val="2F2F2F"/>
                </a:solidFill>
                <a:latin typeface="Courier New"/>
                <a:cs typeface="Courier New"/>
              </a:rPr>
              <a:t>search")</a:t>
            </a:r>
            <a:endParaRPr sz="1400">
              <a:latin typeface="Courier New"/>
              <a:cs typeface="Courier New"/>
            </a:endParaRPr>
          </a:p>
          <a:p>
            <a:pPr marL="222885">
              <a:lnSpc>
                <a:spcPts val="1375"/>
              </a:lnSpc>
              <a:tabLst>
                <a:tab pos="2884170" algn="l"/>
              </a:tabLst>
            </a:pPr>
            <a:r>
              <a:rPr dirty="0" sz="1250" spc="-40">
                <a:solidFill>
                  <a:srgbClr val="0C0C0C"/>
                </a:solidFill>
                <a:latin typeface="Arial MT"/>
                <a:cs typeface="Arial MT"/>
              </a:rPr>
              <a:t>.</a:t>
            </a:r>
            <a:r>
              <a:rPr dirty="0" sz="125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addEnvVar</a:t>
            </a:r>
            <a:r>
              <a:rPr dirty="0" sz="1250" spc="95"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0F0F0F"/>
                </a:solidFill>
                <a:latin typeface="Arial MT"/>
                <a:cs typeface="Arial MT"/>
              </a:rPr>
              <a:t>(</a:t>
            </a:r>
            <a:r>
              <a:rPr dirty="0" sz="125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6B8972"/>
                </a:solidFill>
                <a:latin typeface="Arial MT"/>
                <a:cs typeface="Arial MT"/>
              </a:rPr>
              <a:t>"eRAVE_AP</a:t>
            </a:r>
            <a:r>
              <a:rPr dirty="0" sz="1250" spc="-10">
                <a:solidFill>
                  <a:srgbClr val="232323"/>
                </a:solidFill>
                <a:latin typeface="Arial MT"/>
                <a:cs typeface="Arial MT"/>
              </a:rPr>
              <a:t>I_KEY",</a:t>
            </a:r>
            <a:r>
              <a:rPr dirty="0" sz="1250">
                <a:solidFill>
                  <a:srgbClr val="232323"/>
                </a:solidFill>
                <a:latin typeface="Arial MT"/>
                <a:cs typeface="Arial MT"/>
              </a:rPr>
              <a:t>	</a:t>
            </a:r>
            <a:r>
              <a:rPr dirty="0" sz="1250" spc="75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dirty="0" sz="1250" spc="-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61616"/>
                </a:solidFill>
                <a:latin typeface="Arial MT"/>
                <a:cs typeface="Arial MT"/>
              </a:rPr>
              <a:t>.</a:t>
            </a:r>
            <a:r>
              <a:rPr dirty="0" sz="1250" spc="-6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250" spc="110">
                <a:latin typeface="Arial MT"/>
                <a:cs typeface="Arial MT"/>
              </a:rPr>
              <a:t>getenv(</a:t>
            </a:r>
            <a:r>
              <a:rPr dirty="0" sz="1250" spc="125">
                <a:latin typeface="Arial MT"/>
                <a:cs typeface="Arial MT"/>
              </a:rPr>
              <a:t> </a:t>
            </a:r>
            <a:r>
              <a:rPr dirty="0" sz="1250" spc="-85">
                <a:solidFill>
                  <a:srgbClr val="608E62"/>
                </a:solidFill>
                <a:latin typeface="Arial MT"/>
                <a:cs typeface="Arial MT"/>
              </a:rPr>
              <a:t>"BRAVE_AP</a:t>
            </a:r>
            <a:r>
              <a:rPr dirty="0" sz="1250" spc="-95">
                <a:solidFill>
                  <a:srgbClr val="608E62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778E72"/>
                </a:solidFill>
                <a:latin typeface="Arial MT"/>
                <a:cs typeface="Arial MT"/>
              </a:rPr>
              <a:t>I_KEY"</a:t>
            </a:r>
            <a:r>
              <a:rPr dirty="0" sz="1250" spc="65">
                <a:solidFill>
                  <a:srgbClr val="778E72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61616"/>
                </a:solidFill>
                <a:latin typeface="Arial MT"/>
                <a:cs typeface="Arial MT"/>
              </a:rPr>
              <a:t>)</a:t>
            </a:r>
            <a:r>
              <a:rPr dirty="0" sz="1250" spc="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latin typeface="Arial MT"/>
                <a:cs typeface="Arial MT"/>
              </a:rPr>
              <a:t>)</a:t>
            </a:r>
            <a:endParaRPr sz="1250">
              <a:latin typeface="Arial MT"/>
              <a:cs typeface="Arial MT"/>
            </a:endParaRPr>
          </a:p>
          <a:p>
            <a:pPr marL="204470">
              <a:lnSpc>
                <a:spcPts val="1540"/>
              </a:lnSpc>
            </a:pPr>
            <a:r>
              <a:rPr dirty="0" sz="1350" spc="-10">
                <a:latin typeface="Consolas"/>
                <a:cs typeface="Consolas"/>
              </a:rPr>
              <a:t>.build();</a:t>
            </a:r>
            <a:endParaRPr sz="1350">
              <a:latin typeface="Consolas"/>
              <a:cs typeface="Consolas"/>
            </a:endParaRPr>
          </a:p>
          <a:p>
            <a:pPr marL="12700">
              <a:lnSpc>
                <a:spcPts val="1635"/>
              </a:lnSpc>
              <a:spcBef>
                <a:spcPts val="1110"/>
              </a:spcBef>
            </a:pPr>
            <a:r>
              <a:rPr dirty="0" sz="1500" spc="-190">
                <a:solidFill>
                  <a:srgbClr val="82773D"/>
                </a:solidFill>
                <a:latin typeface="Courier New"/>
                <a:cs typeface="Courier New"/>
              </a:rPr>
              <a:t>var</a:t>
            </a:r>
            <a:r>
              <a:rPr dirty="0" sz="1500">
                <a:solidFill>
                  <a:srgbClr val="82773D"/>
                </a:solidFill>
                <a:latin typeface="Courier New"/>
                <a:cs typeface="Courier New"/>
              </a:rPr>
              <a:t> </a:t>
            </a:r>
            <a:r>
              <a:rPr dirty="0" sz="1500" spc="-185">
                <a:solidFill>
                  <a:srgbClr val="7B7748"/>
                </a:solidFill>
                <a:latin typeface="Courier New"/>
                <a:cs typeface="Courier New"/>
              </a:rPr>
              <a:t>mcpClient</a:t>
            </a:r>
            <a:r>
              <a:rPr dirty="0" sz="1500" spc="110">
                <a:solidFill>
                  <a:srgbClr val="7B7748"/>
                </a:solidFill>
                <a:latin typeface="Courier New"/>
                <a:cs typeface="Courier New"/>
              </a:rPr>
              <a:t> </a:t>
            </a:r>
            <a:r>
              <a:rPr dirty="0" sz="1500" spc="-180">
                <a:solidFill>
                  <a:srgbClr val="2F3D7E"/>
                </a:solidFill>
                <a:latin typeface="Courier New"/>
                <a:cs typeface="Courier New"/>
              </a:rPr>
              <a:t>=</a:t>
            </a:r>
            <a:r>
              <a:rPr dirty="0" sz="1500" spc="-95">
                <a:solidFill>
                  <a:srgbClr val="2F3D7E"/>
                </a:solidFill>
                <a:latin typeface="Courier New"/>
                <a:cs typeface="Courier New"/>
              </a:rPr>
              <a:t> </a:t>
            </a:r>
            <a:r>
              <a:rPr dirty="0" sz="1500" spc="-165">
                <a:solidFill>
                  <a:srgbClr val="0E0E0E"/>
                </a:solidFill>
                <a:latin typeface="Courier New"/>
                <a:cs typeface="Courier New"/>
              </a:rPr>
              <a:t>NcpClient.sync(new</a:t>
            </a:r>
            <a:r>
              <a:rPr dirty="0" sz="1500" spc="-30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1500" spc="-140">
                <a:latin typeface="Courier New"/>
                <a:cs typeface="Courier New"/>
              </a:rPr>
              <a:t>StdioCłientTransport(stdioParams)).build();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</a:pPr>
            <a:r>
              <a:rPr dirty="0" sz="1450" spc="-170">
                <a:solidFill>
                  <a:srgbClr val="977E4F"/>
                </a:solidFill>
                <a:latin typeface="Courier New"/>
                <a:cs typeface="Courier New"/>
              </a:rPr>
              <a:t>var</a:t>
            </a:r>
            <a:r>
              <a:rPr dirty="0" sz="1450" spc="-60">
                <a:solidFill>
                  <a:srgbClr val="977E4F"/>
                </a:solidFill>
                <a:latin typeface="Courier New"/>
                <a:cs typeface="Courier New"/>
              </a:rPr>
              <a:t> </a:t>
            </a:r>
            <a:r>
              <a:rPr dirty="0" sz="1450" spc="-150">
                <a:solidFill>
                  <a:srgbClr val="B5AF95"/>
                </a:solidFill>
                <a:latin typeface="Courier New"/>
                <a:cs typeface="Courier New"/>
              </a:rPr>
              <a:t>init</a:t>
            </a:r>
            <a:r>
              <a:rPr dirty="0" sz="1450" spc="-70">
                <a:solidFill>
                  <a:srgbClr val="B5AF95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445266"/>
                </a:solidFill>
                <a:latin typeface="Courier New"/>
                <a:cs typeface="Courier New"/>
              </a:rPr>
              <a:t>=</a:t>
            </a:r>
            <a:r>
              <a:rPr dirty="0" sz="1450" spc="-160">
                <a:solidFill>
                  <a:srgbClr val="445266"/>
                </a:solidFill>
                <a:latin typeface="Courier New"/>
                <a:cs typeface="Courier New"/>
              </a:rPr>
              <a:t> </a:t>
            </a:r>
            <a:r>
              <a:rPr dirty="0" sz="1450" spc="-90">
                <a:latin typeface="Courier New"/>
                <a:cs typeface="Courier New"/>
              </a:rPr>
              <a:t>mcpClient.initialize();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50">
              <a:latin typeface="Courier New"/>
              <a:cs typeface="Courier New"/>
            </a:endParaRPr>
          </a:p>
          <a:p>
            <a:pPr marL="14604">
              <a:lnSpc>
                <a:spcPts val="1535"/>
              </a:lnSpc>
              <a:tabLst>
                <a:tab pos="394335" algn="l"/>
              </a:tabLst>
            </a:pPr>
            <a:r>
              <a:rPr dirty="0" sz="1400" spc="-25">
                <a:solidFill>
                  <a:srgbClr val="806944"/>
                </a:solidFill>
                <a:latin typeface="Calibri"/>
                <a:cs typeface="Calibri"/>
              </a:rPr>
              <a:t>var</a:t>
            </a:r>
            <a:r>
              <a:rPr dirty="0" sz="1400">
                <a:solidFill>
                  <a:srgbClr val="806944"/>
                </a:solidFill>
                <a:latin typeface="Calibri"/>
                <a:cs typeface="Calibri"/>
              </a:rPr>
              <a:t>	</a:t>
            </a:r>
            <a:r>
              <a:rPr dirty="0" sz="1400" spc="114">
                <a:solidFill>
                  <a:srgbClr val="706638"/>
                </a:solidFill>
                <a:latin typeface="Calibri"/>
                <a:cs typeface="Calibri"/>
              </a:rPr>
              <a:t>chatC</a:t>
            </a:r>
            <a:r>
              <a:rPr dirty="0" sz="1400" spc="114">
                <a:solidFill>
                  <a:srgbClr val="7E6449"/>
                </a:solidFill>
                <a:latin typeface="Calibri"/>
                <a:cs typeface="Calibri"/>
              </a:rPr>
              <a:t>l1ent</a:t>
            </a:r>
            <a:r>
              <a:rPr dirty="0" sz="1400" spc="105">
                <a:solidFill>
                  <a:srgbClr val="7E6449"/>
                </a:solidFill>
                <a:latin typeface="Calibri"/>
                <a:cs typeface="Calibri"/>
              </a:rPr>
              <a:t>  </a:t>
            </a:r>
            <a:r>
              <a:rPr dirty="0" sz="1400" spc="160">
                <a:solidFill>
                  <a:srgbClr val="31486D"/>
                </a:solidFill>
                <a:latin typeface="Calibri"/>
                <a:cs typeface="Calibri"/>
              </a:rPr>
              <a:t>=</a:t>
            </a:r>
            <a:r>
              <a:rPr dirty="0" sz="1400" spc="365">
                <a:solidFill>
                  <a:srgbClr val="31486D"/>
                </a:solidFill>
                <a:latin typeface="Calibri"/>
                <a:cs typeface="Calibri"/>
              </a:rPr>
              <a:t> </a:t>
            </a:r>
            <a:r>
              <a:rPr dirty="0" sz="1400" spc="135">
                <a:latin typeface="Calibri"/>
                <a:cs typeface="Calibri"/>
              </a:rPr>
              <a:t>chatCIientBuitder</a:t>
            </a:r>
            <a:endParaRPr sz="1400">
              <a:latin typeface="Calibri"/>
              <a:cs typeface="Calibri"/>
            </a:endParaRPr>
          </a:p>
          <a:p>
            <a:pPr marL="195580">
              <a:lnSpc>
                <a:spcPts val="1595"/>
              </a:lnSpc>
            </a:pPr>
            <a:r>
              <a:rPr dirty="0" sz="1450" spc="-110">
                <a:latin typeface="Courier New"/>
                <a:cs typeface="Courier New"/>
              </a:rPr>
              <a:t>.defaultFunctions(mcpClient.listTools(nułl)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5395" y="3818058"/>
            <a:ext cx="1064260" cy="61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500" spc="-30">
                <a:solidFill>
                  <a:srgbClr val="161616"/>
                </a:solidFill>
                <a:latin typeface="Courier New"/>
                <a:cs typeface="Courier New"/>
              </a:rPr>
              <a:t>.tools()</a:t>
            </a:r>
            <a:endParaRPr sz="1500">
              <a:latin typeface="Courier New"/>
              <a:cs typeface="Courier New"/>
            </a:endParaRPr>
          </a:p>
          <a:p>
            <a:pPr marL="16510">
              <a:lnSpc>
                <a:spcPts val="1350"/>
              </a:lnSpc>
            </a:pPr>
            <a:r>
              <a:rPr dirty="0" sz="1350" spc="-10">
                <a:solidFill>
                  <a:srgbClr val="0F0F0F"/>
                </a:solidFill>
                <a:latin typeface="Courier New"/>
                <a:cs typeface="Courier New"/>
              </a:rPr>
              <a:t>.stream()</a:t>
            </a:r>
            <a:endParaRPr sz="1350">
              <a:latin typeface="Courier New"/>
              <a:cs typeface="Courier New"/>
            </a:endParaRPr>
          </a:p>
          <a:p>
            <a:pPr marL="13970">
              <a:lnSpc>
                <a:spcPts val="1600"/>
              </a:lnSpc>
            </a:pPr>
            <a:r>
              <a:rPr dirty="0" sz="1450" spc="-125">
                <a:solidFill>
                  <a:srgbClr val="0A0A0A"/>
                </a:solidFill>
                <a:latin typeface="Courier New"/>
                <a:cs typeface="Courier New"/>
              </a:rPr>
              <a:t>.map(tooł</a:t>
            </a:r>
            <a:r>
              <a:rPr dirty="0" sz="1450" spc="-7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450" spc="-400">
                <a:latin typeface="Courier New"/>
                <a:cs typeface="Courier New"/>
              </a:rPr>
              <a:t>-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47765" y="4184162"/>
            <a:ext cx="3951604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14">
                <a:solidFill>
                  <a:srgbClr val="936B9E"/>
                </a:solidFill>
                <a:latin typeface="Courier New"/>
                <a:cs typeface="Courier New"/>
              </a:rPr>
              <a:t>new</a:t>
            </a:r>
            <a:r>
              <a:rPr dirty="0" sz="1450" spc="-75">
                <a:solidFill>
                  <a:srgbClr val="936B9E"/>
                </a:solidFill>
                <a:latin typeface="Courier New"/>
                <a:cs typeface="Courier New"/>
              </a:rPr>
              <a:t> </a:t>
            </a:r>
            <a:r>
              <a:rPr dirty="0" sz="1450" spc="-135">
                <a:latin typeface="Courier New"/>
                <a:cs typeface="Courier New"/>
              </a:rPr>
              <a:t>McpFunctiunûallback(mcpClient,</a:t>
            </a:r>
            <a:r>
              <a:rPr dirty="0" sz="1450" spc="-85">
                <a:latin typeface="Courier New"/>
                <a:cs typeface="Courier New"/>
              </a:rPr>
              <a:t> </a:t>
            </a:r>
            <a:r>
              <a:rPr dirty="0" sz="1450" spc="-65">
                <a:solidFill>
                  <a:srgbClr val="111111"/>
                </a:solidFill>
                <a:latin typeface="Courier New"/>
                <a:cs typeface="Courier New"/>
              </a:rPr>
              <a:t>tool))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5166" y="4379536"/>
            <a:ext cx="3521075" cy="41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35"/>
              </a:lnSpc>
              <a:spcBef>
                <a:spcPts val="100"/>
              </a:spcBef>
              <a:tabLst>
                <a:tab pos="2978150" algn="l"/>
              </a:tabLst>
            </a:pPr>
            <a:r>
              <a:rPr dirty="0" sz="1400">
                <a:solidFill>
                  <a:srgbClr val="111111"/>
                </a:solidFill>
                <a:latin typeface="Calibri"/>
                <a:cs typeface="Calibri"/>
              </a:rPr>
              <a:t>.</a:t>
            </a:r>
            <a:r>
              <a:rPr dirty="0" sz="140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400" spc="95">
                <a:latin typeface="Calibri"/>
                <a:cs typeface="Calibri"/>
              </a:rPr>
              <a:t>toArray(ncpFunctżonCat1back</a:t>
            </a:r>
            <a:r>
              <a:rPr dirty="0" sz="1400" spc="95">
                <a:solidFill>
                  <a:srgbClr val="0E0E0E"/>
                </a:solidFill>
                <a:latin typeface="Calibri"/>
                <a:cs typeface="Calibri"/>
              </a:rPr>
              <a:t>[]</a:t>
            </a:r>
            <a:r>
              <a:rPr dirty="0" sz="1400">
                <a:solidFill>
                  <a:srgbClr val="0E0E0E"/>
                </a:solidFill>
                <a:latin typeface="Calibri"/>
                <a:cs typeface="Calibri"/>
              </a:rPr>
              <a:t>	</a:t>
            </a:r>
            <a:r>
              <a:rPr dirty="0" sz="1400" spc="-20">
                <a:solidFill>
                  <a:srgbClr val="232323"/>
                </a:solidFill>
                <a:latin typeface="Calibri"/>
                <a:cs typeface="Calibri"/>
              </a:rPr>
              <a:t>:</a:t>
            </a:r>
            <a:r>
              <a:rPr dirty="0" sz="1400" spc="-13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1C1C"/>
                </a:solidFill>
                <a:latin typeface="Calibri"/>
                <a:cs typeface="Calibri"/>
              </a:rPr>
              <a:t>new)</a:t>
            </a:r>
            <a:r>
              <a:rPr dirty="0" sz="1400" spc="-2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111111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35"/>
              </a:lnSpc>
            </a:pP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r>
              <a:rPr dirty="0" sz="14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180">
                <a:latin typeface="Calibri"/>
                <a:cs typeface="Calibri"/>
              </a:rPr>
              <a:t>build(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140">
                <a:solidFill>
                  <a:srgbClr val="181818"/>
                </a:solidFill>
                <a:latin typeface="Calibri"/>
                <a:cs typeface="Calibri"/>
              </a:rPr>
              <a:t>)</a:t>
            </a:r>
            <a:r>
              <a:rPr dirty="0" sz="1400" spc="-13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spc="75">
                <a:solidFill>
                  <a:srgbClr val="0C0C0C"/>
                </a:solidFill>
                <a:latin typeface="Calibri"/>
                <a:cs typeface="Calibri"/>
              </a:rPr>
              <a:t>;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9551" y="5289588"/>
            <a:ext cx="2179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45454"/>
                </a:solidFill>
                <a:latin typeface="Calibri"/>
                <a:cs typeface="Calibri"/>
              </a:rPr>
              <a:t>Intelligent</a:t>
            </a:r>
            <a:r>
              <a:rPr dirty="0" sz="1100" spc="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25252"/>
                </a:solidFill>
                <a:latin typeface="Calibri"/>
                <a:cs typeface="Calibri"/>
              </a:rPr>
              <a:t>Applications</a:t>
            </a:r>
            <a:r>
              <a:rPr dirty="0" sz="1100" spc="-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100" spc="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F4F4F"/>
                </a:solidFill>
                <a:latin typeface="Calibri"/>
                <a:cs typeface="Calibri"/>
              </a:rPr>
              <a:t>Spring</a:t>
            </a:r>
            <a:r>
              <a:rPr dirty="0" sz="1100" spc="8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D5D5D"/>
                </a:solidFill>
                <a:latin typeface="Calibri"/>
                <a:cs typeface="Calibri"/>
              </a:rPr>
              <a:t>AI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92809" y="5302291"/>
            <a:ext cx="1701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545454"/>
                </a:solidFill>
                <a:latin typeface="Cambria"/>
                <a:cs typeface="Cambria"/>
              </a:rPr>
              <a:t>75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dirty="0" spc="434"/>
              <a:t> </a:t>
            </a:r>
            <a:r>
              <a:rPr dirty="0" spc="65">
                <a:solidFill>
                  <a:srgbClr val="08A7D4"/>
                </a:solidFill>
              </a:rPr>
              <a:t>AI</a:t>
            </a:r>
            <a:r>
              <a:rPr dirty="0" spc="220">
                <a:solidFill>
                  <a:srgbClr val="08A7D4"/>
                </a:solidFill>
              </a:rPr>
              <a:t> </a:t>
            </a:r>
            <a:r>
              <a:rPr dirty="0" spc="114">
                <a:solidFill>
                  <a:srgbClr val="0CA3D8"/>
                </a:solidFill>
              </a:rPr>
              <a:t>Challenges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0084" y="1110763"/>
            <a:ext cx="3472179" cy="437070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035"/>
              </a:spcBef>
            </a:pPr>
            <a:r>
              <a:rPr dirty="0" sz="2100" spc="75">
                <a:latin typeface="Calibri"/>
                <a:cs typeface="Calibri"/>
              </a:rPr>
              <a:t>Challenges</a:t>
            </a:r>
            <a:endParaRPr sz="21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spcBef>
                <a:spcPts val="935"/>
              </a:spcBef>
            </a:pPr>
            <a:r>
              <a:rPr dirty="0" sz="2100" spc="60">
                <a:solidFill>
                  <a:srgbClr val="0F0F0F"/>
                </a:solidFill>
                <a:latin typeface="Calibri"/>
                <a:cs typeface="Calibri"/>
              </a:rPr>
              <a:t>Align</a:t>
            </a:r>
            <a:r>
              <a:rPr dirty="0" sz="2100" spc="16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responses</a:t>
            </a:r>
            <a:r>
              <a:rPr dirty="0" sz="2100" spc="14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dirty="0" sz="2100" spc="1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0F0F0F"/>
                </a:solidFill>
                <a:latin typeface="Calibri"/>
                <a:cs typeface="Calibri"/>
              </a:rPr>
              <a:t>goals</a:t>
            </a:r>
            <a:endParaRPr sz="2100">
              <a:latin typeface="Calibri"/>
              <a:cs typeface="Calibri"/>
            </a:endParaRPr>
          </a:p>
          <a:p>
            <a:pPr marL="262890" marR="417830" indent="635">
              <a:lnSpc>
                <a:spcPct val="137100"/>
              </a:lnSpc>
              <a:spcBef>
                <a:spcPts val="170"/>
              </a:spcBef>
            </a:pPr>
            <a:r>
              <a:rPr dirty="0" sz="2050" spc="65">
                <a:solidFill>
                  <a:srgbClr val="131313"/>
                </a:solidFill>
                <a:latin typeface="Calibri"/>
                <a:cs typeface="Calibri"/>
              </a:rPr>
              <a:t>No</a:t>
            </a:r>
            <a:r>
              <a:rPr dirty="0" sz="2050" spc="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050" spc="55">
                <a:solidFill>
                  <a:srgbClr val="080808"/>
                </a:solidFill>
                <a:latin typeface="Calibri"/>
                <a:cs typeface="Calibri"/>
              </a:rPr>
              <a:t>structured</a:t>
            </a:r>
            <a:r>
              <a:rPr dirty="0" sz="2050" spc="15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2050" spc="60">
                <a:solidFill>
                  <a:srgbClr val="0C0C0C"/>
                </a:solidFill>
                <a:latin typeface="Calibri"/>
                <a:cs typeface="Calibri"/>
              </a:rPr>
              <a:t>output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61616"/>
                </a:solidFill>
                <a:latin typeface="Calibri"/>
                <a:cs typeface="Calibri"/>
              </a:rPr>
              <a:t>trained</a:t>
            </a:r>
            <a:r>
              <a:rPr dirty="0" sz="2150" spc="9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F1F1F"/>
                </a:solidFill>
                <a:latin typeface="Calibri"/>
                <a:cs typeface="Calibri"/>
              </a:rPr>
              <a:t>on</a:t>
            </a:r>
            <a:r>
              <a:rPr dirty="0" sz="215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F0F0F"/>
                </a:solidFill>
                <a:latin typeface="Calibri"/>
                <a:cs typeface="Calibri"/>
              </a:rPr>
              <a:t>your</a:t>
            </a:r>
            <a:r>
              <a:rPr dirty="0" sz="2150" spc="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 </a:t>
            </a:r>
            <a:r>
              <a:rPr dirty="0" sz="2100" spc="50">
                <a:solidFill>
                  <a:srgbClr val="0A0A0A"/>
                </a:solidFill>
                <a:latin typeface="Calibri"/>
                <a:cs typeface="Calibri"/>
              </a:rPr>
              <a:t>Limited</a:t>
            </a:r>
            <a:r>
              <a:rPr dirty="0" sz="2100" spc="12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context</a:t>
            </a:r>
            <a:r>
              <a:rPr dirty="0" sz="2100" spc="110"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080808"/>
                </a:solidFill>
                <a:latin typeface="Calibri"/>
                <a:cs typeface="Calibri"/>
              </a:rPr>
              <a:t>size </a:t>
            </a:r>
            <a:r>
              <a:rPr dirty="0" sz="2150">
                <a:solidFill>
                  <a:srgbClr val="0F0F0F"/>
                </a:solidFill>
                <a:latin typeface="Calibri"/>
                <a:cs typeface="Calibri"/>
              </a:rPr>
              <a:t>Stateless</a:t>
            </a:r>
            <a:r>
              <a:rPr dirty="0" sz="2150" spc="1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50" spc="55">
                <a:solidFill>
                  <a:srgbClr val="131313"/>
                </a:solidFill>
                <a:latin typeface="Calibri"/>
                <a:cs typeface="Calibri"/>
              </a:rPr>
              <a:t>APis</a:t>
            </a:r>
            <a:endParaRPr sz="2150">
              <a:latin typeface="Calibri"/>
              <a:cs typeface="Calibri"/>
            </a:endParaRPr>
          </a:p>
          <a:p>
            <a:pPr marL="262890">
              <a:lnSpc>
                <a:spcPct val="100000"/>
              </a:lnSpc>
              <a:spcBef>
                <a:spcPts val="925"/>
              </a:spcBef>
            </a:pPr>
            <a:r>
              <a:rPr dirty="0" sz="2150">
                <a:solidFill>
                  <a:srgbClr val="0C0C0C"/>
                </a:solidFill>
                <a:latin typeface="Calibri"/>
                <a:cs typeface="Calibri"/>
              </a:rPr>
              <a:t>Not</a:t>
            </a:r>
            <a:r>
              <a:rPr dirty="0" sz="2150" spc="-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11111"/>
                </a:solidFill>
                <a:latin typeface="Calibri"/>
                <a:cs typeface="Calibri"/>
              </a:rPr>
              <a:t>aware</a:t>
            </a:r>
            <a:r>
              <a:rPr dirty="0" sz="2150" spc="1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1D1D1D"/>
                </a:solidFill>
                <a:latin typeface="Calibri"/>
                <a:cs typeface="Calibri"/>
              </a:rPr>
              <a:t>of</a:t>
            </a:r>
            <a:r>
              <a:rPr dirty="0" sz="2150" spc="-1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0A0A0A"/>
                </a:solidFill>
                <a:latin typeface="Calibri"/>
                <a:cs typeface="Calibri"/>
              </a:rPr>
              <a:t>your</a:t>
            </a:r>
            <a:r>
              <a:rPr dirty="0" sz="2150" spc="-2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150" spc="55">
                <a:latin typeface="Calibri"/>
                <a:cs typeface="Calibri"/>
              </a:rPr>
              <a:t>APis</a:t>
            </a:r>
            <a:endParaRPr sz="2150">
              <a:latin typeface="Calibri"/>
              <a:cs typeface="Calibri"/>
            </a:endParaRPr>
          </a:p>
          <a:p>
            <a:pPr marL="263525" marR="5080">
              <a:lnSpc>
                <a:spcPts val="3529"/>
              </a:lnSpc>
              <a:spcBef>
                <a:spcPts val="229"/>
              </a:spcBef>
            </a:pPr>
            <a:r>
              <a:rPr dirty="0" sz="2100">
                <a:latin typeface="Calibri"/>
                <a:cs typeface="Calibri"/>
              </a:rPr>
              <a:t>Integration</a:t>
            </a:r>
            <a:r>
              <a:rPr dirty="0" sz="2100" spc="42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D1D1D"/>
                </a:solidFill>
                <a:latin typeface="Calibri"/>
                <a:cs typeface="Calibri"/>
              </a:rPr>
              <a:t>of</a:t>
            </a:r>
            <a:r>
              <a:rPr dirty="0" sz="2100" spc="6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11111"/>
                </a:solidFill>
                <a:latin typeface="Calibri"/>
                <a:cs typeface="Calibri"/>
              </a:rPr>
              <a:t>standard</a:t>
            </a:r>
            <a:r>
              <a:rPr dirty="0" sz="2100" spc="3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00" spc="65">
                <a:solidFill>
                  <a:srgbClr val="111111"/>
                </a:solidFill>
                <a:latin typeface="Calibri"/>
                <a:cs typeface="Calibri"/>
              </a:rPr>
              <a:t>APis </a:t>
            </a:r>
            <a:r>
              <a:rPr dirty="0" sz="2100" spc="-10">
                <a:solidFill>
                  <a:srgbClr val="0F0F0F"/>
                </a:solidFill>
                <a:latin typeface="Calibri"/>
                <a:cs typeface="Calibri"/>
              </a:rPr>
              <a:t>Hallucinations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050">
                <a:solidFill>
                  <a:srgbClr val="4F4F4F"/>
                </a:solidFill>
                <a:latin typeface="Calibri"/>
                <a:cs typeface="Calibri"/>
              </a:rPr>
              <a:t>Intelligent</a:t>
            </a:r>
            <a:r>
              <a:rPr dirty="0" sz="1050" spc="19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949"/>
                </a:solidFill>
                <a:latin typeface="Calibri"/>
                <a:cs typeface="Calibri"/>
              </a:rPr>
              <a:t>Applications</a:t>
            </a:r>
            <a:r>
              <a:rPr dirty="0" sz="1050" spc="20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D4D4D"/>
                </a:solidFill>
                <a:latin typeface="Calibri"/>
                <a:cs typeface="Calibri"/>
              </a:rPr>
              <a:t>with</a:t>
            </a:r>
            <a:r>
              <a:rPr dirty="0" sz="1050" spc="1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45454"/>
                </a:solidFill>
                <a:latin typeface="Calibri"/>
                <a:cs typeface="Calibri"/>
              </a:rPr>
              <a:t>Spring</a:t>
            </a:r>
            <a:r>
              <a:rPr dirty="0" sz="1050" spc="27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595959"/>
                </a:solidFill>
                <a:latin typeface="Calibri"/>
                <a:cs typeface="Calibri"/>
              </a:rPr>
              <a:t>AI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05942" y="1110763"/>
            <a:ext cx="3439795" cy="401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 marR="1536065" indent="-1270">
              <a:lnSpc>
                <a:spcPct val="137200"/>
              </a:lnSpc>
              <a:spcBef>
                <a:spcPts val="100"/>
              </a:spcBef>
            </a:pPr>
            <a:r>
              <a:rPr dirty="0" sz="2100" spc="45">
                <a:solidFill>
                  <a:srgbClr val="0F0F0F"/>
                </a:solidFill>
                <a:latin typeface="Calibri"/>
                <a:cs typeface="Calibri"/>
              </a:rPr>
              <a:t>Patterns</a:t>
            </a:r>
            <a:r>
              <a:rPr dirty="0" sz="2100" spc="525">
                <a:solidFill>
                  <a:srgbClr val="0F0F0F"/>
                </a:solidFill>
                <a:latin typeface="Calibri"/>
                <a:cs typeface="Calibri"/>
              </a:rPr>
              <a:t>  </a:t>
            </a:r>
            <a:r>
              <a:rPr dirty="0" sz="2100">
                <a:solidFill>
                  <a:srgbClr val="181818"/>
                </a:solidFill>
                <a:latin typeface="Calibri"/>
                <a:cs typeface="Calibri"/>
              </a:rPr>
              <a:t>System</a:t>
            </a:r>
            <a:r>
              <a:rPr dirty="0" sz="2100" spc="39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81818"/>
                </a:solidFill>
                <a:latin typeface="Calibri"/>
                <a:cs typeface="Calibri"/>
              </a:rPr>
              <a:t>prompts</a:t>
            </a:r>
            <a:endParaRPr sz="2100">
              <a:latin typeface="Calibri"/>
              <a:cs typeface="Calibri"/>
            </a:endParaRPr>
          </a:p>
          <a:p>
            <a:pPr marL="13970" marR="1329055" indent="-1905">
              <a:lnSpc>
                <a:spcPct val="136100"/>
              </a:lnSpc>
              <a:spcBef>
                <a:spcPts val="120"/>
              </a:spcBef>
            </a:pPr>
            <a:r>
              <a:rPr dirty="0" sz="2100" spc="65">
                <a:solidFill>
                  <a:srgbClr val="181818"/>
                </a:solidFill>
                <a:latin typeface="Calibri"/>
                <a:cs typeface="Calibri"/>
              </a:rPr>
              <a:t>Output</a:t>
            </a:r>
            <a:r>
              <a:rPr dirty="0" sz="2100" spc="7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11111"/>
                </a:solidFill>
                <a:latin typeface="Calibri"/>
                <a:cs typeface="Calibri"/>
              </a:rPr>
              <a:t>converters </a:t>
            </a:r>
            <a:r>
              <a:rPr dirty="0" sz="2100">
                <a:solidFill>
                  <a:srgbClr val="1A1A1A"/>
                </a:solidFill>
                <a:latin typeface="Calibri"/>
                <a:cs typeface="Calibri"/>
              </a:rPr>
              <a:t>Prompt</a:t>
            </a:r>
            <a:r>
              <a:rPr dirty="0" sz="2100" spc="4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100" spc="45">
                <a:solidFill>
                  <a:srgbClr val="0F0F0F"/>
                </a:solidFill>
                <a:latin typeface="Calibri"/>
                <a:cs typeface="Calibri"/>
              </a:rPr>
              <a:t>stuPing </a:t>
            </a:r>
            <a:r>
              <a:rPr dirty="0" sz="2200" spc="-25">
                <a:solidFill>
                  <a:srgbClr val="0E0E0E"/>
                </a:solidFill>
                <a:latin typeface="Calibri"/>
                <a:cs typeface="Calibri"/>
              </a:rPr>
              <a:t>RAG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100" spc="80">
                <a:solidFill>
                  <a:srgbClr val="1F1F1F"/>
                </a:solidFill>
                <a:latin typeface="Calibri"/>
                <a:cs typeface="Calibri"/>
              </a:rPr>
              <a:t>Chat</a:t>
            </a:r>
            <a:r>
              <a:rPr dirty="0" sz="210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31313"/>
                </a:solidFill>
                <a:latin typeface="Calibri"/>
                <a:cs typeface="Calibri"/>
              </a:rPr>
              <a:t>Memory</a:t>
            </a:r>
            <a:endParaRPr sz="21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960"/>
              </a:spcBef>
            </a:pPr>
            <a:r>
              <a:rPr dirty="0" sz="2150">
                <a:latin typeface="Calibri"/>
                <a:cs typeface="Calibri"/>
              </a:rPr>
              <a:t>Function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0C0C0C"/>
                </a:solidFill>
                <a:latin typeface="Calibri"/>
                <a:cs typeface="Calibri"/>
              </a:rPr>
              <a:t>calling</a:t>
            </a:r>
            <a:endParaRPr sz="2150">
              <a:latin typeface="Calibri"/>
              <a:cs typeface="Calibri"/>
            </a:endParaRPr>
          </a:p>
          <a:p>
            <a:pPr marL="15240" marR="5080">
              <a:lnSpc>
                <a:spcPts val="3529"/>
              </a:lnSpc>
              <a:spcBef>
                <a:spcPts val="4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Model</a:t>
            </a:r>
            <a:r>
              <a:rPr dirty="0" sz="2100" spc="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Context</a:t>
            </a:r>
            <a:r>
              <a:rPr dirty="0" sz="2100" spc="175"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F0F0F"/>
                </a:solidFill>
                <a:latin typeface="Calibri"/>
                <a:cs typeface="Calibri"/>
              </a:rPr>
              <a:t>Protocol</a:t>
            </a:r>
            <a:r>
              <a:rPr dirty="0" sz="2100" spc="18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11111"/>
                </a:solidFill>
                <a:latin typeface="Calibri"/>
                <a:cs typeface="Calibri"/>
              </a:rPr>
              <a:t>(MCP) </a:t>
            </a:r>
            <a:r>
              <a:rPr dirty="0" sz="2100" spc="-10">
                <a:latin typeface="Calibri"/>
                <a:cs typeface="Calibri"/>
              </a:rPr>
              <a:t>Evaluators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2026-01-29T08:04:34Z</dcterms:created>
  <dcterms:modified xsi:type="dcterms:W3CDTF">2026-01-29T08:04:34Z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LastSaved">
    <vt:filetime>2026-01-29T00:00:00Z</vt:filetime>
  </property>
  <property fmtid="{D5CDD505-2E9C-101B-9397-08002B2CF9AE}" pid="4" name="Producer">
    <vt:lpwstr>iLovePDF</vt:lpwstr>
  </property>
</Properties>
</file>